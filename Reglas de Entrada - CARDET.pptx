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7" r:id="rId5"/>
    <p:sldMasterId id="214748367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y="5143500" cx="9144000"/>
  <p:notesSz cx="6858000" cy="9144000"/>
  <p:embeddedFontLst>
    <p:embeddedFont>
      <p:font typeface="Overpass ExtraBold"/>
      <p:bold r:id="rId28"/>
      <p:boldItalic r:id="rId29"/>
    </p:embeddedFont>
    <p:embeddedFont>
      <p:font typeface="Overpass"/>
      <p:regular r:id="rId30"/>
      <p:bold r:id="rId31"/>
      <p:italic r:id="rId32"/>
      <p:boldItalic r:id="rId33"/>
    </p:embeddedFont>
    <p:embeddedFont>
      <p:font typeface="Helvetica Neue"/>
      <p:regular r:id="rId34"/>
      <p:bold r:id="rId35"/>
      <p:italic r:id="rId36"/>
      <p:boldItalic r:id="rId37"/>
    </p:embeddedFont>
    <p:embeddedFont>
      <p:font typeface="Overpass SemiBold"/>
      <p:regular r:id="rId38"/>
      <p:bold r:id="rId39"/>
      <p:italic r:id="rId40"/>
      <p:boldItalic r:id="rId41"/>
    </p:embeddedFont>
    <p:embeddedFont>
      <p:font typeface="Overpass Medium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96AB027-4005-48ED-9279-8D13C1627251}">
  <a:tblStyle styleId="{496AB027-4005-48ED-9279-8D13C162725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verpassSemiBold-italic.fntdata"/><Relationship Id="rId20" Type="http://schemas.openxmlformats.org/officeDocument/2006/relationships/slide" Target="slides/slide13.xml"/><Relationship Id="rId42" Type="http://schemas.openxmlformats.org/officeDocument/2006/relationships/font" Target="fonts/OverpassMedium-regular.fntdata"/><Relationship Id="rId41" Type="http://schemas.openxmlformats.org/officeDocument/2006/relationships/font" Target="fonts/OverpassSemiBold-boldItalic.fntdata"/><Relationship Id="rId22" Type="http://schemas.openxmlformats.org/officeDocument/2006/relationships/slide" Target="slides/slide15.xml"/><Relationship Id="rId44" Type="http://schemas.openxmlformats.org/officeDocument/2006/relationships/font" Target="fonts/OverpassMedium-italic.fntdata"/><Relationship Id="rId21" Type="http://schemas.openxmlformats.org/officeDocument/2006/relationships/slide" Target="slides/slide14.xml"/><Relationship Id="rId43" Type="http://schemas.openxmlformats.org/officeDocument/2006/relationships/font" Target="fonts/OverpassMedium-bold.fntdata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45" Type="http://schemas.openxmlformats.org/officeDocument/2006/relationships/font" Target="fonts/OverpassMedium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font" Target="fonts/OverpassExtraBold-bold.fntdata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OverpassExtraBold-bold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Overpass-bold.fntdata"/><Relationship Id="rId30" Type="http://schemas.openxmlformats.org/officeDocument/2006/relationships/font" Target="fonts/Overpass-regular.fntdata"/><Relationship Id="rId11" Type="http://schemas.openxmlformats.org/officeDocument/2006/relationships/slide" Target="slides/slide4.xml"/><Relationship Id="rId33" Type="http://schemas.openxmlformats.org/officeDocument/2006/relationships/font" Target="fonts/Overpass-boldItalic.fntdata"/><Relationship Id="rId10" Type="http://schemas.openxmlformats.org/officeDocument/2006/relationships/slide" Target="slides/slide3.xml"/><Relationship Id="rId32" Type="http://schemas.openxmlformats.org/officeDocument/2006/relationships/font" Target="fonts/Overpass-italic.fntdata"/><Relationship Id="rId13" Type="http://schemas.openxmlformats.org/officeDocument/2006/relationships/slide" Target="slides/slide6.xml"/><Relationship Id="rId35" Type="http://schemas.openxmlformats.org/officeDocument/2006/relationships/font" Target="fonts/HelveticaNeue-bold.fntdata"/><Relationship Id="rId12" Type="http://schemas.openxmlformats.org/officeDocument/2006/relationships/slide" Target="slides/slide5.xml"/><Relationship Id="rId34" Type="http://schemas.openxmlformats.org/officeDocument/2006/relationships/font" Target="fonts/HelveticaNeue-regular.fntdata"/><Relationship Id="rId15" Type="http://schemas.openxmlformats.org/officeDocument/2006/relationships/slide" Target="slides/slide8.xml"/><Relationship Id="rId37" Type="http://schemas.openxmlformats.org/officeDocument/2006/relationships/font" Target="fonts/HelveticaNeue-boldItalic.fntdata"/><Relationship Id="rId14" Type="http://schemas.openxmlformats.org/officeDocument/2006/relationships/slide" Target="slides/slide7.xml"/><Relationship Id="rId36" Type="http://schemas.openxmlformats.org/officeDocument/2006/relationships/font" Target="fonts/HelveticaNeue-italic.fntdata"/><Relationship Id="rId17" Type="http://schemas.openxmlformats.org/officeDocument/2006/relationships/slide" Target="slides/slide10.xml"/><Relationship Id="rId39" Type="http://schemas.openxmlformats.org/officeDocument/2006/relationships/font" Target="fonts/OverpassSemiBold-bold.fntdata"/><Relationship Id="rId16" Type="http://schemas.openxmlformats.org/officeDocument/2006/relationships/slide" Target="slides/slide9.xml"/><Relationship Id="rId38" Type="http://schemas.openxmlformats.org/officeDocument/2006/relationships/font" Target="fonts/OverpassSemiBold-regular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7b31fda2f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g37b31fda2f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7b60b86c2e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7b60b86c2e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7b60b86c2e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7b60b86c2e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b42cd9ac4_0_16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g37b42cd9ac4_0_1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7b31fda2f7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7b31fda2f7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8898b4d33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8898b4d33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7b42cd9ac4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7b42cd9ac4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8898b4d33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8898b4d33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82d33a121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82d33a121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8898b4d336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8898b4d336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7b42cd9ac4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7b42cd9ac4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7b42cd9ac4_0_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7b42cd9ac4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7b42cd9ac4_0_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7b42cd9ac4_0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8a328f65b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8a328f65b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82b716b92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82b716b92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81c6c58181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81c6c58181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82b716b920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82b716b920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82b716b920_0_18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1" name="Google Shape;461;g382b716b920_0_18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82b716b920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382b716b920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82d33a1219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382d33a121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 6">
  <p:cSld name="Diseño personalizado 6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2191"/>
            <a:ext cx="9144001" cy="51191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_AND_BODY_1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idx="1" type="body"/>
          </p:nvPr>
        </p:nvSpPr>
        <p:spPr>
          <a:xfrm>
            <a:off x="450503" y="4447448"/>
            <a:ext cx="82392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17125" spcFirstLastPara="1" rIns="17125" wrap="square" tIns="171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1" sz="14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1" sz="1400"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1" sz="1400"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1" sz="14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1" sz="1400"/>
            </a:lvl5pPr>
            <a:lvl6pPr indent="-342900" lvl="5" marL="2743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14"/>
          <p:cNvSpPr txBox="1"/>
          <p:nvPr>
            <p:ph type="title"/>
          </p:nvPr>
        </p:nvSpPr>
        <p:spPr>
          <a:xfrm>
            <a:off x="452436" y="965622"/>
            <a:ext cx="8239200" cy="17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"/>
              <a:buNone/>
              <a:defRPr sz="44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55" name="Google Shape;55;p14"/>
          <p:cNvSpPr txBox="1"/>
          <p:nvPr>
            <p:ph idx="2" type="body"/>
          </p:nvPr>
        </p:nvSpPr>
        <p:spPr>
          <a:xfrm>
            <a:off x="450503" y="2708696"/>
            <a:ext cx="82392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2" type="sldNum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1">
  <p:cSld name="TITLE_AND_BODY_2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idx="1" type="body"/>
          </p:nvPr>
        </p:nvSpPr>
        <p:spPr>
          <a:xfrm>
            <a:off x="450503" y="4447448"/>
            <a:ext cx="82392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17125" spcFirstLastPara="1" rIns="17125" wrap="square" tIns="171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1" sz="14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1" sz="1400"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1" sz="1400"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1" sz="14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1" sz="1400"/>
            </a:lvl5pPr>
            <a:lvl6pPr indent="-342900" lvl="5" marL="2743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452436" y="965622"/>
            <a:ext cx="8239200" cy="17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"/>
              <a:buNone/>
              <a:defRPr sz="44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2" type="body"/>
          </p:nvPr>
        </p:nvSpPr>
        <p:spPr>
          <a:xfrm>
            <a:off x="450503" y="2708696"/>
            <a:ext cx="82392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x">
  <p:cSld name="TITLE_AND_BOD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450503" y="4447448"/>
            <a:ext cx="82392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17125" spcFirstLastPara="1" rIns="17125" wrap="square" tIns="171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1" sz="14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1" sz="1400"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1" sz="1400"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1" sz="14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1" sz="1400"/>
            </a:lvl5pPr>
            <a:lvl6pPr indent="-342900" lvl="5" marL="2743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type="title"/>
          </p:nvPr>
        </p:nvSpPr>
        <p:spPr>
          <a:xfrm>
            <a:off x="452436" y="965622"/>
            <a:ext cx="8239200" cy="17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"/>
              <a:buNone/>
              <a:defRPr sz="44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2" type="body"/>
          </p:nvPr>
        </p:nvSpPr>
        <p:spPr>
          <a:xfrm>
            <a:off x="450503" y="2708696"/>
            <a:ext cx="82392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2" type="sldNum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>
  <p:cSld name="TITLE_AND_BODY 2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/>
          <p:nvPr>
            <p:ph type="title"/>
          </p:nvPr>
        </p:nvSpPr>
        <p:spPr>
          <a:xfrm>
            <a:off x="452438" y="404813"/>
            <a:ext cx="8239200" cy="5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" type="body"/>
          </p:nvPr>
        </p:nvSpPr>
        <p:spPr>
          <a:xfrm>
            <a:off x="452438" y="889860"/>
            <a:ext cx="8239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17125" spcFirstLastPara="1" rIns="17125" wrap="square" tIns="171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1pPr>
            <a:lvl2pPr indent="-3619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Char char="•"/>
              <a:defRPr b="1" sz="2100"/>
            </a:lvl2pPr>
            <a:lvl3pPr indent="-3619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Char char="•"/>
              <a:defRPr b="1" sz="2100"/>
            </a:lvl3pPr>
            <a:lvl4pPr indent="-3619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Char char="•"/>
              <a:defRPr b="1" sz="2100"/>
            </a:lvl4pPr>
            <a:lvl5pPr indent="-3619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Char char="•"/>
              <a:defRPr b="1" sz="2100"/>
            </a:lvl5pPr>
            <a:lvl6pPr indent="-342900" lvl="5" marL="2743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2" type="body"/>
          </p:nvPr>
        </p:nvSpPr>
        <p:spPr>
          <a:xfrm>
            <a:off x="452438" y="1593189"/>
            <a:ext cx="8239200" cy="30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2" type="sldNum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foto">
  <p:cSld name="Título y foto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/>
          <p:nvPr>
            <p:ph idx="2" type="pic"/>
          </p:nvPr>
        </p:nvSpPr>
        <p:spPr>
          <a:xfrm>
            <a:off x="-433387" y="-485775"/>
            <a:ext cx="10029900" cy="6007200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19"/>
          <p:cNvSpPr txBox="1"/>
          <p:nvPr>
            <p:ph type="title"/>
          </p:nvPr>
        </p:nvSpPr>
        <p:spPr>
          <a:xfrm>
            <a:off x="452438" y="2671763"/>
            <a:ext cx="8239200" cy="17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"/>
              <a:buNone/>
              <a:defRPr sz="44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" type="body"/>
          </p:nvPr>
        </p:nvSpPr>
        <p:spPr>
          <a:xfrm>
            <a:off x="452884" y="414801"/>
            <a:ext cx="82383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17125" spcFirstLastPara="1" rIns="17125" wrap="square" tIns="171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1" sz="14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1" sz="1400"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1" sz="1400"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1" sz="14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1" sz="1400"/>
            </a:lvl5pPr>
            <a:lvl6pPr indent="-342900" lvl="5" marL="2743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3" type="body"/>
          </p:nvPr>
        </p:nvSpPr>
        <p:spPr>
          <a:xfrm>
            <a:off x="452438" y="4353716"/>
            <a:ext cx="82392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2" type="sldNum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foto alternativa">
  <p:cSld name="Título y foto alternativa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/>
          <p:nvPr>
            <p:ph idx="2" type="pic"/>
          </p:nvPr>
        </p:nvSpPr>
        <p:spPr>
          <a:xfrm>
            <a:off x="4114800" y="-76200"/>
            <a:ext cx="4554300" cy="5300700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20"/>
          <p:cNvSpPr txBox="1"/>
          <p:nvPr>
            <p:ph type="title"/>
          </p:nvPr>
        </p:nvSpPr>
        <p:spPr>
          <a:xfrm>
            <a:off x="452438" y="476250"/>
            <a:ext cx="3667200" cy="22059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85" name="Google Shape;85;p20"/>
          <p:cNvSpPr txBox="1"/>
          <p:nvPr>
            <p:ph idx="1" type="body"/>
          </p:nvPr>
        </p:nvSpPr>
        <p:spPr>
          <a:xfrm>
            <a:off x="452438" y="2647716"/>
            <a:ext cx="3667200" cy="20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5pPr>
            <a:lvl6pPr indent="-342900" lvl="5" marL="2743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20"/>
          <p:cNvSpPr txBox="1"/>
          <p:nvPr>
            <p:ph idx="12" type="sldNum"/>
          </p:nvPr>
        </p:nvSpPr>
        <p:spPr>
          <a:xfrm>
            <a:off x="4500562" y="4906962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ñetas">
  <p:cSld name="Viñetas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52438" y="1593189"/>
            <a:ext cx="8239200" cy="30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21"/>
          <p:cNvSpPr txBox="1"/>
          <p:nvPr>
            <p:ph idx="12" type="sldNum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, viñetas y foto">
  <p:cSld name="Título, viñetas y foto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 txBox="1"/>
          <p:nvPr>
            <p:ph idx="1" type="body"/>
          </p:nvPr>
        </p:nvSpPr>
        <p:spPr>
          <a:xfrm>
            <a:off x="452438" y="889860"/>
            <a:ext cx="3667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17125" spcFirstLastPara="1" rIns="17125" wrap="square" tIns="171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1pPr>
            <a:lvl2pPr indent="-3619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Char char="•"/>
              <a:defRPr b="1" sz="2100"/>
            </a:lvl2pPr>
            <a:lvl3pPr indent="-3619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Char char="•"/>
              <a:defRPr b="1" sz="2100"/>
            </a:lvl3pPr>
            <a:lvl4pPr indent="-3619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Char char="•"/>
              <a:defRPr b="1" sz="2100"/>
            </a:lvl4pPr>
            <a:lvl5pPr indent="-3619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Char char="•"/>
              <a:defRPr b="1" sz="2100"/>
            </a:lvl5pPr>
            <a:lvl6pPr indent="-342900" lvl="5" marL="2743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22"/>
          <p:cNvSpPr txBox="1"/>
          <p:nvPr>
            <p:ph idx="2" type="body"/>
          </p:nvPr>
        </p:nvSpPr>
        <p:spPr>
          <a:xfrm>
            <a:off x="452438" y="1593189"/>
            <a:ext cx="3667200" cy="30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22"/>
          <p:cNvSpPr/>
          <p:nvPr>
            <p:ph idx="3" type="pic"/>
          </p:nvPr>
        </p:nvSpPr>
        <p:spPr>
          <a:xfrm>
            <a:off x="4572000" y="-152725"/>
            <a:ext cx="4093800" cy="5458500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22"/>
          <p:cNvSpPr txBox="1"/>
          <p:nvPr>
            <p:ph type="title"/>
          </p:nvPr>
        </p:nvSpPr>
        <p:spPr>
          <a:xfrm>
            <a:off x="452438" y="404813"/>
            <a:ext cx="36672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ción">
  <p:cSld name="Sección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/>
          <p:nvPr>
            <p:ph type="title"/>
          </p:nvPr>
        </p:nvSpPr>
        <p:spPr>
          <a:xfrm>
            <a:off x="452436" y="1700213"/>
            <a:ext cx="8239200" cy="17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"/>
              <a:buNone/>
              <a:defRPr b="0" sz="44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98" name="Google Shape;98;p23"/>
          <p:cNvSpPr txBox="1"/>
          <p:nvPr>
            <p:ph idx="12" type="sldNum"/>
          </p:nvPr>
        </p:nvSpPr>
        <p:spPr>
          <a:xfrm>
            <a:off x="4500562" y="4906962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título">
  <p:cSld name="Sólo título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/>
          <p:nvPr>
            <p:ph type="title"/>
          </p:nvPr>
        </p:nvSpPr>
        <p:spPr>
          <a:xfrm>
            <a:off x="452438" y="404813"/>
            <a:ext cx="82392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101" name="Google Shape;101;p24"/>
          <p:cNvSpPr txBox="1"/>
          <p:nvPr>
            <p:ph idx="1" type="body"/>
          </p:nvPr>
        </p:nvSpPr>
        <p:spPr>
          <a:xfrm>
            <a:off x="452438" y="889860"/>
            <a:ext cx="8239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17125" spcFirstLastPara="1" rIns="17125" wrap="square" tIns="171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1pPr>
            <a:lvl2pPr indent="-3619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Char char="•"/>
              <a:defRPr b="1" sz="2100"/>
            </a:lvl2pPr>
            <a:lvl3pPr indent="-3619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Char char="•"/>
              <a:defRPr b="1" sz="2100"/>
            </a:lvl3pPr>
            <a:lvl4pPr indent="-3619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Char char="•"/>
              <a:defRPr b="1" sz="2100"/>
            </a:lvl4pPr>
            <a:lvl5pPr indent="-3619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Char char="•"/>
              <a:defRPr b="1" sz="2100"/>
            </a:lvl5pPr>
            <a:lvl6pPr indent="-342900" lvl="5" marL="2743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24"/>
          <p:cNvSpPr txBox="1"/>
          <p:nvPr>
            <p:ph idx="12" type="sldNum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 txBox="1"/>
          <p:nvPr>
            <p:ph type="title"/>
          </p:nvPr>
        </p:nvSpPr>
        <p:spPr>
          <a:xfrm>
            <a:off x="452438" y="404813"/>
            <a:ext cx="82392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105" name="Google Shape;105;p25"/>
          <p:cNvSpPr txBox="1"/>
          <p:nvPr>
            <p:ph idx="1" type="body"/>
          </p:nvPr>
        </p:nvSpPr>
        <p:spPr>
          <a:xfrm>
            <a:off x="452438" y="889860"/>
            <a:ext cx="8239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17125" spcFirstLastPara="1" rIns="17125" wrap="square" tIns="171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1pPr>
            <a:lvl2pPr indent="-3619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Char char="•"/>
              <a:defRPr b="1" sz="2100"/>
            </a:lvl2pPr>
            <a:lvl3pPr indent="-3619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Char char="•"/>
              <a:defRPr b="1" sz="2100"/>
            </a:lvl3pPr>
            <a:lvl4pPr indent="-3619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Char char="•"/>
              <a:defRPr b="1" sz="2100"/>
            </a:lvl4pPr>
            <a:lvl5pPr indent="-3619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Char char="•"/>
              <a:defRPr b="1" sz="2100"/>
            </a:lvl5pPr>
            <a:lvl6pPr indent="-342900" lvl="5" marL="2743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25"/>
          <p:cNvSpPr txBox="1"/>
          <p:nvPr>
            <p:ph idx="2" type="body"/>
          </p:nvPr>
        </p:nvSpPr>
        <p:spPr>
          <a:xfrm>
            <a:off x="452438" y="1593189"/>
            <a:ext cx="8239200" cy="30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25"/>
          <p:cNvSpPr txBox="1"/>
          <p:nvPr>
            <p:ph idx="12" type="sldNum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claración">
  <p:cSld name="Declaración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/>
          <p:nvPr>
            <p:ph idx="1" type="body"/>
          </p:nvPr>
        </p:nvSpPr>
        <p:spPr>
          <a:xfrm>
            <a:off x="452438" y="1845316"/>
            <a:ext cx="8239200" cy="14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indent="-228600" lvl="0" marL="4572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"/>
              <a:buNone/>
              <a:defRPr sz="4400"/>
            </a:lvl1pPr>
            <a:lvl2pPr indent="-228600" lvl="1" marL="9144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"/>
              <a:buNone/>
              <a:defRPr sz="4400"/>
            </a:lvl2pPr>
            <a:lvl3pPr indent="-228600" lvl="2" marL="1371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"/>
              <a:buNone/>
              <a:defRPr sz="4400"/>
            </a:lvl3pPr>
            <a:lvl4pPr indent="-228600" lvl="3" marL="18288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"/>
              <a:buNone/>
              <a:defRPr sz="4400"/>
            </a:lvl4pPr>
            <a:lvl5pPr indent="-228600" lvl="4" marL="22860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"/>
              <a:buNone/>
              <a:defRPr sz="4400"/>
            </a:lvl5pPr>
            <a:lvl6pPr indent="-342900" lvl="5" marL="2743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26"/>
          <p:cNvSpPr txBox="1"/>
          <p:nvPr>
            <p:ph idx="12" type="sldNum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cho (grande)">
  <p:cSld name="Hecho (grande)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7"/>
          <p:cNvSpPr txBox="1"/>
          <p:nvPr>
            <p:ph idx="1" type="body"/>
          </p:nvPr>
        </p:nvSpPr>
        <p:spPr>
          <a:xfrm>
            <a:off x="452438" y="403472"/>
            <a:ext cx="8239200" cy="27156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rmAutofit/>
          </a:bodyPr>
          <a:lstStyle>
            <a:lvl1pPr indent="-228600" lvl="0" marL="4572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Helvetica Neue"/>
              <a:buNone/>
              <a:defRPr b="1" sz="9400"/>
            </a:lvl1pPr>
            <a:lvl2pPr indent="-228600" lvl="1" marL="9144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Helvetica Neue"/>
              <a:buNone/>
              <a:defRPr b="1" sz="9400"/>
            </a:lvl2pPr>
            <a:lvl3pPr indent="-228600" lvl="2" marL="1371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Helvetica Neue"/>
              <a:buNone/>
              <a:defRPr b="1" sz="9400"/>
            </a:lvl3pPr>
            <a:lvl4pPr indent="-228600" lvl="3" marL="18288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Helvetica Neue"/>
              <a:buNone/>
              <a:defRPr b="1" sz="9400"/>
            </a:lvl4pPr>
            <a:lvl5pPr indent="-228600" lvl="4" marL="22860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Helvetica Neue"/>
              <a:buNone/>
              <a:defRPr b="1" sz="9400"/>
            </a:lvl5pPr>
            <a:lvl6pPr indent="-342900" lvl="5" marL="2743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2" type="body"/>
          </p:nvPr>
        </p:nvSpPr>
        <p:spPr>
          <a:xfrm>
            <a:off x="452438" y="3098317"/>
            <a:ext cx="8239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17125" spcFirstLastPara="1" rIns="17125" wrap="square" tIns="171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12" type="sldNum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">
  <p:cSld name="Cita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8"/>
          <p:cNvSpPr txBox="1"/>
          <p:nvPr>
            <p:ph idx="1" type="body"/>
          </p:nvPr>
        </p:nvSpPr>
        <p:spPr>
          <a:xfrm>
            <a:off x="911259" y="4003295"/>
            <a:ext cx="75750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17125" spcFirstLastPara="1" rIns="17125" wrap="square" tIns="171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1" sz="14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1" sz="1400"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1" sz="1400"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1" sz="14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1" sz="1400"/>
            </a:lvl5pPr>
            <a:lvl6pPr indent="-342900" lvl="5" marL="2743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28"/>
          <p:cNvSpPr txBox="1"/>
          <p:nvPr>
            <p:ph idx="2" type="body"/>
          </p:nvPr>
        </p:nvSpPr>
        <p:spPr>
          <a:xfrm>
            <a:off x="657721" y="1852447"/>
            <a:ext cx="7828500" cy="14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28"/>
          <p:cNvSpPr txBox="1"/>
          <p:nvPr>
            <p:ph idx="12" type="sldNum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fotos">
  <p:cSld name="3 fotos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9"/>
          <p:cNvSpPr/>
          <p:nvPr>
            <p:ph idx="2" type="pic"/>
          </p:nvPr>
        </p:nvSpPr>
        <p:spPr>
          <a:xfrm>
            <a:off x="5910263" y="381000"/>
            <a:ext cx="2789700" cy="22311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29"/>
          <p:cNvSpPr/>
          <p:nvPr>
            <p:ph idx="3" type="pic"/>
          </p:nvPr>
        </p:nvSpPr>
        <p:spPr>
          <a:xfrm>
            <a:off x="5062538" y="1491853"/>
            <a:ext cx="3914700" cy="45564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9"/>
          <p:cNvSpPr/>
          <p:nvPr>
            <p:ph idx="4" type="pic"/>
          </p:nvPr>
        </p:nvSpPr>
        <p:spPr>
          <a:xfrm>
            <a:off x="-52387" y="185738"/>
            <a:ext cx="6229500" cy="46719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29"/>
          <p:cNvSpPr txBox="1"/>
          <p:nvPr>
            <p:ph idx="12" type="sldNum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">
  <p:cSld name="Foto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0"/>
          <p:cNvSpPr/>
          <p:nvPr>
            <p:ph idx="2" type="pic"/>
          </p:nvPr>
        </p:nvSpPr>
        <p:spPr>
          <a:xfrm>
            <a:off x="-500062" y="-2071687"/>
            <a:ext cx="10144200" cy="81153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30"/>
          <p:cNvSpPr txBox="1"/>
          <p:nvPr>
            <p:ph idx="12" type="sldNum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>
  <p:cSld name="En blanco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/>
          <p:cNvSpPr txBox="1"/>
          <p:nvPr>
            <p:ph idx="12" type="sldNum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28.xml"/><Relationship Id="rId16" Type="http://schemas.openxmlformats.org/officeDocument/2006/relationships/theme" Target="../theme/theme3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452438" y="1593189"/>
            <a:ext cx="8239200" cy="30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342900" lvl="0" marL="457200" marR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64" name="Google Shape;64;p16"/>
          <p:cNvSpPr txBox="1"/>
          <p:nvPr>
            <p:ph type="title"/>
          </p:nvPr>
        </p:nvSpPr>
        <p:spPr>
          <a:xfrm>
            <a:off x="457200" y="205978"/>
            <a:ext cx="8229600" cy="13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lv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b="1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b="1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b="1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b="1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b="1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b="1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b="1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b="1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b="1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2"/>
          <p:cNvSpPr txBox="1"/>
          <p:nvPr/>
        </p:nvSpPr>
        <p:spPr>
          <a:xfrm>
            <a:off x="1464750" y="2445975"/>
            <a:ext cx="5594400" cy="11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" sz="3600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Cartera Deteriorada</a:t>
            </a:r>
            <a:endParaRPr b="1" sz="3600">
              <a:solidFill>
                <a:srgbClr val="66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" sz="2400">
                <a:solidFill>
                  <a:srgbClr val="F40034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Reglamento Modelos de Provisiones</a:t>
            </a:r>
            <a:endParaRPr sz="2400">
              <a:solidFill>
                <a:srgbClr val="F40034"/>
              </a:solidFill>
              <a:latin typeface="Overpass Medium"/>
              <a:ea typeface="Overpass Medium"/>
              <a:cs typeface="Overpass Medium"/>
              <a:sym typeface="Overpass Medium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" sz="2400">
                <a:solidFill>
                  <a:srgbClr val="F40034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Documento de Diseño</a:t>
            </a:r>
            <a:endParaRPr sz="2400">
              <a:solidFill>
                <a:srgbClr val="F40034"/>
              </a:solidFill>
              <a:latin typeface="Overpass Medium"/>
              <a:ea typeface="Overpass Medium"/>
              <a:cs typeface="Overpass Medium"/>
              <a:sym typeface="Overpass Medium"/>
            </a:endParaRPr>
          </a:p>
        </p:txBody>
      </p:sp>
      <p:pic>
        <p:nvPicPr>
          <p:cNvPr descr="Imagen" id="134" name="Google Shape;13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606" y="4673794"/>
            <a:ext cx="508539" cy="2293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475" y="1235225"/>
            <a:ext cx="644275" cy="344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33"/>
          <p:cNvSpPr/>
          <p:nvPr/>
        </p:nvSpPr>
        <p:spPr>
          <a:xfrm>
            <a:off x="129750" y="516225"/>
            <a:ext cx="8722800" cy="572700"/>
          </a:xfrm>
          <a:prstGeom prst="roundRect">
            <a:avLst>
              <a:gd fmla="val 50000" name="adj"/>
            </a:avLst>
          </a:prstGeom>
          <a:solidFill>
            <a:srgbClr val="005FFF"/>
          </a:solidFill>
          <a:ln cap="flat" cmpd="sng" w="9525">
            <a:solidFill>
              <a:srgbClr val="005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1" name="Google Shape;141;p33"/>
          <p:cNvSpPr txBox="1"/>
          <p:nvPr>
            <p:ph type="title"/>
          </p:nvPr>
        </p:nvSpPr>
        <p:spPr>
          <a:xfrm>
            <a:off x="129750" y="516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Definición Normativa - Cartera Deteriorada</a:t>
            </a:r>
            <a:endParaRPr>
              <a:solidFill>
                <a:schemeClr val="lt1"/>
              </a:solidFill>
              <a:latin typeface="Overpass SemiBold"/>
              <a:ea typeface="Overpass SemiBold"/>
              <a:cs typeface="Overpass SemiBold"/>
              <a:sym typeface="Overpass SemiBold"/>
            </a:endParaRPr>
          </a:p>
        </p:txBody>
      </p:sp>
      <p:pic>
        <p:nvPicPr>
          <p:cNvPr descr="Google Shape;197;p29" id="142" name="Google Shape;142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269" y="200090"/>
            <a:ext cx="908157" cy="169824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33"/>
          <p:cNvSpPr txBox="1"/>
          <p:nvPr/>
        </p:nvSpPr>
        <p:spPr>
          <a:xfrm>
            <a:off x="1991050" y="1143025"/>
            <a:ext cx="6659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Deudores y sus créditos, para los cuales se considera remota su recuperación, pues muestran una deteriorada o nula capacidad de pago. </a:t>
            </a:r>
            <a:r>
              <a:rPr lang="es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Forman parte de esta cartera:</a:t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descr="Google Shape;187;p28" id="144" name="Google Shape;144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9275" y="916025"/>
            <a:ext cx="1811774" cy="42274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33"/>
          <p:cNvSpPr/>
          <p:nvPr/>
        </p:nvSpPr>
        <p:spPr>
          <a:xfrm>
            <a:off x="1991050" y="1948225"/>
            <a:ext cx="6802800" cy="2911200"/>
          </a:xfrm>
          <a:prstGeom prst="roundRect">
            <a:avLst>
              <a:gd fmla="val 1219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0000" lIns="91425" spcFirstLastPara="1" rIns="91425" wrap="square" tIns="54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Evaluación </a:t>
            </a:r>
            <a:r>
              <a:rPr lang="es" sz="1100">
                <a:solidFill>
                  <a:srgbClr val="005FFF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Grupal</a:t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SzPts val="1100"/>
              <a:buFont typeface="Overpass"/>
              <a:buAutoNum type="arabicPeriod"/>
            </a:pP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Deudores que presenten atraso </a:t>
            </a: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igual</a:t>
            </a: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 o superior a 90 días en el pago de intereses o capital de algún crédito.  </a:t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SzPts val="1100"/>
              <a:buFont typeface="Overpass"/>
              <a:buAutoNum type="arabicPeriod"/>
            </a:pP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Se les otorgue un crédito para dejar vigente una operación que presentaba más de 60 días de atraso en su pago.</a:t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SzPts val="1100"/>
              <a:buFont typeface="Overpass"/>
              <a:buAutoNum type="arabicPeriod"/>
            </a:pP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Hayan sido objeto de reestructuración forzosa o condonación parcial de una deuda.</a:t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No obstante lo anterior, podrán excluirse: a) los créditos hipotecarios para vivienda que no presenten las mencionadas condiciones, salvo que el deudor tenga otro crédito hipotecario que sí las ostente; y, b) los créditos para financiamiento de estudios superiores de la Ley N° 20.027, que no manifiesten los escenarios de incumplimiento señalados en la Circular N°3.454 de 10 de diciembre de 2008.</a:t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Evaluación </a:t>
            </a:r>
            <a:r>
              <a:rPr lang="es" sz="1100">
                <a:solidFill>
                  <a:srgbClr val="005FFF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Individual</a:t>
            </a:r>
            <a:endParaRPr sz="1100">
              <a:solidFill>
                <a:srgbClr val="005FFF"/>
              </a:solidFill>
              <a:latin typeface="Overpass SemiBold"/>
              <a:ea typeface="Overpass SemiBold"/>
              <a:cs typeface="Overpass SemiBold"/>
              <a:sym typeface="Overpass SemiBol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verpass"/>
              <a:buAutoNum type="arabicPeriod"/>
            </a:pPr>
            <a:r>
              <a:rPr lang="es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Cartera Subestándar (B3 y B4)</a:t>
            </a:r>
            <a:endParaRPr sz="1100">
              <a:solidFill>
                <a:schemeClr val="dk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verpass"/>
              <a:buAutoNum type="arabicPeriod"/>
            </a:pPr>
            <a:r>
              <a:rPr lang="es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Cartera en Incumplimiento (C1 hasta C6)</a:t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46" name="Google Shape;146;p33"/>
          <p:cNvSpPr txBox="1"/>
          <p:nvPr/>
        </p:nvSpPr>
        <p:spPr>
          <a:xfrm>
            <a:off x="1991050" y="1594225"/>
            <a:ext cx="6802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5FFF"/>
                </a:solidFill>
                <a:latin typeface="Overpass ExtraBold"/>
                <a:ea typeface="Overpass ExtraBold"/>
                <a:cs typeface="Overpass ExtraBold"/>
                <a:sym typeface="Overpass ExtraBold"/>
              </a:rPr>
              <a:t>REGLAS DE ENTRADA</a:t>
            </a:r>
            <a:endParaRPr sz="1100">
              <a:solidFill>
                <a:srgbClr val="005FFF"/>
              </a:solidFill>
              <a:latin typeface="Overpass ExtraBold"/>
              <a:ea typeface="Overpass ExtraBold"/>
              <a:cs typeface="Overpass ExtraBold"/>
              <a:sym typeface="Overpass ExtraBold"/>
            </a:endParaRPr>
          </a:p>
        </p:txBody>
      </p:sp>
      <p:pic>
        <p:nvPicPr>
          <p:cNvPr descr="Imagen" id="147" name="Google Shape;147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85381" y="170344"/>
            <a:ext cx="508539" cy="2293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475" y="1235225"/>
            <a:ext cx="644275" cy="344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34"/>
          <p:cNvSpPr/>
          <p:nvPr/>
        </p:nvSpPr>
        <p:spPr>
          <a:xfrm>
            <a:off x="129750" y="516225"/>
            <a:ext cx="8722800" cy="572700"/>
          </a:xfrm>
          <a:prstGeom prst="roundRect">
            <a:avLst>
              <a:gd fmla="val 50000" name="adj"/>
            </a:avLst>
          </a:prstGeom>
          <a:solidFill>
            <a:srgbClr val="005FFF"/>
          </a:solidFill>
          <a:ln cap="flat" cmpd="sng" w="9525">
            <a:solidFill>
              <a:srgbClr val="005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4" name="Google Shape;154;p34"/>
          <p:cNvSpPr txBox="1"/>
          <p:nvPr>
            <p:ph type="title"/>
          </p:nvPr>
        </p:nvSpPr>
        <p:spPr>
          <a:xfrm>
            <a:off x="129750" y="516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Definición Normativa - Cartera Deteriorada</a:t>
            </a:r>
            <a:endParaRPr>
              <a:solidFill>
                <a:schemeClr val="lt1"/>
              </a:solidFill>
              <a:latin typeface="Overpass SemiBold"/>
              <a:ea typeface="Overpass SemiBold"/>
              <a:cs typeface="Overpass SemiBold"/>
              <a:sym typeface="Overpass SemiBold"/>
            </a:endParaRPr>
          </a:p>
        </p:txBody>
      </p:sp>
      <p:pic>
        <p:nvPicPr>
          <p:cNvPr descr="Google Shape;197;p29" id="155" name="Google Shape;155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269" y="200090"/>
            <a:ext cx="908157" cy="169824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34"/>
          <p:cNvSpPr txBox="1"/>
          <p:nvPr/>
        </p:nvSpPr>
        <p:spPr>
          <a:xfrm>
            <a:off x="1991050" y="1143025"/>
            <a:ext cx="66594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Todos los créditos del deudor deberán mantenerse en la Cartera en Incumplimiento </a:t>
            </a:r>
            <a:r>
              <a:rPr b="1" lang="es" sz="1100">
                <a:latin typeface="Overpass"/>
                <a:ea typeface="Overpass"/>
                <a:cs typeface="Overpass"/>
                <a:sym typeface="Overpass"/>
              </a:rPr>
              <a:t>hasta tanto no se observe una normalización de su capacidad o conducta de pago</a:t>
            </a: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, sin perjuicio de proceder al castigo de cada crédito.</a:t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Para remover a un deudor de la Cartera en Incumplimiento, una vez superadas las circunstancias que llevaron a clasificarlo en esta cartera según las presentes normas, deberán cumplirse al menos las siguientes condiciones copulativas: </a:t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descr="Google Shape;187;p28" id="157" name="Google Shape;157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9275" y="916025"/>
            <a:ext cx="1811774" cy="422747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34"/>
          <p:cNvSpPr/>
          <p:nvPr/>
        </p:nvSpPr>
        <p:spPr>
          <a:xfrm>
            <a:off x="1991050" y="2830865"/>
            <a:ext cx="6802800" cy="1961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SzPts val="1100"/>
              <a:buFont typeface="Overpass"/>
              <a:buAutoNum type="arabicPeriod"/>
            </a:pP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Ninguna obligación del deudor presenta un atraso en su pago superior a 30 días corri</a:t>
            </a: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dos. </a:t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SzPts val="1100"/>
              <a:buFont typeface="Overpass"/>
              <a:buAutoNum type="arabicPeriod"/>
            </a:pP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No se le han otorgado nuevos refinanciamientos para pagar sus obligaciones. </a:t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SzPts val="1100"/>
              <a:buFont typeface="Overpass"/>
              <a:buAutoNum type="arabicPeriod"/>
            </a:pP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Al menos uno de los pagos efectuados incluye amortización de capital. </a:t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SzPts val="1100"/>
              <a:buFont typeface="Overpass"/>
              <a:buAutoNum type="arabicPeriod"/>
            </a:pP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Si el deudor tuviere algún crédito con pagos parciales en periodos inferiores a seis meses, ya ha efectuado dos pagos. </a:t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SzPts val="1100"/>
              <a:buFont typeface="Overpass"/>
              <a:buAutoNum type="arabicPeriod"/>
            </a:pP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Si el deudor debe pagar cuotas mensuales por uno o más créditos, ha pagado cuatro cuotas consecutivas. </a:t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SzPts val="1100"/>
              <a:buFont typeface="Overpass"/>
              <a:buAutoNum type="arabicPeriod"/>
            </a:pP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El deudor no aparece con deudas directas impagas en la información que refunde la Comisión (CMF), salvo por montos insignificantes. </a:t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descr="Imagen" id="159" name="Google Shape;159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85381" y="170344"/>
            <a:ext cx="508539" cy="229336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34"/>
          <p:cNvSpPr txBox="1"/>
          <p:nvPr/>
        </p:nvSpPr>
        <p:spPr>
          <a:xfrm>
            <a:off x="1991050" y="2496990"/>
            <a:ext cx="6802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5FFF"/>
                </a:solidFill>
                <a:latin typeface="Overpass ExtraBold"/>
                <a:ea typeface="Overpass ExtraBold"/>
                <a:cs typeface="Overpass ExtraBold"/>
                <a:sym typeface="Overpass ExtraBold"/>
              </a:rPr>
              <a:t>REGLAS DE SALIDA</a:t>
            </a:r>
            <a:endParaRPr sz="1100">
              <a:solidFill>
                <a:srgbClr val="005FFF"/>
              </a:solidFill>
              <a:latin typeface="Overpass ExtraBold"/>
              <a:ea typeface="Overpass ExtraBold"/>
              <a:cs typeface="Overpass ExtraBold"/>
              <a:sym typeface="Overpass 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5"/>
          <p:cNvSpPr/>
          <p:nvPr/>
        </p:nvSpPr>
        <p:spPr>
          <a:xfrm>
            <a:off x="4522133" y="-132011"/>
            <a:ext cx="4663200" cy="5407500"/>
          </a:xfrm>
          <a:prstGeom prst="rect">
            <a:avLst/>
          </a:prstGeom>
          <a:solidFill>
            <a:srgbClr val="285E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5EF6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285EF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Google Shape;105;p20" id="166" name="Google Shape;16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3286" y="453912"/>
            <a:ext cx="1827959" cy="341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ogle Shape;106;p20" id="167" name="Google Shape;167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6547" y="649593"/>
            <a:ext cx="2155706" cy="5002344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35"/>
          <p:cNvSpPr txBox="1"/>
          <p:nvPr>
            <p:ph type="title"/>
          </p:nvPr>
        </p:nvSpPr>
        <p:spPr>
          <a:xfrm>
            <a:off x="446869" y="914314"/>
            <a:ext cx="3714300" cy="25011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DAB31"/>
              </a:buClr>
              <a:buSzPts val="4500"/>
              <a:buFont typeface="Overpass"/>
              <a:buNone/>
            </a:pPr>
            <a:r>
              <a:rPr lang="es" sz="3600">
                <a:solidFill>
                  <a:srgbClr val="1E1E1E"/>
                </a:solidFill>
                <a:latin typeface="Overpass"/>
                <a:ea typeface="Overpass"/>
                <a:cs typeface="Overpass"/>
                <a:sym typeface="Overpass"/>
              </a:rPr>
              <a:t>Reglas de Entrada</a:t>
            </a:r>
            <a:endParaRPr sz="3600">
              <a:solidFill>
                <a:srgbClr val="1E1E1E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DAB31"/>
              </a:buClr>
              <a:buSzPts val="4500"/>
              <a:buFont typeface="Overpass"/>
              <a:buNone/>
            </a:pPr>
            <a:r>
              <a:rPr lang="es" sz="2500">
                <a:solidFill>
                  <a:srgbClr val="005FFF"/>
                </a:solidFill>
                <a:latin typeface="Overpass"/>
                <a:ea typeface="Overpass"/>
                <a:cs typeface="Overpass"/>
                <a:sym typeface="Overpass"/>
              </a:rPr>
              <a:t>Definiciones en BCI</a:t>
            </a:r>
            <a:endParaRPr sz="2500">
              <a:solidFill>
                <a:srgbClr val="005FFF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descr="Imagen" id="169" name="Google Shape;169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4606" y="4673794"/>
            <a:ext cx="508539" cy="2293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6"/>
          <p:cNvSpPr txBox="1"/>
          <p:nvPr/>
        </p:nvSpPr>
        <p:spPr>
          <a:xfrm>
            <a:off x="5846250" y="1989950"/>
            <a:ext cx="3297600" cy="2697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5" name="Google Shape;175;p36"/>
          <p:cNvSpPr/>
          <p:nvPr/>
        </p:nvSpPr>
        <p:spPr>
          <a:xfrm>
            <a:off x="2043400" y="1980425"/>
            <a:ext cx="4258500" cy="2706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Overpass"/>
                <a:ea typeface="Overpass"/>
                <a:cs typeface="Overpass"/>
                <a:sym typeface="Overpass"/>
              </a:rPr>
              <a:t>Origen Deterioro 1</a:t>
            </a: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: Deterioro propio por cartera vencida (o mora).</a:t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Overpass"/>
                <a:ea typeface="Overpass"/>
                <a:cs typeface="Overpass"/>
                <a:sym typeface="Overpass"/>
              </a:rPr>
              <a:t>Criterio 7</a:t>
            </a: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: Cliente con operación en cartera vencida.</a:t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Overpass"/>
                <a:ea typeface="Overpass"/>
                <a:cs typeface="Overpass"/>
                <a:sym typeface="Overpass"/>
              </a:rPr>
              <a:t>Descripción</a:t>
            </a: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: Cliente con alguna operación con 90 o más días de mora (irradiando las demás operaciones).</a:t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76" name="Google Shape;176;p36"/>
          <p:cNvSpPr/>
          <p:nvPr/>
        </p:nvSpPr>
        <p:spPr>
          <a:xfrm rot="5400000">
            <a:off x="-533550" y="1768925"/>
            <a:ext cx="3628500" cy="25611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005FFF"/>
          </a:solidFill>
          <a:ln cap="flat" cmpd="sng" w="9525">
            <a:solidFill>
              <a:srgbClr val="026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7" name="Google Shape;177;p36"/>
          <p:cNvSpPr txBox="1"/>
          <p:nvPr>
            <p:ph type="title"/>
          </p:nvPr>
        </p:nvSpPr>
        <p:spPr>
          <a:xfrm>
            <a:off x="129750" y="516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verpass SemiBold"/>
                <a:ea typeface="Overpass SemiBold"/>
                <a:cs typeface="Overpass SemiBold"/>
                <a:sym typeface="Overpass SemiBold"/>
              </a:rPr>
              <a:t>Reglas de Entrada Cartera Deteriorada</a:t>
            </a:r>
            <a:endParaRPr>
              <a:latin typeface="Overpass SemiBold"/>
              <a:ea typeface="Overpass SemiBold"/>
              <a:cs typeface="Overpass SemiBold"/>
              <a:sym typeface="Overpass SemiBold"/>
            </a:endParaRPr>
          </a:p>
        </p:txBody>
      </p:sp>
      <p:pic>
        <p:nvPicPr>
          <p:cNvPr descr="Google Shape;197;p29" id="178" name="Google Shape;17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269" y="200090"/>
            <a:ext cx="908157" cy="169824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6"/>
          <p:cNvSpPr txBox="1"/>
          <p:nvPr/>
        </p:nvSpPr>
        <p:spPr>
          <a:xfrm>
            <a:off x="2632775" y="1551350"/>
            <a:ext cx="2304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Overpass SemiBold"/>
                <a:ea typeface="Overpass SemiBold"/>
                <a:cs typeface="Overpass SemiBold"/>
                <a:sym typeface="Overpass SemiBold"/>
              </a:rPr>
              <a:t>Documento de </a:t>
            </a:r>
            <a:r>
              <a:rPr lang="es" sz="1100">
                <a:solidFill>
                  <a:srgbClr val="005FFF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Diseño TI</a:t>
            </a:r>
            <a:endParaRPr sz="1100">
              <a:solidFill>
                <a:srgbClr val="005FFF"/>
              </a:solidFill>
              <a:latin typeface="Overpass SemiBold"/>
              <a:ea typeface="Overpass SemiBold"/>
              <a:cs typeface="Overpass SemiBold"/>
              <a:sym typeface="Overpass SemiBold"/>
            </a:endParaRPr>
          </a:p>
        </p:txBody>
      </p:sp>
      <p:sp>
        <p:nvSpPr>
          <p:cNvPr id="180" name="Google Shape;180;p36"/>
          <p:cNvSpPr txBox="1"/>
          <p:nvPr/>
        </p:nvSpPr>
        <p:spPr>
          <a:xfrm>
            <a:off x="179275" y="1466750"/>
            <a:ext cx="2382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Reglamento de Modelos de Provisiones por Riesgo de Crédito</a:t>
            </a:r>
            <a:endParaRPr sz="1100">
              <a:solidFill>
                <a:schemeClr val="lt1"/>
              </a:solidFill>
              <a:latin typeface="Overpass SemiBold"/>
              <a:ea typeface="Overpass SemiBold"/>
              <a:cs typeface="Overpass SemiBold"/>
              <a:sym typeface="Overpass SemiBold"/>
            </a:endParaRPr>
          </a:p>
        </p:txBody>
      </p:sp>
      <p:pic>
        <p:nvPicPr>
          <p:cNvPr descr="Imagen" id="181" name="Google Shape;181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85381" y="170344"/>
            <a:ext cx="508539" cy="229336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36"/>
          <p:cNvSpPr/>
          <p:nvPr/>
        </p:nvSpPr>
        <p:spPr>
          <a:xfrm>
            <a:off x="129750" y="1980425"/>
            <a:ext cx="2392800" cy="24354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126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En el caso de que una Operación de Crédito haya generado un evento de mora 90 días o Cartera vencida al cierre del mes en evaluación.</a:t>
            </a:r>
            <a:endParaRPr sz="11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grpSp>
        <p:nvGrpSpPr>
          <p:cNvPr id="183" name="Google Shape;183;p36"/>
          <p:cNvGrpSpPr/>
          <p:nvPr/>
        </p:nvGrpSpPr>
        <p:grpSpPr>
          <a:xfrm>
            <a:off x="6402547" y="1487127"/>
            <a:ext cx="483564" cy="482452"/>
            <a:chOff x="1745217" y="1515471"/>
            <a:chExt cx="343269" cy="342505"/>
          </a:xfrm>
        </p:grpSpPr>
        <p:sp>
          <p:nvSpPr>
            <p:cNvPr id="184" name="Google Shape;184;p36"/>
            <p:cNvSpPr/>
            <p:nvPr/>
          </p:nvSpPr>
          <p:spPr>
            <a:xfrm>
              <a:off x="1854448" y="1647096"/>
              <a:ext cx="22012" cy="21630"/>
            </a:xfrm>
            <a:custGeom>
              <a:rect b="b" l="l" r="r" t="t"/>
              <a:pathLst>
                <a:path extrusionOk="0" h="679" w="691">
                  <a:moveTo>
                    <a:pt x="346" y="0"/>
                  </a:moveTo>
                  <a:cubicBezTo>
                    <a:pt x="155" y="0"/>
                    <a:pt x="0" y="155"/>
                    <a:pt x="0" y="345"/>
                  </a:cubicBezTo>
                  <a:cubicBezTo>
                    <a:pt x="0" y="536"/>
                    <a:pt x="155" y="679"/>
                    <a:pt x="346" y="679"/>
                  </a:cubicBezTo>
                  <a:cubicBezTo>
                    <a:pt x="536" y="679"/>
                    <a:pt x="691" y="536"/>
                    <a:pt x="691" y="345"/>
                  </a:cubicBezTo>
                  <a:cubicBezTo>
                    <a:pt x="691" y="155"/>
                    <a:pt x="536" y="0"/>
                    <a:pt x="346" y="0"/>
                  </a:cubicBezTo>
                  <a:close/>
                </a:path>
              </a:pathLst>
            </a:custGeom>
            <a:solidFill>
              <a:srgbClr val="005FFF"/>
            </a:solidFill>
            <a:ln>
              <a:noFill/>
            </a:ln>
          </p:spPr>
          <p:txBody>
            <a:bodyPr anchorCtr="0" anchor="ctr" bIns="41750" lIns="41750" spcFirstLastPara="1" rIns="41750" wrap="square" tIns="41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39"/>
                <a:buFont typeface="Arial"/>
                <a:buNone/>
              </a:pPr>
              <a:r>
                <a:t/>
              </a:r>
              <a:endParaRPr b="0" i="0" sz="63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36"/>
            <p:cNvSpPr/>
            <p:nvPr/>
          </p:nvSpPr>
          <p:spPr>
            <a:xfrm>
              <a:off x="1906021" y="1647096"/>
              <a:ext cx="21661" cy="21630"/>
            </a:xfrm>
            <a:custGeom>
              <a:rect b="b" l="l" r="r" t="t"/>
              <a:pathLst>
                <a:path extrusionOk="0" h="679" w="680">
                  <a:moveTo>
                    <a:pt x="334" y="0"/>
                  </a:moveTo>
                  <a:cubicBezTo>
                    <a:pt x="143" y="0"/>
                    <a:pt x="0" y="155"/>
                    <a:pt x="0" y="345"/>
                  </a:cubicBezTo>
                  <a:cubicBezTo>
                    <a:pt x="0" y="536"/>
                    <a:pt x="143" y="679"/>
                    <a:pt x="334" y="679"/>
                  </a:cubicBezTo>
                  <a:cubicBezTo>
                    <a:pt x="524" y="679"/>
                    <a:pt x="679" y="536"/>
                    <a:pt x="679" y="345"/>
                  </a:cubicBezTo>
                  <a:cubicBezTo>
                    <a:pt x="679" y="155"/>
                    <a:pt x="524" y="0"/>
                    <a:pt x="334" y="0"/>
                  </a:cubicBezTo>
                  <a:close/>
                </a:path>
              </a:pathLst>
            </a:custGeom>
            <a:solidFill>
              <a:srgbClr val="005FFF"/>
            </a:solidFill>
            <a:ln>
              <a:noFill/>
            </a:ln>
          </p:spPr>
          <p:txBody>
            <a:bodyPr anchorCtr="0" anchor="ctr" bIns="41750" lIns="41750" spcFirstLastPara="1" rIns="41750" wrap="square" tIns="41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39"/>
                <a:buFont typeface="Arial"/>
                <a:buNone/>
              </a:pPr>
              <a:r>
                <a:t/>
              </a:r>
              <a:endParaRPr b="0" i="0" sz="63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36"/>
            <p:cNvSpPr/>
            <p:nvPr/>
          </p:nvSpPr>
          <p:spPr>
            <a:xfrm>
              <a:off x="1956830" y="1647096"/>
              <a:ext cx="22044" cy="21630"/>
            </a:xfrm>
            <a:custGeom>
              <a:rect b="b" l="l" r="r" t="t"/>
              <a:pathLst>
                <a:path extrusionOk="0" h="679" w="692">
                  <a:moveTo>
                    <a:pt x="346" y="0"/>
                  </a:moveTo>
                  <a:cubicBezTo>
                    <a:pt x="156" y="0"/>
                    <a:pt x="1" y="155"/>
                    <a:pt x="1" y="345"/>
                  </a:cubicBezTo>
                  <a:cubicBezTo>
                    <a:pt x="1" y="536"/>
                    <a:pt x="156" y="679"/>
                    <a:pt x="346" y="679"/>
                  </a:cubicBezTo>
                  <a:cubicBezTo>
                    <a:pt x="537" y="679"/>
                    <a:pt x="691" y="536"/>
                    <a:pt x="691" y="345"/>
                  </a:cubicBezTo>
                  <a:cubicBezTo>
                    <a:pt x="691" y="155"/>
                    <a:pt x="537" y="0"/>
                    <a:pt x="346" y="0"/>
                  </a:cubicBezTo>
                  <a:close/>
                </a:path>
              </a:pathLst>
            </a:custGeom>
            <a:solidFill>
              <a:srgbClr val="005FFF"/>
            </a:solidFill>
            <a:ln>
              <a:noFill/>
            </a:ln>
          </p:spPr>
          <p:txBody>
            <a:bodyPr anchorCtr="0" anchor="ctr" bIns="41750" lIns="41750" spcFirstLastPara="1" rIns="41750" wrap="square" tIns="41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39"/>
                <a:buFont typeface="Arial"/>
                <a:buNone/>
              </a:pPr>
              <a:r>
                <a:t/>
              </a:r>
              <a:endParaRPr b="0" i="0" sz="63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36"/>
            <p:cNvSpPr/>
            <p:nvPr/>
          </p:nvSpPr>
          <p:spPr>
            <a:xfrm>
              <a:off x="1745217" y="1515471"/>
              <a:ext cx="343269" cy="342505"/>
            </a:xfrm>
            <a:custGeom>
              <a:rect b="b" l="l" r="r" t="t"/>
              <a:pathLst>
                <a:path extrusionOk="0" h="10752" w="10776">
                  <a:moveTo>
                    <a:pt x="5382" y="1"/>
                  </a:moveTo>
                  <a:cubicBezTo>
                    <a:pt x="3953" y="1"/>
                    <a:pt x="2608" y="453"/>
                    <a:pt x="1596" y="1286"/>
                  </a:cubicBezTo>
                  <a:cubicBezTo>
                    <a:pt x="560" y="2144"/>
                    <a:pt x="0" y="3251"/>
                    <a:pt x="0" y="4465"/>
                  </a:cubicBezTo>
                  <a:cubicBezTo>
                    <a:pt x="0" y="5513"/>
                    <a:pt x="465" y="6561"/>
                    <a:pt x="1274" y="7359"/>
                  </a:cubicBezTo>
                  <a:cubicBezTo>
                    <a:pt x="2072" y="8121"/>
                    <a:pt x="3120" y="8645"/>
                    <a:pt x="4298" y="8835"/>
                  </a:cubicBezTo>
                  <a:cubicBezTo>
                    <a:pt x="4310" y="9442"/>
                    <a:pt x="4108" y="10014"/>
                    <a:pt x="3703" y="10478"/>
                  </a:cubicBezTo>
                  <a:cubicBezTo>
                    <a:pt x="3655" y="10514"/>
                    <a:pt x="3644" y="10597"/>
                    <a:pt x="3679" y="10657"/>
                  </a:cubicBezTo>
                  <a:cubicBezTo>
                    <a:pt x="3703" y="10704"/>
                    <a:pt x="3763" y="10752"/>
                    <a:pt x="3834" y="10752"/>
                  </a:cubicBezTo>
                  <a:cubicBezTo>
                    <a:pt x="5025" y="10752"/>
                    <a:pt x="6084" y="9966"/>
                    <a:pt x="6442" y="8835"/>
                  </a:cubicBezTo>
                  <a:cubicBezTo>
                    <a:pt x="7406" y="8668"/>
                    <a:pt x="8287" y="8299"/>
                    <a:pt x="9013" y="7752"/>
                  </a:cubicBezTo>
                  <a:cubicBezTo>
                    <a:pt x="9097" y="7692"/>
                    <a:pt x="9109" y="7585"/>
                    <a:pt x="9049" y="7513"/>
                  </a:cubicBezTo>
                  <a:cubicBezTo>
                    <a:pt x="9014" y="7465"/>
                    <a:pt x="8963" y="7441"/>
                    <a:pt x="8913" y="7441"/>
                  </a:cubicBezTo>
                  <a:cubicBezTo>
                    <a:pt x="8877" y="7441"/>
                    <a:pt x="8841" y="7453"/>
                    <a:pt x="8811" y="7478"/>
                  </a:cubicBezTo>
                  <a:cubicBezTo>
                    <a:pt x="8096" y="8014"/>
                    <a:pt x="7215" y="8371"/>
                    <a:pt x="6275" y="8502"/>
                  </a:cubicBezTo>
                  <a:cubicBezTo>
                    <a:pt x="6203" y="8525"/>
                    <a:pt x="6156" y="8561"/>
                    <a:pt x="6132" y="8621"/>
                  </a:cubicBezTo>
                  <a:cubicBezTo>
                    <a:pt x="5894" y="9549"/>
                    <a:pt x="5120" y="10216"/>
                    <a:pt x="4215" y="10371"/>
                  </a:cubicBezTo>
                  <a:cubicBezTo>
                    <a:pt x="4537" y="9859"/>
                    <a:pt x="4703" y="9264"/>
                    <a:pt x="4644" y="8656"/>
                  </a:cubicBezTo>
                  <a:cubicBezTo>
                    <a:pt x="4644" y="8585"/>
                    <a:pt x="4572" y="8502"/>
                    <a:pt x="4489" y="8490"/>
                  </a:cubicBezTo>
                  <a:cubicBezTo>
                    <a:pt x="2084" y="8144"/>
                    <a:pt x="346" y="6442"/>
                    <a:pt x="346" y="4430"/>
                  </a:cubicBezTo>
                  <a:cubicBezTo>
                    <a:pt x="346" y="2156"/>
                    <a:pt x="2608" y="310"/>
                    <a:pt x="5382" y="310"/>
                  </a:cubicBezTo>
                  <a:cubicBezTo>
                    <a:pt x="8168" y="310"/>
                    <a:pt x="10430" y="2156"/>
                    <a:pt x="10430" y="4430"/>
                  </a:cubicBezTo>
                  <a:cubicBezTo>
                    <a:pt x="10430" y="5370"/>
                    <a:pt x="10025" y="6287"/>
                    <a:pt x="9311" y="7013"/>
                  </a:cubicBezTo>
                  <a:cubicBezTo>
                    <a:pt x="9251" y="7097"/>
                    <a:pt x="9251" y="7192"/>
                    <a:pt x="9311" y="7252"/>
                  </a:cubicBezTo>
                  <a:cubicBezTo>
                    <a:pt x="9353" y="7281"/>
                    <a:pt x="9397" y="7296"/>
                    <a:pt x="9439" y="7296"/>
                  </a:cubicBezTo>
                  <a:cubicBezTo>
                    <a:pt x="9481" y="7296"/>
                    <a:pt x="9519" y="7281"/>
                    <a:pt x="9549" y="7252"/>
                  </a:cubicBezTo>
                  <a:cubicBezTo>
                    <a:pt x="10347" y="6466"/>
                    <a:pt x="10775" y="5454"/>
                    <a:pt x="10775" y="4430"/>
                  </a:cubicBezTo>
                  <a:cubicBezTo>
                    <a:pt x="10775" y="3263"/>
                    <a:pt x="10204" y="2144"/>
                    <a:pt x="9180" y="1286"/>
                  </a:cubicBezTo>
                  <a:cubicBezTo>
                    <a:pt x="8168" y="453"/>
                    <a:pt x="6811" y="1"/>
                    <a:pt x="5382" y="1"/>
                  </a:cubicBezTo>
                  <a:close/>
                </a:path>
              </a:pathLst>
            </a:custGeom>
            <a:solidFill>
              <a:srgbClr val="005FFF"/>
            </a:solidFill>
            <a:ln>
              <a:noFill/>
            </a:ln>
          </p:spPr>
          <p:txBody>
            <a:bodyPr anchorCtr="0" anchor="ctr" bIns="41750" lIns="41750" spcFirstLastPara="1" rIns="41750" wrap="square" tIns="41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39"/>
                <a:buFont typeface="Arial"/>
                <a:buNone/>
              </a:pPr>
              <a:r>
                <a:t/>
              </a:r>
              <a:endParaRPr b="0" i="0" sz="63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8" name="Google Shape;188;p36"/>
          <p:cNvSpPr txBox="1"/>
          <p:nvPr/>
        </p:nvSpPr>
        <p:spPr>
          <a:xfrm>
            <a:off x="6886100" y="1551350"/>
            <a:ext cx="1606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Overpass SemiBold"/>
                <a:ea typeface="Overpass SemiBold"/>
                <a:cs typeface="Overpass SemiBold"/>
                <a:sym typeface="Overpass SemiBold"/>
              </a:rPr>
              <a:t>Observaciones </a:t>
            </a:r>
            <a:r>
              <a:rPr lang="es" sz="1100">
                <a:solidFill>
                  <a:srgbClr val="005FFF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EEM</a:t>
            </a:r>
            <a:endParaRPr sz="1100">
              <a:solidFill>
                <a:srgbClr val="005FFF"/>
              </a:solidFill>
              <a:latin typeface="Overpass SemiBold"/>
              <a:ea typeface="Overpass SemiBold"/>
              <a:cs typeface="Overpass SemiBold"/>
              <a:sym typeface="Overpass SemiBold"/>
            </a:endParaRPr>
          </a:p>
        </p:txBody>
      </p:sp>
      <p:sp>
        <p:nvSpPr>
          <p:cNvPr id="189" name="Google Shape;189;p36"/>
          <p:cNvSpPr txBox="1"/>
          <p:nvPr/>
        </p:nvSpPr>
        <p:spPr>
          <a:xfrm>
            <a:off x="179275" y="1905350"/>
            <a:ext cx="314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1.</a:t>
            </a:r>
            <a:endParaRPr sz="1500">
              <a:solidFill>
                <a:schemeClr val="lt1"/>
              </a:solidFill>
              <a:latin typeface="Overpass SemiBold"/>
              <a:ea typeface="Overpass SemiBold"/>
              <a:cs typeface="Overpass SemiBold"/>
              <a:sym typeface="Overpass SemiBold"/>
            </a:endParaRPr>
          </a:p>
        </p:txBody>
      </p:sp>
      <p:sp>
        <p:nvSpPr>
          <p:cNvPr id="190" name="Google Shape;190;p36"/>
          <p:cNvSpPr txBox="1"/>
          <p:nvPr/>
        </p:nvSpPr>
        <p:spPr>
          <a:xfrm>
            <a:off x="6342325" y="2107685"/>
            <a:ext cx="2779800" cy="23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Overpass"/>
                <a:ea typeface="Overpass"/>
                <a:cs typeface="Overpass"/>
                <a:sym typeface="Overpass"/>
              </a:rPr>
              <a:t>Riesgo asociado</a:t>
            </a: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: Se observa que </a:t>
            </a:r>
            <a:r>
              <a:rPr b="1" lang="es" sz="1100">
                <a:solidFill>
                  <a:srgbClr val="005FFF"/>
                </a:solidFill>
                <a:latin typeface="Overpass"/>
                <a:ea typeface="Overpass"/>
                <a:cs typeface="Overpass"/>
                <a:sym typeface="Overpass"/>
              </a:rPr>
              <a:t>existen operaciones con más de 89 días de mora que no están siendo deterioradas</a:t>
            </a: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 de acuerdo a la definición normativa, lo que podría provocar una subestimación del riesgo de las </a:t>
            </a: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carteras</a:t>
            </a: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 del banco. </a:t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Overpass"/>
                <a:ea typeface="Overpass"/>
                <a:cs typeface="Overpass"/>
                <a:sym typeface="Overpass"/>
              </a:rPr>
              <a:t>Oportunidad de mejora</a:t>
            </a: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: Por definición normativa, es obligatorio deteriorar las operaciones con más de 89 días de mora, por lo que se debe implementar este criterio a todas las operaciones que cumplan con la condición. </a:t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7"/>
          <p:cNvSpPr txBox="1"/>
          <p:nvPr/>
        </p:nvSpPr>
        <p:spPr>
          <a:xfrm>
            <a:off x="2407275" y="1992000"/>
            <a:ext cx="6386700" cy="151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6" name="Google Shape;196;p37"/>
          <p:cNvSpPr txBox="1"/>
          <p:nvPr/>
        </p:nvSpPr>
        <p:spPr>
          <a:xfrm>
            <a:off x="3185475" y="1553400"/>
            <a:ext cx="1869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Overpass SemiBold"/>
                <a:ea typeface="Overpass SemiBold"/>
                <a:cs typeface="Overpass SemiBold"/>
                <a:sym typeface="Overpass SemiBold"/>
              </a:rPr>
              <a:t>Ejemplo </a:t>
            </a:r>
            <a:r>
              <a:rPr lang="es" sz="1100">
                <a:latin typeface="Overpass SemiBold"/>
                <a:ea typeface="Overpass SemiBold"/>
                <a:cs typeface="Overpass SemiBold"/>
                <a:sym typeface="Overpass SemiBold"/>
              </a:rPr>
              <a:t>Observación </a:t>
            </a:r>
            <a:r>
              <a:rPr lang="es" sz="1100">
                <a:solidFill>
                  <a:srgbClr val="005FFF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EEM</a:t>
            </a:r>
            <a:endParaRPr sz="1100">
              <a:solidFill>
                <a:srgbClr val="005FFF"/>
              </a:solidFill>
              <a:latin typeface="Overpass SemiBold"/>
              <a:ea typeface="Overpass SemiBold"/>
              <a:cs typeface="Overpass SemiBold"/>
              <a:sym typeface="Overpass SemiBold"/>
            </a:endParaRPr>
          </a:p>
        </p:txBody>
      </p:sp>
      <p:sp>
        <p:nvSpPr>
          <p:cNvPr id="197" name="Google Shape;197;p37"/>
          <p:cNvSpPr txBox="1"/>
          <p:nvPr/>
        </p:nvSpPr>
        <p:spPr>
          <a:xfrm>
            <a:off x="2641725" y="2011950"/>
            <a:ext cx="600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5FFF"/>
                </a:solidFill>
                <a:latin typeface="Overpass"/>
                <a:ea typeface="Overpass"/>
                <a:cs typeface="Overpass"/>
                <a:sym typeface="Overpass"/>
              </a:rPr>
              <a:t>O</a:t>
            </a:r>
            <a:r>
              <a:rPr b="1" lang="es" sz="1100">
                <a:solidFill>
                  <a:srgbClr val="005FFF"/>
                </a:solidFill>
                <a:latin typeface="Overpass"/>
                <a:ea typeface="Overpass"/>
                <a:cs typeface="Overpass"/>
                <a:sym typeface="Overpass"/>
              </a:rPr>
              <a:t>peración con más de 89 días de mora no deteriorada</a:t>
            </a:r>
            <a:r>
              <a:rPr lang="es" sz="1100">
                <a:solidFill>
                  <a:srgbClr val="005FFF"/>
                </a:solidFill>
                <a:latin typeface="Overpass"/>
                <a:ea typeface="Overpass"/>
                <a:cs typeface="Overpass"/>
                <a:sym typeface="Overpass"/>
              </a:rPr>
              <a:t>:</a:t>
            </a: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 </a:t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98" name="Google Shape;198;p37"/>
          <p:cNvSpPr/>
          <p:nvPr/>
        </p:nvSpPr>
        <p:spPr>
          <a:xfrm rot="5400000">
            <a:off x="-533550" y="1768925"/>
            <a:ext cx="3628500" cy="25611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005FFF"/>
          </a:solidFill>
          <a:ln cap="flat" cmpd="sng" w="9525">
            <a:solidFill>
              <a:srgbClr val="026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99" name="Google Shape;199;p37"/>
          <p:cNvSpPr txBox="1"/>
          <p:nvPr>
            <p:ph type="title"/>
          </p:nvPr>
        </p:nvSpPr>
        <p:spPr>
          <a:xfrm>
            <a:off x="129750" y="516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verpass SemiBold"/>
                <a:ea typeface="Overpass SemiBold"/>
                <a:cs typeface="Overpass SemiBold"/>
                <a:sym typeface="Overpass SemiBold"/>
              </a:rPr>
              <a:t>Reglas de Entrada Cartera Deteriorada</a:t>
            </a:r>
            <a:endParaRPr>
              <a:latin typeface="Overpass SemiBold"/>
              <a:ea typeface="Overpass SemiBold"/>
              <a:cs typeface="Overpass SemiBold"/>
              <a:sym typeface="Overpass SemiBold"/>
            </a:endParaRPr>
          </a:p>
        </p:txBody>
      </p:sp>
      <p:pic>
        <p:nvPicPr>
          <p:cNvPr descr="Google Shape;197;p29" id="200" name="Google Shape;20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269" y="200090"/>
            <a:ext cx="908157" cy="169824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7"/>
          <p:cNvSpPr txBox="1"/>
          <p:nvPr/>
        </p:nvSpPr>
        <p:spPr>
          <a:xfrm>
            <a:off x="179275" y="1466750"/>
            <a:ext cx="2382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Reglamento de Modelos de Provisiones por Riesgo de Crédito</a:t>
            </a:r>
            <a:endParaRPr sz="1100">
              <a:solidFill>
                <a:schemeClr val="lt1"/>
              </a:solidFill>
              <a:latin typeface="Overpass SemiBold"/>
              <a:ea typeface="Overpass SemiBold"/>
              <a:cs typeface="Overpass SemiBold"/>
              <a:sym typeface="Overpass SemiBold"/>
            </a:endParaRPr>
          </a:p>
        </p:txBody>
      </p:sp>
      <p:pic>
        <p:nvPicPr>
          <p:cNvPr descr="Imagen" id="202" name="Google Shape;202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85381" y="170344"/>
            <a:ext cx="508539" cy="229336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7"/>
          <p:cNvSpPr/>
          <p:nvPr/>
        </p:nvSpPr>
        <p:spPr>
          <a:xfrm>
            <a:off x="129750" y="1980425"/>
            <a:ext cx="2392800" cy="24354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126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En el caso de que una Operación de Crédito haya generado un evento de mora 90 días o Cartera vencida al cierre del mes en evaluación.</a:t>
            </a:r>
            <a:endParaRPr sz="11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204" name="Google Shape;204;p37"/>
          <p:cNvSpPr txBox="1"/>
          <p:nvPr/>
        </p:nvSpPr>
        <p:spPr>
          <a:xfrm>
            <a:off x="179275" y="1905350"/>
            <a:ext cx="314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1.</a:t>
            </a:r>
            <a:endParaRPr sz="1500">
              <a:solidFill>
                <a:schemeClr val="lt1"/>
              </a:solidFill>
              <a:latin typeface="Overpass SemiBold"/>
              <a:ea typeface="Overpass SemiBold"/>
              <a:cs typeface="Overpass SemiBold"/>
              <a:sym typeface="Overpass SemiBold"/>
            </a:endParaRPr>
          </a:p>
        </p:txBody>
      </p:sp>
      <p:graphicFrame>
        <p:nvGraphicFramePr>
          <p:cNvPr id="205" name="Google Shape;205;p37"/>
          <p:cNvGraphicFramePr/>
          <p:nvPr/>
        </p:nvGraphicFramePr>
        <p:xfrm>
          <a:off x="2678377" y="24673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{496AB027-4005-48ED-9279-8D13C1627251}</a:tableStyleId>
              </a:tblPr>
              <a:tblGrid>
                <a:gridCol w="898200"/>
                <a:gridCol w="967150"/>
                <a:gridCol w="968750"/>
                <a:gridCol w="1085300"/>
                <a:gridCol w="1060850"/>
                <a:gridCol w="955125"/>
              </a:tblGrid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lt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Cliente_Rut</a:t>
                      </a:r>
                      <a:endParaRPr b="1" sz="1000">
                        <a:solidFill>
                          <a:schemeClr val="lt1"/>
                        </a:solidFill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005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lt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Cliente_Id</a:t>
                      </a:r>
                      <a:endParaRPr b="1" sz="1000">
                        <a:solidFill>
                          <a:schemeClr val="lt1"/>
                        </a:solidFill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lt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Periodo_Id</a:t>
                      </a:r>
                      <a:endParaRPr b="1" sz="1000">
                        <a:solidFill>
                          <a:schemeClr val="lt1"/>
                        </a:solidFill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lt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Contrato_Id</a:t>
                      </a:r>
                      <a:endParaRPr b="1" sz="1000">
                        <a:solidFill>
                          <a:schemeClr val="lt1"/>
                        </a:solidFill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lt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num_dmor</a:t>
                      </a:r>
                      <a:endParaRPr b="1" sz="1000">
                        <a:solidFill>
                          <a:schemeClr val="lt1"/>
                        </a:solidFill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lt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ind_cdet</a:t>
                      </a:r>
                      <a:endParaRPr b="1" sz="1000">
                        <a:solidFill>
                          <a:schemeClr val="lt1"/>
                        </a:solidFill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005FFF"/>
                    </a:solidFill>
                  </a:tcPr>
                </a:tc>
              </a:tr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51054350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19050" marB="19050" marR="28575" marL="2857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209471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01-08-2025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F90000675503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844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206" name="Google Shape;206;p37"/>
          <p:cNvGrpSpPr/>
          <p:nvPr/>
        </p:nvGrpSpPr>
        <p:grpSpPr>
          <a:xfrm>
            <a:off x="2689415" y="1425072"/>
            <a:ext cx="508556" cy="544494"/>
            <a:chOff x="7055134" y="2919170"/>
            <a:chExt cx="290321" cy="310820"/>
          </a:xfrm>
        </p:grpSpPr>
        <p:sp>
          <p:nvSpPr>
            <p:cNvPr id="207" name="Google Shape;207;p37"/>
            <p:cNvSpPr/>
            <p:nvPr/>
          </p:nvSpPr>
          <p:spPr>
            <a:xfrm>
              <a:off x="7102497" y="2970989"/>
              <a:ext cx="191044" cy="259001"/>
            </a:xfrm>
            <a:custGeom>
              <a:rect b="b" l="l" r="r" t="t"/>
              <a:pathLst>
                <a:path extrusionOk="0" h="8137" w="6002">
                  <a:moveTo>
                    <a:pt x="3097" y="314"/>
                  </a:moveTo>
                  <a:cubicBezTo>
                    <a:pt x="3739" y="314"/>
                    <a:pt x="4347" y="552"/>
                    <a:pt x="4835" y="980"/>
                  </a:cubicBezTo>
                  <a:cubicBezTo>
                    <a:pt x="5394" y="1481"/>
                    <a:pt x="5716" y="2195"/>
                    <a:pt x="5716" y="2933"/>
                  </a:cubicBezTo>
                  <a:cubicBezTo>
                    <a:pt x="5704" y="3445"/>
                    <a:pt x="5549" y="3933"/>
                    <a:pt x="5287" y="4350"/>
                  </a:cubicBezTo>
                  <a:cubicBezTo>
                    <a:pt x="5013" y="4767"/>
                    <a:pt x="4644" y="5100"/>
                    <a:pt x="4204" y="5302"/>
                  </a:cubicBezTo>
                  <a:cubicBezTo>
                    <a:pt x="3930" y="5433"/>
                    <a:pt x="3751" y="5719"/>
                    <a:pt x="3751" y="6029"/>
                  </a:cubicBezTo>
                  <a:lnTo>
                    <a:pt x="3751" y="6207"/>
                  </a:lnTo>
                  <a:lnTo>
                    <a:pt x="2430" y="6207"/>
                  </a:lnTo>
                  <a:lnTo>
                    <a:pt x="2430" y="6029"/>
                  </a:lnTo>
                  <a:cubicBezTo>
                    <a:pt x="2430" y="5719"/>
                    <a:pt x="2251" y="5433"/>
                    <a:pt x="1965" y="5302"/>
                  </a:cubicBezTo>
                  <a:cubicBezTo>
                    <a:pt x="942" y="4814"/>
                    <a:pt x="346" y="3731"/>
                    <a:pt x="489" y="2588"/>
                  </a:cubicBezTo>
                  <a:cubicBezTo>
                    <a:pt x="644" y="1421"/>
                    <a:pt x="1608" y="457"/>
                    <a:pt x="2799" y="326"/>
                  </a:cubicBezTo>
                  <a:cubicBezTo>
                    <a:pt x="2906" y="314"/>
                    <a:pt x="3013" y="314"/>
                    <a:pt x="3097" y="314"/>
                  </a:cubicBezTo>
                  <a:close/>
                  <a:moveTo>
                    <a:pt x="3728" y="6505"/>
                  </a:moveTo>
                  <a:lnTo>
                    <a:pt x="3739" y="7017"/>
                  </a:lnTo>
                  <a:cubicBezTo>
                    <a:pt x="3739" y="7100"/>
                    <a:pt x="3668" y="7195"/>
                    <a:pt x="3561" y="7195"/>
                  </a:cubicBezTo>
                  <a:lnTo>
                    <a:pt x="2573" y="7195"/>
                  </a:lnTo>
                  <a:cubicBezTo>
                    <a:pt x="2489" y="7195"/>
                    <a:pt x="2394" y="7124"/>
                    <a:pt x="2394" y="7017"/>
                  </a:cubicBezTo>
                  <a:lnTo>
                    <a:pt x="2394" y="6505"/>
                  </a:lnTo>
                  <a:close/>
                  <a:moveTo>
                    <a:pt x="3394" y="7469"/>
                  </a:moveTo>
                  <a:lnTo>
                    <a:pt x="3406" y="7648"/>
                  </a:lnTo>
                  <a:cubicBezTo>
                    <a:pt x="3406" y="7743"/>
                    <a:pt x="3335" y="7838"/>
                    <a:pt x="3228" y="7838"/>
                  </a:cubicBezTo>
                  <a:lnTo>
                    <a:pt x="2906" y="7838"/>
                  </a:lnTo>
                  <a:cubicBezTo>
                    <a:pt x="2811" y="7838"/>
                    <a:pt x="2727" y="7755"/>
                    <a:pt x="2727" y="7648"/>
                  </a:cubicBezTo>
                  <a:lnTo>
                    <a:pt x="2727" y="7469"/>
                  </a:lnTo>
                  <a:close/>
                  <a:moveTo>
                    <a:pt x="3056" y="0"/>
                  </a:moveTo>
                  <a:cubicBezTo>
                    <a:pt x="2951" y="0"/>
                    <a:pt x="2845" y="6"/>
                    <a:pt x="2739" y="16"/>
                  </a:cubicBezTo>
                  <a:cubicBezTo>
                    <a:pt x="1418" y="171"/>
                    <a:pt x="322" y="1230"/>
                    <a:pt x="168" y="2552"/>
                  </a:cubicBezTo>
                  <a:cubicBezTo>
                    <a:pt x="1" y="3814"/>
                    <a:pt x="668" y="5040"/>
                    <a:pt x="1811" y="5564"/>
                  </a:cubicBezTo>
                  <a:cubicBezTo>
                    <a:pt x="1977" y="5648"/>
                    <a:pt x="2096" y="5826"/>
                    <a:pt x="2096" y="6017"/>
                  </a:cubicBezTo>
                  <a:lnTo>
                    <a:pt x="2096" y="7005"/>
                  </a:lnTo>
                  <a:cubicBezTo>
                    <a:pt x="2096" y="7207"/>
                    <a:pt x="2239" y="7386"/>
                    <a:pt x="2430" y="7457"/>
                  </a:cubicBezTo>
                  <a:lnTo>
                    <a:pt x="2430" y="7648"/>
                  </a:lnTo>
                  <a:cubicBezTo>
                    <a:pt x="2430" y="7922"/>
                    <a:pt x="2632" y="8136"/>
                    <a:pt x="2906" y="8136"/>
                  </a:cubicBezTo>
                  <a:lnTo>
                    <a:pt x="3228" y="8136"/>
                  </a:lnTo>
                  <a:cubicBezTo>
                    <a:pt x="3501" y="8136"/>
                    <a:pt x="3704" y="7922"/>
                    <a:pt x="3704" y="7648"/>
                  </a:cubicBezTo>
                  <a:lnTo>
                    <a:pt x="3704" y="7457"/>
                  </a:lnTo>
                  <a:cubicBezTo>
                    <a:pt x="3906" y="7398"/>
                    <a:pt x="4037" y="7219"/>
                    <a:pt x="4037" y="7005"/>
                  </a:cubicBezTo>
                  <a:lnTo>
                    <a:pt x="4037" y="6017"/>
                  </a:lnTo>
                  <a:cubicBezTo>
                    <a:pt x="4037" y="5826"/>
                    <a:pt x="4144" y="5648"/>
                    <a:pt x="4323" y="5564"/>
                  </a:cubicBezTo>
                  <a:cubicBezTo>
                    <a:pt x="4811" y="5326"/>
                    <a:pt x="5228" y="4969"/>
                    <a:pt x="5537" y="4517"/>
                  </a:cubicBezTo>
                  <a:cubicBezTo>
                    <a:pt x="5847" y="4040"/>
                    <a:pt x="6002" y="3481"/>
                    <a:pt x="6002" y="2921"/>
                  </a:cubicBezTo>
                  <a:cubicBezTo>
                    <a:pt x="6002" y="2100"/>
                    <a:pt x="5644" y="1302"/>
                    <a:pt x="5037" y="754"/>
                  </a:cubicBezTo>
                  <a:cubicBezTo>
                    <a:pt x="4485" y="254"/>
                    <a:pt x="3788" y="0"/>
                    <a:pt x="3056" y="0"/>
                  </a:cubicBezTo>
                  <a:close/>
                </a:path>
              </a:pathLst>
            </a:custGeom>
            <a:solidFill>
              <a:srgbClr val="005FFF"/>
            </a:solidFill>
            <a:ln>
              <a:noFill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37"/>
            <p:cNvSpPr/>
            <p:nvPr/>
          </p:nvSpPr>
          <p:spPr>
            <a:xfrm>
              <a:off x="7304872" y="3059413"/>
              <a:ext cx="40583" cy="9485"/>
            </a:xfrm>
            <a:custGeom>
              <a:rect b="b" l="l" r="r" t="t"/>
              <a:pathLst>
                <a:path extrusionOk="0" h="298" w="1275">
                  <a:moveTo>
                    <a:pt x="144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72" y="298"/>
                    <a:pt x="144" y="298"/>
                  </a:cubicBezTo>
                  <a:lnTo>
                    <a:pt x="1132" y="298"/>
                  </a:lnTo>
                  <a:cubicBezTo>
                    <a:pt x="1215" y="298"/>
                    <a:pt x="1275" y="215"/>
                    <a:pt x="1275" y="143"/>
                  </a:cubicBezTo>
                  <a:cubicBezTo>
                    <a:pt x="1275" y="72"/>
                    <a:pt x="1203" y="0"/>
                    <a:pt x="1132" y="0"/>
                  </a:cubicBezTo>
                  <a:close/>
                </a:path>
              </a:pathLst>
            </a:custGeom>
            <a:solidFill>
              <a:srgbClr val="005FFF"/>
            </a:solidFill>
            <a:ln>
              <a:noFill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37"/>
            <p:cNvSpPr/>
            <p:nvPr/>
          </p:nvSpPr>
          <p:spPr>
            <a:xfrm>
              <a:off x="7055134" y="3059413"/>
              <a:ext cx="41347" cy="9485"/>
            </a:xfrm>
            <a:custGeom>
              <a:rect b="b" l="l" r="r" t="t"/>
              <a:pathLst>
                <a:path extrusionOk="0" h="298" w="1299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72" y="298"/>
                    <a:pt x="155" y="298"/>
                  </a:cubicBezTo>
                  <a:lnTo>
                    <a:pt x="1132" y="298"/>
                  </a:lnTo>
                  <a:cubicBezTo>
                    <a:pt x="1215" y="298"/>
                    <a:pt x="1287" y="215"/>
                    <a:pt x="1287" y="143"/>
                  </a:cubicBezTo>
                  <a:cubicBezTo>
                    <a:pt x="1298" y="72"/>
                    <a:pt x="1227" y="0"/>
                    <a:pt x="1132" y="0"/>
                  </a:cubicBezTo>
                  <a:close/>
                </a:path>
              </a:pathLst>
            </a:custGeom>
            <a:solidFill>
              <a:srgbClr val="005FFF"/>
            </a:solidFill>
            <a:ln>
              <a:noFill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37"/>
            <p:cNvSpPr/>
            <p:nvPr/>
          </p:nvSpPr>
          <p:spPr>
            <a:xfrm>
              <a:off x="7195727" y="2919170"/>
              <a:ext cx="9517" cy="40583"/>
            </a:xfrm>
            <a:custGeom>
              <a:rect b="b" l="l" r="r" t="t"/>
              <a:pathLst>
                <a:path extrusionOk="0" h="1275" w="299">
                  <a:moveTo>
                    <a:pt x="156" y="1"/>
                  </a:moveTo>
                  <a:cubicBezTo>
                    <a:pt x="60" y="1"/>
                    <a:pt x="1" y="72"/>
                    <a:pt x="1" y="144"/>
                  </a:cubicBezTo>
                  <a:lnTo>
                    <a:pt x="1" y="1132"/>
                  </a:lnTo>
                  <a:cubicBezTo>
                    <a:pt x="1" y="1215"/>
                    <a:pt x="84" y="1275"/>
                    <a:pt x="156" y="1275"/>
                  </a:cubicBezTo>
                  <a:cubicBezTo>
                    <a:pt x="227" y="1275"/>
                    <a:pt x="299" y="1204"/>
                    <a:pt x="299" y="1132"/>
                  </a:cubicBezTo>
                  <a:lnTo>
                    <a:pt x="299" y="144"/>
                  </a:lnTo>
                  <a:cubicBezTo>
                    <a:pt x="299" y="72"/>
                    <a:pt x="227" y="1"/>
                    <a:pt x="156" y="1"/>
                  </a:cubicBezTo>
                  <a:close/>
                </a:path>
              </a:pathLst>
            </a:custGeom>
            <a:solidFill>
              <a:srgbClr val="005FFF"/>
            </a:solidFill>
            <a:ln>
              <a:noFill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37"/>
            <p:cNvSpPr/>
            <p:nvPr/>
          </p:nvSpPr>
          <p:spPr>
            <a:xfrm>
              <a:off x="7185128" y="3007116"/>
              <a:ext cx="30334" cy="92880"/>
            </a:xfrm>
            <a:custGeom>
              <a:rect b="b" l="l" r="r" t="t"/>
              <a:pathLst>
                <a:path extrusionOk="0" h="2918" w="953">
                  <a:moveTo>
                    <a:pt x="477" y="310"/>
                  </a:moveTo>
                  <a:cubicBezTo>
                    <a:pt x="512" y="310"/>
                    <a:pt x="560" y="334"/>
                    <a:pt x="596" y="357"/>
                  </a:cubicBezTo>
                  <a:cubicBezTo>
                    <a:pt x="620" y="393"/>
                    <a:pt x="632" y="429"/>
                    <a:pt x="632" y="476"/>
                  </a:cubicBezTo>
                  <a:lnTo>
                    <a:pt x="548" y="2608"/>
                  </a:lnTo>
                  <a:lnTo>
                    <a:pt x="405" y="2620"/>
                  </a:lnTo>
                  <a:cubicBezTo>
                    <a:pt x="405" y="2620"/>
                    <a:pt x="393" y="2620"/>
                    <a:pt x="393" y="2608"/>
                  </a:cubicBezTo>
                  <a:lnTo>
                    <a:pt x="310" y="476"/>
                  </a:lnTo>
                  <a:cubicBezTo>
                    <a:pt x="310" y="429"/>
                    <a:pt x="322" y="393"/>
                    <a:pt x="358" y="357"/>
                  </a:cubicBezTo>
                  <a:cubicBezTo>
                    <a:pt x="381" y="334"/>
                    <a:pt x="429" y="310"/>
                    <a:pt x="477" y="310"/>
                  </a:cubicBezTo>
                  <a:close/>
                  <a:moveTo>
                    <a:pt x="477" y="0"/>
                  </a:moveTo>
                  <a:cubicBezTo>
                    <a:pt x="334" y="0"/>
                    <a:pt x="215" y="48"/>
                    <a:pt x="131" y="155"/>
                  </a:cubicBezTo>
                  <a:cubicBezTo>
                    <a:pt x="36" y="238"/>
                    <a:pt x="0" y="357"/>
                    <a:pt x="0" y="488"/>
                  </a:cubicBezTo>
                  <a:lnTo>
                    <a:pt x="84" y="2620"/>
                  </a:lnTo>
                  <a:cubicBezTo>
                    <a:pt x="84" y="2786"/>
                    <a:pt x="239" y="2917"/>
                    <a:pt x="393" y="2917"/>
                  </a:cubicBezTo>
                  <a:lnTo>
                    <a:pt x="512" y="2917"/>
                  </a:lnTo>
                  <a:cubicBezTo>
                    <a:pt x="679" y="2917"/>
                    <a:pt x="822" y="2786"/>
                    <a:pt x="822" y="2620"/>
                  </a:cubicBezTo>
                  <a:lnTo>
                    <a:pt x="917" y="488"/>
                  </a:lnTo>
                  <a:cubicBezTo>
                    <a:pt x="953" y="369"/>
                    <a:pt x="905" y="238"/>
                    <a:pt x="810" y="155"/>
                  </a:cubicBezTo>
                  <a:cubicBezTo>
                    <a:pt x="727" y="60"/>
                    <a:pt x="608" y="0"/>
                    <a:pt x="477" y="0"/>
                  </a:cubicBezTo>
                  <a:close/>
                </a:path>
              </a:pathLst>
            </a:custGeom>
            <a:solidFill>
              <a:srgbClr val="005FFF"/>
            </a:solidFill>
            <a:ln>
              <a:noFill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37"/>
            <p:cNvSpPr/>
            <p:nvPr/>
          </p:nvSpPr>
          <p:spPr>
            <a:xfrm>
              <a:off x="7187770" y="3111328"/>
              <a:ext cx="25814" cy="25814"/>
            </a:xfrm>
            <a:custGeom>
              <a:rect b="b" l="l" r="r" t="t"/>
              <a:pathLst>
                <a:path extrusionOk="0" h="811" w="811">
                  <a:moveTo>
                    <a:pt x="406" y="310"/>
                  </a:moveTo>
                  <a:cubicBezTo>
                    <a:pt x="453" y="310"/>
                    <a:pt x="489" y="358"/>
                    <a:pt x="489" y="405"/>
                  </a:cubicBezTo>
                  <a:cubicBezTo>
                    <a:pt x="489" y="453"/>
                    <a:pt x="453" y="489"/>
                    <a:pt x="406" y="489"/>
                  </a:cubicBezTo>
                  <a:cubicBezTo>
                    <a:pt x="358" y="489"/>
                    <a:pt x="310" y="453"/>
                    <a:pt x="310" y="405"/>
                  </a:cubicBezTo>
                  <a:cubicBezTo>
                    <a:pt x="310" y="358"/>
                    <a:pt x="358" y="310"/>
                    <a:pt x="406" y="310"/>
                  </a:cubicBezTo>
                  <a:close/>
                  <a:moveTo>
                    <a:pt x="406" y="0"/>
                  </a:moveTo>
                  <a:cubicBezTo>
                    <a:pt x="179" y="0"/>
                    <a:pt x="1" y="179"/>
                    <a:pt x="1" y="405"/>
                  </a:cubicBezTo>
                  <a:cubicBezTo>
                    <a:pt x="1" y="631"/>
                    <a:pt x="179" y="810"/>
                    <a:pt x="406" y="810"/>
                  </a:cubicBezTo>
                  <a:cubicBezTo>
                    <a:pt x="632" y="810"/>
                    <a:pt x="810" y="631"/>
                    <a:pt x="810" y="405"/>
                  </a:cubicBezTo>
                  <a:cubicBezTo>
                    <a:pt x="787" y="179"/>
                    <a:pt x="608" y="0"/>
                    <a:pt x="406" y="0"/>
                  </a:cubicBezTo>
                  <a:close/>
                </a:path>
              </a:pathLst>
            </a:custGeom>
            <a:solidFill>
              <a:srgbClr val="005FFF"/>
            </a:solidFill>
            <a:ln>
              <a:noFill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37"/>
            <p:cNvSpPr/>
            <p:nvPr/>
          </p:nvSpPr>
          <p:spPr>
            <a:xfrm>
              <a:off x="7249552" y="2951477"/>
              <a:ext cx="18971" cy="23077"/>
            </a:xfrm>
            <a:custGeom>
              <a:rect b="b" l="l" r="r" t="t"/>
              <a:pathLst>
                <a:path extrusionOk="0" h="725" w="596">
                  <a:moveTo>
                    <a:pt x="417" y="0"/>
                  </a:moveTo>
                  <a:cubicBezTo>
                    <a:pt x="362" y="0"/>
                    <a:pt x="307" y="32"/>
                    <a:pt x="274" y="81"/>
                  </a:cubicBezTo>
                  <a:lnTo>
                    <a:pt x="36" y="498"/>
                  </a:lnTo>
                  <a:cubicBezTo>
                    <a:pt x="1" y="570"/>
                    <a:pt x="24" y="665"/>
                    <a:pt x="96" y="700"/>
                  </a:cubicBezTo>
                  <a:cubicBezTo>
                    <a:pt x="132" y="724"/>
                    <a:pt x="143" y="724"/>
                    <a:pt x="179" y="724"/>
                  </a:cubicBezTo>
                  <a:cubicBezTo>
                    <a:pt x="239" y="724"/>
                    <a:pt x="274" y="689"/>
                    <a:pt x="310" y="641"/>
                  </a:cubicBezTo>
                  <a:lnTo>
                    <a:pt x="548" y="224"/>
                  </a:lnTo>
                  <a:cubicBezTo>
                    <a:pt x="596" y="153"/>
                    <a:pt x="560" y="69"/>
                    <a:pt x="489" y="22"/>
                  </a:cubicBezTo>
                  <a:cubicBezTo>
                    <a:pt x="466" y="7"/>
                    <a:pt x="442" y="0"/>
                    <a:pt x="417" y="0"/>
                  </a:cubicBezTo>
                  <a:close/>
                </a:path>
              </a:pathLst>
            </a:custGeom>
            <a:solidFill>
              <a:srgbClr val="005FFF"/>
            </a:solidFill>
            <a:ln>
              <a:noFill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37"/>
            <p:cNvSpPr/>
            <p:nvPr/>
          </p:nvSpPr>
          <p:spPr>
            <a:xfrm>
              <a:off x="7132831" y="3153852"/>
              <a:ext cx="18589" cy="22695"/>
            </a:xfrm>
            <a:custGeom>
              <a:rect b="b" l="l" r="r" t="t"/>
              <a:pathLst>
                <a:path extrusionOk="0" h="713" w="584">
                  <a:moveTo>
                    <a:pt x="419" y="0"/>
                  </a:moveTo>
                  <a:cubicBezTo>
                    <a:pt x="368" y="0"/>
                    <a:pt x="319" y="32"/>
                    <a:pt x="286" y="81"/>
                  </a:cubicBezTo>
                  <a:lnTo>
                    <a:pt x="48" y="498"/>
                  </a:lnTo>
                  <a:cubicBezTo>
                    <a:pt x="0" y="569"/>
                    <a:pt x="36" y="665"/>
                    <a:pt x="108" y="700"/>
                  </a:cubicBezTo>
                  <a:cubicBezTo>
                    <a:pt x="131" y="712"/>
                    <a:pt x="155" y="712"/>
                    <a:pt x="179" y="712"/>
                  </a:cubicBezTo>
                  <a:cubicBezTo>
                    <a:pt x="239" y="712"/>
                    <a:pt x="286" y="689"/>
                    <a:pt x="310" y="641"/>
                  </a:cubicBezTo>
                  <a:lnTo>
                    <a:pt x="548" y="224"/>
                  </a:lnTo>
                  <a:cubicBezTo>
                    <a:pt x="584" y="153"/>
                    <a:pt x="572" y="69"/>
                    <a:pt x="489" y="22"/>
                  </a:cubicBezTo>
                  <a:cubicBezTo>
                    <a:pt x="466" y="7"/>
                    <a:pt x="443" y="0"/>
                    <a:pt x="419" y="0"/>
                  </a:cubicBezTo>
                  <a:close/>
                </a:path>
              </a:pathLst>
            </a:custGeom>
            <a:solidFill>
              <a:srgbClr val="005FFF"/>
            </a:solidFill>
            <a:ln>
              <a:noFill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37"/>
            <p:cNvSpPr/>
            <p:nvPr/>
          </p:nvSpPr>
          <p:spPr>
            <a:xfrm>
              <a:off x="7132449" y="2951477"/>
              <a:ext cx="18971" cy="23077"/>
            </a:xfrm>
            <a:custGeom>
              <a:rect b="b" l="l" r="r" t="t"/>
              <a:pathLst>
                <a:path extrusionOk="0" h="725" w="596">
                  <a:moveTo>
                    <a:pt x="177" y="0"/>
                  </a:moveTo>
                  <a:cubicBezTo>
                    <a:pt x="154" y="0"/>
                    <a:pt x="130" y="7"/>
                    <a:pt x="108" y="22"/>
                  </a:cubicBezTo>
                  <a:cubicBezTo>
                    <a:pt x="24" y="69"/>
                    <a:pt x="1" y="153"/>
                    <a:pt x="48" y="236"/>
                  </a:cubicBezTo>
                  <a:lnTo>
                    <a:pt x="274" y="653"/>
                  </a:lnTo>
                  <a:cubicBezTo>
                    <a:pt x="310" y="689"/>
                    <a:pt x="358" y="724"/>
                    <a:pt x="417" y="724"/>
                  </a:cubicBezTo>
                  <a:cubicBezTo>
                    <a:pt x="441" y="724"/>
                    <a:pt x="477" y="724"/>
                    <a:pt x="489" y="712"/>
                  </a:cubicBezTo>
                  <a:cubicBezTo>
                    <a:pt x="584" y="665"/>
                    <a:pt x="596" y="570"/>
                    <a:pt x="548" y="498"/>
                  </a:cubicBezTo>
                  <a:lnTo>
                    <a:pt x="310" y="81"/>
                  </a:lnTo>
                  <a:cubicBezTo>
                    <a:pt x="277" y="32"/>
                    <a:pt x="228" y="0"/>
                    <a:pt x="177" y="0"/>
                  </a:cubicBezTo>
                  <a:close/>
                </a:path>
              </a:pathLst>
            </a:custGeom>
            <a:solidFill>
              <a:srgbClr val="005FFF"/>
            </a:solidFill>
            <a:ln>
              <a:noFill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37"/>
            <p:cNvSpPr/>
            <p:nvPr/>
          </p:nvSpPr>
          <p:spPr>
            <a:xfrm>
              <a:off x="7249552" y="3153852"/>
              <a:ext cx="18971" cy="22695"/>
            </a:xfrm>
            <a:custGeom>
              <a:rect b="b" l="l" r="r" t="t"/>
              <a:pathLst>
                <a:path extrusionOk="0" h="713" w="596">
                  <a:moveTo>
                    <a:pt x="173" y="0"/>
                  </a:moveTo>
                  <a:cubicBezTo>
                    <a:pt x="148" y="0"/>
                    <a:pt x="122" y="7"/>
                    <a:pt x="96" y="22"/>
                  </a:cubicBezTo>
                  <a:cubicBezTo>
                    <a:pt x="24" y="69"/>
                    <a:pt x="1" y="153"/>
                    <a:pt x="36" y="224"/>
                  </a:cubicBezTo>
                  <a:lnTo>
                    <a:pt x="274" y="641"/>
                  </a:lnTo>
                  <a:cubicBezTo>
                    <a:pt x="310" y="689"/>
                    <a:pt x="358" y="712"/>
                    <a:pt x="417" y="712"/>
                  </a:cubicBezTo>
                  <a:cubicBezTo>
                    <a:pt x="441" y="712"/>
                    <a:pt x="477" y="712"/>
                    <a:pt x="489" y="700"/>
                  </a:cubicBezTo>
                  <a:cubicBezTo>
                    <a:pt x="560" y="665"/>
                    <a:pt x="596" y="569"/>
                    <a:pt x="548" y="498"/>
                  </a:cubicBezTo>
                  <a:lnTo>
                    <a:pt x="310" y="81"/>
                  </a:lnTo>
                  <a:cubicBezTo>
                    <a:pt x="277" y="32"/>
                    <a:pt x="228" y="0"/>
                    <a:pt x="173" y="0"/>
                  </a:cubicBezTo>
                  <a:close/>
                </a:path>
              </a:pathLst>
            </a:custGeom>
            <a:solidFill>
              <a:srgbClr val="005FFF"/>
            </a:solidFill>
            <a:ln>
              <a:noFill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37"/>
            <p:cNvSpPr/>
            <p:nvPr/>
          </p:nvSpPr>
          <p:spPr>
            <a:xfrm>
              <a:off x="7289721" y="3113969"/>
              <a:ext cx="24286" cy="17093"/>
            </a:xfrm>
            <a:custGeom>
              <a:rect b="b" l="l" r="r" t="t"/>
              <a:pathLst>
                <a:path extrusionOk="0" h="537" w="763">
                  <a:moveTo>
                    <a:pt x="172" y="0"/>
                  </a:moveTo>
                  <a:cubicBezTo>
                    <a:pt x="121" y="0"/>
                    <a:pt x="72" y="29"/>
                    <a:pt x="48" y="84"/>
                  </a:cubicBezTo>
                  <a:cubicBezTo>
                    <a:pt x="1" y="156"/>
                    <a:pt x="24" y="239"/>
                    <a:pt x="108" y="287"/>
                  </a:cubicBezTo>
                  <a:lnTo>
                    <a:pt x="524" y="525"/>
                  </a:lnTo>
                  <a:cubicBezTo>
                    <a:pt x="548" y="537"/>
                    <a:pt x="560" y="537"/>
                    <a:pt x="596" y="537"/>
                  </a:cubicBezTo>
                  <a:cubicBezTo>
                    <a:pt x="655" y="537"/>
                    <a:pt x="703" y="513"/>
                    <a:pt x="727" y="465"/>
                  </a:cubicBezTo>
                  <a:cubicBezTo>
                    <a:pt x="763" y="394"/>
                    <a:pt x="739" y="310"/>
                    <a:pt x="667" y="263"/>
                  </a:cubicBezTo>
                  <a:lnTo>
                    <a:pt x="251" y="25"/>
                  </a:lnTo>
                  <a:cubicBezTo>
                    <a:pt x="226" y="8"/>
                    <a:pt x="199" y="0"/>
                    <a:pt x="172" y="0"/>
                  </a:cubicBezTo>
                  <a:close/>
                </a:path>
              </a:pathLst>
            </a:custGeom>
            <a:solidFill>
              <a:srgbClr val="005FFF"/>
            </a:solidFill>
            <a:ln>
              <a:noFill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37"/>
            <p:cNvSpPr/>
            <p:nvPr/>
          </p:nvSpPr>
          <p:spPr>
            <a:xfrm>
              <a:off x="7086964" y="2996931"/>
              <a:ext cx="24668" cy="17411"/>
            </a:xfrm>
            <a:custGeom>
              <a:rect b="b" l="l" r="r" t="t"/>
              <a:pathLst>
                <a:path extrusionOk="0" h="547" w="775">
                  <a:moveTo>
                    <a:pt x="179" y="1"/>
                  </a:moveTo>
                  <a:cubicBezTo>
                    <a:pt x="125" y="1"/>
                    <a:pt x="73" y="33"/>
                    <a:pt x="48" y="82"/>
                  </a:cubicBezTo>
                  <a:cubicBezTo>
                    <a:pt x="1" y="154"/>
                    <a:pt x="25" y="249"/>
                    <a:pt x="108" y="285"/>
                  </a:cubicBezTo>
                  <a:lnTo>
                    <a:pt x="525" y="535"/>
                  </a:lnTo>
                  <a:cubicBezTo>
                    <a:pt x="548" y="546"/>
                    <a:pt x="560" y="546"/>
                    <a:pt x="596" y="546"/>
                  </a:cubicBezTo>
                  <a:cubicBezTo>
                    <a:pt x="656" y="546"/>
                    <a:pt x="703" y="511"/>
                    <a:pt x="727" y="475"/>
                  </a:cubicBezTo>
                  <a:cubicBezTo>
                    <a:pt x="775" y="415"/>
                    <a:pt x="739" y="308"/>
                    <a:pt x="668" y="261"/>
                  </a:cubicBezTo>
                  <a:lnTo>
                    <a:pt x="251" y="23"/>
                  </a:lnTo>
                  <a:cubicBezTo>
                    <a:pt x="228" y="8"/>
                    <a:pt x="204" y="1"/>
                    <a:pt x="179" y="1"/>
                  </a:cubicBezTo>
                  <a:close/>
                </a:path>
              </a:pathLst>
            </a:custGeom>
            <a:solidFill>
              <a:srgbClr val="005FFF"/>
            </a:solidFill>
            <a:ln>
              <a:noFill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37"/>
            <p:cNvSpPr/>
            <p:nvPr/>
          </p:nvSpPr>
          <p:spPr>
            <a:xfrm>
              <a:off x="7289339" y="2996931"/>
              <a:ext cx="24668" cy="17411"/>
            </a:xfrm>
            <a:custGeom>
              <a:rect b="b" l="l" r="r" t="t"/>
              <a:pathLst>
                <a:path extrusionOk="0" h="547" w="775">
                  <a:moveTo>
                    <a:pt x="590" y="1"/>
                  </a:moveTo>
                  <a:cubicBezTo>
                    <a:pt x="565" y="1"/>
                    <a:pt x="539" y="8"/>
                    <a:pt x="513" y="23"/>
                  </a:cubicBezTo>
                  <a:lnTo>
                    <a:pt x="96" y="261"/>
                  </a:lnTo>
                  <a:cubicBezTo>
                    <a:pt x="25" y="308"/>
                    <a:pt x="1" y="392"/>
                    <a:pt x="36" y="475"/>
                  </a:cubicBezTo>
                  <a:cubicBezTo>
                    <a:pt x="72" y="511"/>
                    <a:pt x="108" y="546"/>
                    <a:pt x="179" y="546"/>
                  </a:cubicBezTo>
                  <a:cubicBezTo>
                    <a:pt x="203" y="546"/>
                    <a:pt x="239" y="546"/>
                    <a:pt x="251" y="535"/>
                  </a:cubicBezTo>
                  <a:lnTo>
                    <a:pt x="667" y="285"/>
                  </a:lnTo>
                  <a:cubicBezTo>
                    <a:pt x="751" y="249"/>
                    <a:pt x="775" y="154"/>
                    <a:pt x="727" y="82"/>
                  </a:cubicBezTo>
                  <a:cubicBezTo>
                    <a:pt x="694" y="33"/>
                    <a:pt x="645" y="1"/>
                    <a:pt x="590" y="1"/>
                  </a:cubicBezTo>
                  <a:close/>
                </a:path>
              </a:pathLst>
            </a:custGeom>
            <a:solidFill>
              <a:srgbClr val="005FFF"/>
            </a:solidFill>
            <a:ln>
              <a:noFill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37"/>
            <p:cNvSpPr/>
            <p:nvPr/>
          </p:nvSpPr>
          <p:spPr>
            <a:xfrm>
              <a:off x="7086964" y="3113587"/>
              <a:ext cx="24668" cy="17093"/>
            </a:xfrm>
            <a:custGeom>
              <a:rect b="b" l="l" r="r" t="t"/>
              <a:pathLst>
                <a:path extrusionOk="0" h="537" w="775">
                  <a:moveTo>
                    <a:pt x="597" y="0"/>
                  </a:moveTo>
                  <a:cubicBezTo>
                    <a:pt x="570" y="0"/>
                    <a:pt x="541" y="8"/>
                    <a:pt x="513" y="25"/>
                  </a:cubicBezTo>
                  <a:lnTo>
                    <a:pt x="108" y="263"/>
                  </a:lnTo>
                  <a:cubicBezTo>
                    <a:pt x="25" y="299"/>
                    <a:pt x="1" y="394"/>
                    <a:pt x="36" y="465"/>
                  </a:cubicBezTo>
                  <a:cubicBezTo>
                    <a:pt x="72" y="513"/>
                    <a:pt x="120" y="537"/>
                    <a:pt x="179" y="537"/>
                  </a:cubicBezTo>
                  <a:cubicBezTo>
                    <a:pt x="203" y="537"/>
                    <a:pt x="239" y="537"/>
                    <a:pt x="251" y="525"/>
                  </a:cubicBezTo>
                  <a:lnTo>
                    <a:pt x="668" y="287"/>
                  </a:lnTo>
                  <a:cubicBezTo>
                    <a:pt x="739" y="263"/>
                    <a:pt x="775" y="156"/>
                    <a:pt x="727" y="84"/>
                  </a:cubicBezTo>
                  <a:cubicBezTo>
                    <a:pt x="696" y="29"/>
                    <a:pt x="649" y="0"/>
                    <a:pt x="597" y="0"/>
                  </a:cubicBezTo>
                  <a:close/>
                </a:path>
              </a:pathLst>
            </a:custGeom>
            <a:solidFill>
              <a:srgbClr val="005FFF"/>
            </a:solidFill>
            <a:ln>
              <a:noFill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8"/>
          <p:cNvSpPr txBox="1"/>
          <p:nvPr/>
        </p:nvSpPr>
        <p:spPr>
          <a:xfrm>
            <a:off x="5846250" y="1989950"/>
            <a:ext cx="3297600" cy="269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6" name="Google Shape;226;p38"/>
          <p:cNvSpPr/>
          <p:nvPr/>
        </p:nvSpPr>
        <p:spPr>
          <a:xfrm>
            <a:off x="2043400" y="1980425"/>
            <a:ext cx="4250700" cy="2699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000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Overpass"/>
                <a:ea typeface="Overpass"/>
                <a:cs typeface="Overpass"/>
                <a:sym typeface="Overpass"/>
              </a:rPr>
              <a:t>Origen Deterioro</a:t>
            </a:r>
            <a:r>
              <a:rPr b="1" lang="es" sz="1100"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s" sz="1100">
                <a:latin typeface="Overpass"/>
                <a:ea typeface="Overpass"/>
                <a:cs typeface="Overpass"/>
                <a:sym typeface="Overpass"/>
              </a:rPr>
              <a:t>3</a:t>
            </a: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: Deterioro propio por Renegociado.</a:t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Overpass"/>
                <a:ea typeface="Overpass"/>
                <a:cs typeface="Overpass"/>
                <a:sym typeface="Overpass"/>
              </a:rPr>
              <a:t>Criterio 9</a:t>
            </a: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: Cliente con alguna  operación de crédito Renegociado.</a:t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Overpass"/>
                <a:ea typeface="Overpass"/>
                <a:cs typeface="Overpass"/>
                <a:sym typeface="Overpass"/>
              </a:rPr>
              <a:t>Descripción</a:t>
            </a: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:  </a:t>
            </a: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Si la operación viene con indicador </a:t>
            </a:r>
            <a:r>
              <a:rPr b="1" lang="es" sz="1100">
                <a:solidFill>
                  <a:srgbClr val="FFAC00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cod_oren</a:t>
            </a:r>
            <a:r>
              <a:rPr b="1" lang="es" sz="1100">
                <a:solidFill>
                  <a:srgbClr val="FFAC00"/>
                </a:solidFill>
                <a:latin typeface="Overpass"/>
                <a:ea typeface="Overpass"/>
                <a:cs typeface="Overpass"/>
                <a:sym typeface="Overpass"/>
              </a:rPr>
              <a:t>*</a:t>
            </a:r>
            <a:r>
              <a:rPr lang="es" sz="1100">
                <a:solidFill>
                  <a:srgbClr val="FFAC00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'S'</a:t>
            </a:r>
            <a:r>
              <a:rPr b="1" lang="es" sz="1100"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(operación renegociada) o 'C' (operaciones renegociadas provenientes de castigo), entonces entra a cartera deteriorada e irradia las demás operaciones. Este criterio de deterioro se aplica sólo la primera vez que se detecta el crédito renegociado. La fecha de otorgamiento tiene que ser mayor o igual a 20090101.</a:t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227" name="Google Shape;227;p38"/>
          <p:cNvSpPr/>
          <p:nvPr/>
        </p:nvSpPr>
        <p:spPr>
          <a:xfrm rot="5400000">
            <a:off x="-533550" y="1768925"/>
            <a:ext cx="3628500" cy="25611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FAC00"/>
          </a:solidFill>
          <a:ln cap="flat" cmpd="sng" w="9525">
            <a:solidFill>
              <a:srgbClr val="FFA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8" name="Google Shape;228;p38"/>
          <p:cNvSpPr txBox="1"/>
          <p:nvPr>
            <p:ph type="title"/>
          </p:nvPr>
        </p:nvSpPr>
        <p:spPr>
          <a:xfrm>
            <a:off x="129750" y="516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verpass SemiBold"/>
                <a:ea typeface="Overpass SemiBold"/>
                <a:cs typeface="Overpass SemiBold"/>
                <a:sym typeface="Overpass SemiBold"/>
              </a:rPr>
              <a:t>Reglas de Entrada Cartera Deteriorada</a:t>
            </a:r>
            <a:endParaRPr>
              <a:latin typeface="Overpass SemiBold"/>
              <a:ea typeface="Overpass SemiBold"/>
              <a:cs typeface="Overpass SemiBold"/>
              <a:sym typeface="Overpass SemiBold"/>
            </a:endParaRPr>
          </a:p>
        </p:txBody>
      </p:sp>
      <p:pic>
        <p:nvPicPr>
          <p:cNvPr descr="Google Shape;197;p29" id="229" name="Google Shape;22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269" y="200090"/>
            <a:ext cx="908157" cy="169824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8"/>
          <p:cNvSpPr txBox="1"/>
          <p:nvPr/>
        </p:nvSpPr>
        <p:spPr>
          <a:xfrm>
            <a:off x="2632775" y="1551350"/>
            <a:ext cx="2304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Overpass SemiBold"/>
                <a:ea typeface="Overpass SemiBold"/>
                <a:cs typeface="Overpass SemiBold"/>
                <a:sym typeface="Overpass SemiBold"/>
              </a:rPr>
              <a:t>Documento de </a:t>
            </a:r>
            <a:r>
              <a:rPr lang="es" sz="1100">
                <a:solidFill>
                  <a:srgbClr val="FFAC00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Diseño TI</a:t>
            </a:r>
            <a:endParaRPr sz="1100">
              <a:solidFill>
                <a:srgbClr val="FFAC00"/>
              </a:solidFill>
              <a:latin typeface="Overpass SemiBold"/>
              <a:ea typeface="Overpass SemiBold"/>
              <a:cs typeface="Overpass SemiBold"/>
              <a:sym typeface="Overpass SemiBold"/>
            </a:endParaRPr>
          </a:p>
        </p:txBody>
      </p:sp>
      <p:sp>
        <p:nvSpPr>
          <p:cNvPr id="231" name="Google Shape;231;p38"/>
          <p:cNvSpPr txBox="1"/>
          <p:nvPr/>
        </p:nvSpPr>
        <p:spPr>
          <a:xfrm>
            <a:off x="179275" y="1466750"/>
            <a:ext cx="2382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Reglamento de Modelos de Provisiones por Riesgo de Crédito</a:t>
            </a:r>
            <a:endParaRPr sz="1100">
              <a:solidFill>
                <a:schemeClr val="lt1"/>
              </a:solidFill>
              <a:latin typeface="Overpass SemiBold"/>
              <a:ea typeface="Overpass SemiBold"/>
              <a:cs typeface="Overpass SemiBold"/>
              <a:sym typeface="Overpass SemiBold"/>
            </a:endParaRPr>
          </a:p>
        </p:txBody>
      </p:sp>
      <p:pic>
        <p:nvPicPr>
          <p:cNvPr descr="Imagen" id="232" name="Google Shape;232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85381" y="170344"/>
            <a:ext cx="508539" cy="229336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8"/>
          <p:cNvSpPr/>
          <p:nvPr/>
        </p:nvSpPr>
        <p:spPr>
          <a:xfrm>
            <a:off x="129750" y="1980425"/>
            <a:ext cx="2392800" cy="24354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126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Nuevas Operaciones de Crédito marcadas como Renegociadas, generadas a partir de curses con  mora mayor o igual a 60 días.  Se excluyen operaciones en las cuales la reestructuración proviene de la oportunidad de aprovechar condiciones más ventajosas de mercado (aplica para operaciones Renegociadas desde el 01.01.2009).</a:t>
            </a:r>
            <a:endParaRPr sz="11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234" name="Google Shape;234;p38"/>
          <p:cNvSpPr txBox="1"/>
          <p:nvPr/>
        </p:nvSpPr>
        <p:spPr>
          <a:xfrm>
            <a:off x="6886100" y="1551350"/>
            <a:ext cx="1651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Overpass SemiBold"/>
                <a:ea typeface="Overpass SemiBold"/>
                <a:cs typeface="Overpass SemiBold"/>
                <a:sym typeface="Overpass SemiBold"/>
              </a:rPr>
              <a:t>Observaciones </a:t>
            </a:r>
            <a:r>
              <a:rPr lang="es" sz="1100">
                <a:solidFill>
                  <a:srgbClr val="FFAC00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EEM</a:t>
            </a:r>
            <a:endParaRPr sz="1100">
              <a:solidFill>
                <a:srgbClr val="FFAC00"/>
              </a:solidFill>
              <a:latin typeface="Overpass SemiBold"/>
              <a:ea typeface="Overpass SemiBold"/>
              <a:cs typeface="Overpass SemiBold"/>
              <a:sym typeface="Overpass SemiBold"/>
            </a:endParaRPr>
          </a:p>
        </p:txBody>
      </p:sp>
      <p:grpSp>
        <p:nvGrpSpPr>
          <p:cNvPr id="235" name="Google Shape;235;p38"/>
          <p:cNvGrpSpPr/>
          <p:nvPr/>
        </p:nvGrpSpPr>
        <p:grpSpPr>
          <a:xfrm>
            <a:off x="6402547" y="1487127"/>
            <a:ext cx="483564" cy="482452"/>
            <a:chOff x="1745217" y="1515471"/>
            <a:chExt cx="343269" cy="342505"/>
          </a:xfrm>
        </p:grpSpPr>
        <p:sp>
          <p:nvSpPr>
            <p:cNvPr id="236" name="Google Shape;236;p38"/>
            <p:cNvSpPr/>
            <p:nvPr/>
          </p:nvSpPr>
          <p:spPr>
            <a:xfrm>
              <a:off x="1854448" y="1647096"/>
              <a:ext cx="22012" cy="21630"/>
            </a:xfrm>
            <a:custGeom>
              <a:rect b="b" l="l" r="r" t="t"/>
              <a:pathLst>
                <a:path extrusionOk="0" h="679" w="691">
                  <a:moveTo>
                    <a:pt x="346" y="0"/>
                  </a:moveTo>
                  <a:cubicBezTo>
                    <a:pt x="155" y="0"/>
                    <a:pt x="0" y="155"/>
                    <a:pt x="0" y="345"/>
                  </a:cubicBezTo>
                  <a:cubicBezTo>
                    <a:pt x="0" y="536"/>
                    <a:pt x="155" y="679"/>
                    <a:pt x="346" y="679"/>
                  </a:cubicBezTo>
                  <a:cubicBezTo>
                    <a:pt x="536" y="679"/>
                    <a:pt x="691" y="536"/>
                    <a:pt x="691" y="345"/>
                  </a:cubicBezTo>
                  <a:cubicBezTo>
                    <a:pt x="691" y="155"/>
                    <a:pt x="536" y="0"/>
                    <a:pt x="346" y="0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anchorCtr="0" anchor="ctr" bIns="41750" lIns="41750" spcFirstLastPara="1" rIns="41750" wrap="square" tIns="41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39"/>
                <a:buFont typeface="Arial"/>
                <a:buNone/>
              </a:pPr>
              <a:r>
                <a:t/>
              </a:r>
              <a:endParaRPr b="0" i="0" sz="63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38"/>
            <p:cNvSpPr/>
            <p:nvPr/>
          </p:nvSpPr>
          <p:spPr>
            <a:xfrm>
              <a:off x="1906021" y="1647096"/>
              <a:ext cx="21661" cy="21630"/>
            </a:xfrm>
            <a:custGeom>
              <a:rect b="b" l="l" r="r" t="t"/>
              <a:pathLst>
                <a:path extrusionOk="0" h="679" w="680">
                  <a:moveTo>
                    <a:pt x="334" y="0"/>
                  </a:moveTo>
                  <a:cubicBezTo>
                    <a:pt x="143" y="0"/>
                    <a:pt x="0" y="155"/>
                    <a:pt x="0" y="345"/>
                  </a:cubicBezTo>
                  <a:cubicBezTo>
                    <a:pt x="0" y="536"/>
                    <a:pt x="143" y="679"/>
                    <a:pt x="334" y="679"/>
                  </a:cubicBezTo>
                  <a:cubicBezTo>
                    <a:pt x="524" y="679"/>
                    <a:pt x="679" y="536"/>
                    <a:pt x="679" y="345"/>
                  </a:cubicBezTo>
                  <a:cubicBezTo>
                    <a:pt x="679" y="155"/>
                    <a:pt x="524" y="0"/>
                    <a:pt x="334" y="0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anchorCtr="0" anchor="ctr" bIns="41750" lIns="41750" spcFirstLastPara="1" rIns="41750" wrap="square" tIns="41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39"/>
                <a:buFont typeface="Arial"/>
                <a:buNone/>
              </a:pPr>
              <a:r>
                <a:t/>
              </a:r>
              <a:endParaRPr b="0" i="0" sz="63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38"/>
            <p:cNvSpPr/>
            <p:nvPr/>
          </p:nvSpPr>
          <p:spPr>
            <a:xfrm>
              <a:off x="1956830" y="1647096"/>
              <a:ext cx="22044" cy="21630"/>
            </a:xfrm>
            <a:custGeom>
              <a:rect b="b" l="l" r="r" t="t"/>
              <a:pathLst>
                <a:path extrusionOk="0" h="679" w="692">
                  <a:moveTo>
                    <a:pt x="346" y="0"/>
                  </a:moveTo>
                  <a:cubicBezTo>
                    <a:pt x="156" y="0"/>
                    <a:pt x="1" y="155"/>
                    <a:pt x="1" y="345"/>
                  </a:cubicBezTo>
                  <a:cubicBezTo>
                    <a:pt x="1" y="536"/>
                    <a:pt x="156" y="679"/>
                    <a:pt x="346" y="679"/>
                  </a:cubicBezTo>
                  <a:cubicBezTo>
                    <a:pt x="537" y="679"/>
                    <a:pt x="691" y="536"/>
                    <a:pt x="691" y="345"/>
                  </a:cubicBezTo>
                  <a:cubicBezTo>
                    <a:pt x="691" y="155"/>
                    <a:pt x="537" y="0"/>
                    <a:pt x="346" y="0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anchorCtr="0" anchor="ctr" bIns="41750" lIns="41750" spcFirstLastPara="1" rIns="41750" wrap="square" tIns="41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39"/>
                <a:buFont typeface="Arial"/>
                <a:buNone/>
              </a:pPr>
              <a:r>
                <a:t/>
              </a:r>
              <a:endParaRPr b="0" i="0" sz="63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38"/>
            <p:cNvSpPr/>
            <p:nvPr/>
          </p:nvSpPr>
          <p:spPr>
            <a:xfrm>
              <a:off x="1745217" y="1515471"/>
              <a:ext cx="343269" cy="342505"/>
            </a:xfrm>
            <a:custGeom>
              <a:rect b="b" l="l" r="r" t="t"/>
              <a:pathLst>
                <a:path extrusionOk="0" h="10752" w="10776">
                  <a:moveTo>
                    <a:pt x="5382" y="1"/>
                  </a:moveTo>
                  <a:cubicBezTo>
                    <a:pt x="3953" y="1"/>
                    <a:pt x="2608" y="453"/>
                    <a:pt x="1596" y="1286"/>
                  </a:cubicBezTo>
                  <a:cubicBezTo>
                    <a:pt x="560" y="2144"/>
                    <a:pt x="0" y="3251"/>
                    <a:pt x="0" y="4465"/>
                  </a:cubicBezTo>
                  <a:cubicBezTo>
                    <a:pt x="0" y="5513"/>
                    <a:pt x="465" y="6561"/>
                    <a:pt x="1274" y="7359"/>
                  </a:cubicBezTo>
                  <a:cubicBezTo>
                    <a:pt x="2072" y="8121"/>
                    <a:pt x="3120" y="8645"/>
                    <a:pt x="4298" y="8835"/>
                  </a:cubicBezTo>
                  <a:cubicBezTo>
                    <a:pt x="4310" y="9442"/>
                    <a:pt x="4108" y="10014"/>
                    <a:pt x="3703" y="10478"/>
                  </a:cubicBezTo>
                  <a:cubicBezTo>
                    <a:pt x="3655" y="10514"/>
                    <a:pt x="3644" y="10597"/>
                    <a:pt x="3679" y="10657"/>
                  </a:cubicBezTo>
                  <a:cubicBezTo>
                    <a:pt x="3703" y="10704"/>
                    <a:pt x="3763" y="10752"/>
                    <a:pt x="3834" y="10752"/>
                  </a:cubicBezTo>
                  <a:cubicBezTo>
                    <a:pt x="5025" y="10752"/>
                    <a:pt x="6084" y="9966"/>
                    <a:pt x="6442" y="8835"/>
                  </a:cubicBezTo>
                  <a:cubicBezTo>
                    <a:pt x="7406" y="8668"/>
                    <a:pt x="8287" y="8299"/>
                    <a:pt x="9013" y="7752"/>
                  </a:cubicBezTo>
                  <a:cubicBezTo>
                    <a:pt x="9097" y="7692"/>
                    <a:pt x="9109" y="7585"/>
                    <a:pt x="9049" y="7513"/>
                  </a:cubicBezTo>
                  <a:cubicBezTo>
                    <a:pt x="9014" y="7465"/>
                    <a:pt x="8963" y="7441"/>
                    <a:pt x="8913" y="7441"/>
                  </a:cubicBezTo>
                  <a:cubicBezTo>
                    <a:pt x="8877" y="7441"/>
                    <a:pt x="8841" y="7453"/>
                    <a:pt x="8811" y="7478"/>
                  </a:cubicBezTo>
                  <a:cubicBezTo>
                    <a:pt x="8096" y="8014"/>
                    <a:pt x="7215" y="8371"/>
                    <a:pt x="6275" y="8502"/>
                  </a:cubicBezTo>
                  <a:cubicBezTo>
                    <a:pt x="6203" y="8525"/>
                    <a:pt x="6156" y="8561"/>
                    <a:pt x="6132" y="8621"/>
                  </a:cubicBezTo>
                  <a:cubicBezTo>
                    <a:pt x="5894" y="9549"/>
                    <a:pt x="5120" y="10216"/>
                    <a:pt x="4215" y="10371"/>
                  </a:cubicBezTo>
                  <a:cubicBezTo>
                    <a:pt x="4537" y="9859"/>
                    <a:pt x="4703" y="9264"/>
                    <a:pt x="4644" y="8656"/>
                  </a:cubicBezTo>
                  <a:cubicBezTo>
                    <a:pt x="4644" y="8585"/>
                    <a:pt x="4572" y="8502"/>
                    <a:pt x="4489" y="8490"/>
                  </a:cubicBezTo>
                  <a:cubicBezTo>
                    <a:pt x="2084" y="8144"/>
                    <a:pt x="346" y="6442"/>
                    <a:pt x="346" y="4430"/>
                  </a:cubicBezTo>
                  <a:cubicBezTo>
                    <a:pt x="346" y="2156"/>
                    <a:pt x="2608" y="310"/>
                    <a:pt x="5382" y="310"/>
                  </a:cubicBezTo>
                  <a:cubicBezTo>
                    <a:pt x="8168" y="310"/>
                    <a:pt x="10430" y="2156"/>
                    <a:pt x="10430" y="4430"/>
                  </a:cubicBezTo>
                  <a:cubicBezTo>
                    <a:pt x="10430" y="5370"/>
                    <a:pt x="10025" y="6287"/>
                    <a:pt x="9311" y="7013"/>
                  </a:cubicBezTo>
                  <a:cubicBezTo>
                    <a:pt x="9251" y="7097"/>
                    <a:pt x="9251" y="7192"/>
                    <a:pt x="9311" y="7252"/>
                  </a:cubicBezTo>
                  <a:cubicBezTo>
                    <a:pt x="9353" y="7281"/>
                    <a:pt x="9397" y="7296"/>
                    <a:pt x="9439" y="7296"/>
                  </a:cubicBezTo>
                  <a:cubicBezTo>
                    <a:pt x="9481" y="7296"/>
                    <a:pt x="9519" y="7281"/>
                    <a:pt x="9549" y="7252"/>
                  </a:cubicBezTo>
                  <a:cubicBezTo>
                    <a:pt x="10347" y="6466"/>
                    <a:pt x="10775" y="5454"/>
                    <a:pt x="10775" y="4430"/>
                  </a:cubicBezTo>
                  <a:cubicBezTo>
                    <a:pt x="10775" y="3263"/>
                    <a:pt x="10204" y="2144"/>
                    <a:pt x="9180" y="1286"/>
                  </a:cubicBezTo>
                  <a:cubicBezTo>
                    <a:pt x="8168" y="453"/>
                    <a:pt x="6811" y="1"/>
                    <a:pt x="5382" y="1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anchorCtr="0" anchor="ctr" bIns="41750" lIns="41750" spcFirstLastPara="1" rIns="41750" wrap="square" tIns="41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39"/>
                <a:buFont typeface="Arial"/>
                <a:buNone/>
              </a:pPr>
              <a:r>
                <a:t/>
              </a:r>
              <a:endParaRPr b="0" i="0" sz="63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0" name="Google Shape;240;p38"/>
          <p:cNvSpPr txBox="1"/>
          <p:nvPr/>
        </p:nvSpPr>
        <p:spPr>
          <a:xfrm>
            <a:off x="6312989" y="2058800"/>
            <a:ext cx="28692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Overpass"/>
                <a:ea typeface="Overpass"/>
                <a:cs typeface="Overpass"/>
                <a:sym typeface="Overpass"/>
              </a:rPr>
              <a:t>Riesgo aso</a:t>
            </a:r>
            <a:r>
              <a:rPr b="1" lang="es" sz="1100">
                <a:latin typeface="Overpass"/>
                <a:ea typeface="Overpass"/>
                <a:cs typeface="Overpass"/>
                <a:sym typeface="Overpass"/>
              </a:rPr>
              <a:t>ciado</a:t>
            </a: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: Se observa que existen </a:t>
            </a:r>
            <a:r>
              <a:rPr b="1" lang="es" sz="1100">
                <a:solidFill>
                  <a:srgbClr val="FFAC00"/>
                </a:solidFill>
                <a:latin typeface="Overpass"/>
                <a:ea typeface="Overpass"/>
                <a:cs typeface="Overpass"/>
                <a:sym typeface="Overpass"/>
              </a:rPr>
              <a:t>operaciones hipotecarias renegociadas con más de 60 días de mora que no se deterioran </a:t>
            </a:r>
            <a:r>
              <a:rPr lang="es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de acuerdo a la definición normativa, lo que podría provocar una subestimación del riesgo de las </a:t>
            </a:r>
            <a:r>
              <a:rPr lang="es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carteras</a:t>
            </a:r>
            <a:r>
              <a:rPr lang="es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 del banco. </a:t>
            </a:r>
            <a:endParaRPr b="1" sz="1100">
              <a:solidFill>
                <a:srgbClr val="FFAC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Overpass"/>
                <a:ea typeface="Overpass"/>
                <a:cs typeface="Overpass"/>
                <a:sym typeface="Overpass"/>
              </a:rPr>
              <a:t>Oportunidad de mejora</a:t>
            </a: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: P</a:t>
            </a:r>
            <a:r>
              <a:rPr lang="es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or definición normativa, es obligatorio deteriorar las operaciones renegociadas con más de 60 días de mora, por lo que se debe implementar este criterio a todas las operaciones que cumplan con la condición. </a:t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241" name="Google Shape;241;p38"/>
          <p:cNvSpPr txBox="1"/>
          <p:nvPr/>
        </p:nvSpPr>
        <p:spPr>
          <a:xfrm>
            <a:off x="179275" y="1905350"/>
            <a:ext cx="359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2.</a:t>
            </a:r>
            <a:endParaRPr sz="1500">
              <a:solidFill>
                <a:schemeClr val="lt1"/>
              </a:solidFill>
              <a:latin typeface="Overpass SemiBold"/>
              <a:ea typeface="Overpass SemiBold"/>
              <a:cs typeface="Overpass SemiBold"/>
              <a:sym typeface="Overpass SemiBold"/>
            </a:endParaRPr>
          </a:p>
        </p:txBody>
      </p:sp>
      <p:sp>
        <p:nvSpPr>
          <p:cNvPr id="242" name="Google Shape;242;p38"/>
          <p:cNvSpPr txBox="1"/>
          <p:nvPr/>
        </p:nvSpPr>
        <p:spPr>
          <a:xfrm>
            <a:off x="2561275" y="4680125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FFAC00"/>
                </a:solidFill>
                <a:latin typeface="Overpass"/>
                <a:ea typeface="Overpass"/>
                <a:cs typeface="Overpass"/>
                <a:sym typeface="Overpass"/>
              </a:rPr>
              <a:t>*</a:t>
            </a:r>
            <a:r>
              <a:rPr b="1" lang="es" sz="9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cod_oren</a:t>
            </a:r>
            <a:r>
              <a:rPr lang="es" sz="9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: Flag de Cartera Renegociada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7" name="Google Shape;247;p39"/>
          <p:cNvGrpSpPr/>
          <p:nvPr/>
        </p:nvGrpSpPr>
        <p:grpSpPr>
          <a:xfrm>
            <a:off x="2689415" y="1425072"/>
            <a:ext cx="508556" cy="544494"/>
            <a:chOff x="7055134" y="2919170"/>
            <a:chExt cx="290321" cy="310820"/>
          </a:xfrm>
        </p:grpSpPr>
        <p:sp>
          <p:nvSpPr>
            <p:cNvPr id="248" name="Google Shape;248;p39"/>
            <p:cNvSpPr/>
            <p:nvPr/>
          </p:nvSpPr>
          <p:spPr>
            <a:xfrm>
              <a:off x="7102497" y="2970989"/>
              <a:ext cx="191044" cy="259001"/>
            </a:xfrm>
            <a:custGeom>
              <a:rect b="b" l="l" r="r" t="t"/>
              <a:pathLst>
                <a:path extrusionOk="0" h="8137" w="6002">
                  <a:moveTo>
                    <a:pt x="3097" y="314"/>
                  </a:moveTo>
                  <a:cubicBezTo>
                    <a:pt x="3739" y="314"/>
                    <a:pt x="4347" y="552"/>
                    <a:pt x="4835" y="980"/>
                  </a:cubicBezTo>
                  <a:cubicBezTo>
                    <a:pt x="5394" y="1481"/>
                    <a:pt x="5716" y="2195"/>
                    <a:pt x="5716" y="2933"/>
                  </a:cubicBezTo>
                  <a:cubicBezTo>
                    <a:pt x="5704" y="3445"/>
                    <a:pt x="5549" y="3933"/>
                    <a:pt x="5287" y="4350"/>
                  </a:cubicBezTo>
                  <a:cubicBezTo>
                    <a:pt x="5013" y="4767"/>
                    <a:pt x="4644" y="5100"/>
                    <a:pt x="4204" y="5302"/>
                  </a:cubicBezTo>
                  <a:cubicBezTo>
                    <a:pt x="3930" y="5433"/>
                    <a:pt x="3751" y="5719"/>
                    <a:pt x="3751" y="6029"/>
                  </a:cubicBezTo>
                  <a:lnTo>
                    <a:pt x="3751" y="6207"/>
                  </a:lnTo>
                  <a:lnTo>
                    <a:pt x="2430" y="6207"/>
                  </a:lnTo>
                  <a:lnTo>
                    <a:pt x="2430" y="6029"/>
                  </a:lnTo>
                  <a:cubicBezTo>
                    <a:pt x="2430" y="5719"/>
                    <a:pt x="2251" y="5433"/>
                    <a:pt x="1965" y="5302"/>
                  </a:cubicBezTo>
                  <a:cubicBezTo>
                    <a:pt x="942" y="4814"/>
                    <a:pt x="346" y="3731"/>
                    <a:pt x="489" y="2588"/>
                  </a:cubicBezTo>
                  <a:cubicBezTo>
                    <a:pt x="644" y="1421"/>
                    <a:pt x="1608" y="457"/>
                    <a:pt x="2799" y="326"/>
                  </a:cubicBezTo>
                  <a:cubicBezTo>
                    <a:pt x="2906" y="314"/>
                    <a:pt x="3013" y="314"/>
                    <a:pt x="3097" y="314"/>
                  </a:cubicBezTo>
                  <a:close/>
                  <a:moveTo>
                    <a:pt x="3728" y="6505"/>
                  </a:moveTo>
                  <a:lnTo>
                    <a:pt x="3739" y="7017"/>
                  </a:lnTo>
                  <a:cubicBezTo>
                    <a:pt x="3739" y="7100"/>
                    <a:pt x="3668" y="7195"/>
                    <a:pt x="3561" y="7195"/>
                  </a:cubicBezTo>
                  <a:lnTo>
                    <a:pt x="2573" y="7195"/>
                  </a:lnTo>
                  <a:cubicBezTo>
                    <a:pt x="2489" y="7195"/>
                    <a:pt x="2394" y="7124"/>
                    <a:pt x="2394" y="7017"/>
                  </a:cubicBezTo>
                  <a:lnTo>
                    <a:pt x="2394" y="6505"/>
                  </a:lnTo>
                  <a:close/>
                  <a:moveTo>
                    <a:pt x="3394" y="7469"/>
                  </a:moveTo>
                  <a:lnTo>
                    <a:pt x="3406" y="7648"/>
                  </a:lnTo>
                  <a:cubicBezTo>
                    <a:pt x="3406" y="7743"/>
                    <a:pt x="3335" y="7838"/>
                    <a:pt x="3228" y="7838"/>
                  </a:cubicBezTo>
                  <a:lnTo>
                    <a:pt x="2906" y="7838"/>
                  </a:lnTo>
                  <a:cubicBezTo>
                    <a:pt x="2811" y="7838"/>
                    <a:pt x="2727" y="7755"/>
                    <a:pt x="2727" y="7648"/>
                  </a:cubicBezTo>
                  <a:lnTo>
                    <a:pt x="2727" y="7469"/>
                  </a:lnTo>
                  <a:close/>
                  <a:moveTo>
                    <a:pt x="3056" y="0"/>
                  </a:moveTo>
                  <a:cubicBezTo>
                    <a:pt x="2951" y="0"/>
                    <a:pt x="2845" y="6"/>
                    <a:pt x="2739" y="16"/>
                  </a:cubicBezTo>
                  <a:cubicBezTo>
                    <a:pt x="1418" y="171"/>
                    <a:pt x="322" y="1230"/>
                    <a:pt x="168" y="2552"/>
                  </a:cubicBezTo>
                  <a:cubicBezTo>
                    <a:pt x="1" y="3814"/>
                    <a:pt x="668" y="5040"/>
                    <a:pt x="1811" y="5564"/>
                  </a:cubicBezTo>
                  <a:cubicBezTo>
                    <a:pt x="1977" y="5648"/>
                    <a:pt x="2096" y="5826"/>
                    <a:pt x="2096" y="6017"/>
                  </a:cubicBezTo>
                  <a:lnTo>
                    <a:pt x="2096" y="7005"/>
                  </a:lnTo>
                  <a:cubicBezTo>
                    <a:pt x="2096" y="7207"/>
                    <a:pt x="2239" y="7386"/>
                    <a:pt x="2430" y="7457"/>
                  </a:cubicBezTo>
                  <a:lnTo>
                    <a:pt x="2430" y="7648"/>
                  </a:lnTo>
                  <a:cubicBezTo>
                    <a:pt x="2430" y="7922"/>
                    <a:pt x="2632" y="8136"/>
                    <a:pt x="2906" y="8136"/>
                  </a:cubicBezTo>
                  <a:lnTo>
                    <a:pt x="3228" y="8136"/>
                  </a:lnTo>
                  <a:cubicBezTo>
                    <a:pt x="3501" y="8136"/>
                    <a:pt x="3704" y="7922"/>
                    <a:pt x="3704" y="7648"/>
                  </a:cubicBezTo>
                  <a:lnTo>
                    <a:pt x="3704" y="7457"/>
                  </a:lnTo>
                  <a:cubicBezTo>
                    <a:pt x="3906" y="7398"/>
                    <a:pt x="4037" y="7219"/>
                    <a:pt x="4037" y="7005"/>
                  </a:cubicBezTo>
                  <a:lnTo>
                    <a:pt x="4037" y="6017"/>
                  </a:lnTo>
                  <a:cubicBezTo>
                    <a:pt x="4037" y="5826"/>
                    <a:pt x="4144" y="5648"/>
                    <a:pt x="4323" y="5564"/>
                  </a:cubicBezTo>
                  <a:cubicBezTo>
                    <a:pt x="4811" y="5326"/>
                    <a:pt x="5228" y="4969"/>
                    <a:pt x="5537" y="4517"/>
                  </a:cubicBezTo>
                  <a:cubicBezTo>
                    <a:pt x="5847" y="4040"/>
                    <a:pt x="6002" y="3481"/>
                    <a:pt x="6002" y="2921"/>
                  </a:cubicBezTo>
                  <a:cubicBezTo>
                    <a:pt x="6002" y="2100"/>
                    <a:pt x="5644" y="1302"/>
                    <a:pt x="5037" y="754"/>
                  </a:cubicBezTo>
                  <a:cubicBezTo>
                    <a:pt x="4485" y="254"/>
                    <a:pt x="3788" y="0"/>
                    <a:pt x="3056" y="0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39"/>
            <p:cNvSpPr/>
            <p:nvPr/>
          </p:nvSpPr>
          <p:spPr>
            <a:xfrm>
              <a:off x="7304872" y="3059413"/>
              <a:ext cx="40583" cy="9485"/>
            </a:xfrm>
            <a:custGeom>
              <a:rect b="b" l="l" r="r" t="t"/>
              <a:pathLst>
                <a:path extrusionOk="0" h="298" w="1275">
                  <a:moveTo>
                    <a:pt x="144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72" y="298"/>
                    <a:pt x="144" y="298"/>
                  </a:cubicBezTo>
                  <a:lnTo>
                    <a:pt x="1132" y="298"/>
                  </a:lnTo>
                  <a:cubicBezTo>
                    <a:pt x="1215" y="298"/>
                    <a:pt x="1275" y="215"/>
                    <a:pt x="1275" y="143"/>
                  </a:cubicBezTo>
                  <a:cubicBezTo>
                    <a:pt x="1275" y="72"/>
                    <a:pt x="1203" y="0"/>
                    <a:pt x="1132" y="0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39"/>
            <p:cNvSpPr/>
            <p:nvPr/>
          </p:nvSpPr>
          <p:spPr>
            <a:xfrm>
              <a:off x="7055134" y="3059413"/>
              <a:ext cx="41347" cy="9485"/>
            </a:xfrm>
            <a:custGeom>
              <a:rect b="b" l="l" r="r" t="t"/>
              <a:pathLst>
                <a:path extrusionOk="0" h="298" w="1299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72" y="298"/>
                    <a:pt x="155" y="298"/>
                  </a:cubicBezTo>
                  <a:lnTo>
                    <a:pt x="1132" y="298"/>
                  </a:lnTo>
                  <a:cubicBezTo>
                    <a:pt x="1215" y="298"/>
                    <a:pt x="1287" y="215"/>
                    <a:pt x="1287" y="143"/>
                  </a:cubicBezTo>
                  <a:cubicBezTo>
                    <a:pt x="1298" y="72"/>
                    <a:pt x="1227" y="0"/>
                    <a:pt x="1132" y="0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39"/>
            <p:cNvSpPr/>
            <p:nvPr/>
          </p:nvSpPr>
          <p:spPr>
            <a:xfrm>
              <a:off x="7195727" y="2919170"/>
              <a:ext cx="9517" cy="40583"/>
            </a:xfrm>
            <a:custGeom>
              <a:rect b="b" l="l" r="r" t="t"/>
              <a:pathLst>
                <a:path extrusionOk="0" h="1275" w="299">
                  <a:moveTo>
                    <a:pt x="156" y="1"/>
                  </a:moveTo>
                  <a:cubicBezTo>
                    <a:pt x="60" y="1"/>
                    <a:pt x="1" y="72"/>
                    <a:pt x="1" y="144"/>
                  </a:cubicBezTo>
                  <a:lnTo>
                    <a:pt x="1" y="1132"/>
                  </a:lnTo>
                  <a:cubicBezTo>
                    <a:pt x="1" y="1215"/>
                    <a:pt x="84" y="1275"/>
                    <a:pt x="156" y="1275"/>
                  </a:cubicBezTo>
                  <a:cubicBezTo>
                    <a:pt x="227" y="1275"/>
                    <a:pt x="299" y="1204"/>
                    <a:pt x="299" y="1132"/>
                  </a:cubicBezTo>
                  <a:lnTo>
                    <a:pt x="299" y="144"/>
                  </a:lnTo>
                  <a:cubicBezTo>
                    <a:pt x="299" y="72"/>
                    <a:pt x="227" y="1"/>
                    <a:pt x="156" y="1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39"/>
            <p:cNvSpPr/>
            <p:nvPr/>
          </p:nvSpPr>
          <p:spPr>
            <a:xfrm>
              <a:off x="7185128" y="3007116"/>
              <a:ext cx="30334" cy="92880"/>
            </a:xfrm>
            <a:custGeom>
              <a:rect b="b" l="l" r="r" t="t"/>
              <a:pathLst>
                <a:path extrusionOk="0" h="2918" w="953">
                  <a:moveTo>
                    <a:pt x="477" y="310"/>
                  </a:moveTo>
                  <a:cubicBezTo>
                    <a:pt x="512" y="310"/>
                    <a:pt x="560" y="334"/>
                    <a:pt x="596" y="357"/>
                  </a:cubicBezTo>
                  <a:cubicBezTo>
                    <a:pt x="620" y="393"/>
                    <a:pt x="632" y="429"/>
                    <a:pt x="632" y="476"/>
                  </a:cubicBezTo>
                  <a:lnTo>
                    <a:pt x="548" y="2608"/>
                  </a:lnTo>
                  <a:lnTo>
                    <a:pt x="405" y="2620"/>
                  </a:lnTo>
                  <a:cubicBezTo>
                    <a:pt x="405" y="2620"/>
                    <a:pt x="393" y="2620"/>
                    <a:pt x="393" y="2608"/>
                  </a:cubicBezTo>
                  <a:lnTo>
                    <a:pt x="310" y="476"/>
                  </a:lnTo>
                  <a:cubicBezTo>
                    <a:pt x="310" y="429"/>
                    <a:pt x="322" y="393"/>
                    <a:pt x="358" y="357"/>
                  </a:cubicBezTo>
                  <a:cubicBezTo>
                    <a:pt x="381" y="334"/>
                    <a:pt x="429" y="310"/>
                    <a:pt x="477" y="310"/>
                  </a:cubicBezTo>
                  <a:close/>
                  <a:moveTo>
                    <a:pt x="477" y="0"/>
                  </a:moveTo>
                  <a:cubicBezTo>
                    <a:pt x="334" y="0"/>
                    <a:pt x="215" y="48"/>
                    <a:pt x="131" y="155"/>
                  </a:cubicBezTo>
                  <a:cubicBezTo>
                    <a:pt x="36" y="238"/>
                    <a:pt x="0" y="357"/>
                    <a:pt x="0" y="488"/>
                  </a:cubicBezTo>
                  <a:lnTo>
                    <a:pt x="84" y="2620"/>
                  </a:lnTo>
                  <a:cubicBezTo>
                    <a:pt x="84" y="2786"/>
                    <a:pt x="239" y="2917"/>
                    <a:pt x="393" y="2917"/>
                  </a:cubicBezTo>
                  <a:lnTo>
                    <a:pt x="512" y="2917"/>
                  </a:lnTo>
                  <a:cubicBezTo>
                    <a:pt x="679" y="2917"/>
                    <a:pt x="822" y="2786"/>
                    <a:pt x="822" y="2620"/>
                  </a:cubicBezTo>
                  <a:lnTo>
                    <a:pt x="917" y="488"/>
                  </a:lnTo>
                  <a:cubicBezTo>
                    <a:pt x="953" y="369"/>
                    <a:pt x="905" y="238"/>
                    <a:pt x="810" y="155"/>
                  </a:cubicBezTo>
                  <a:cubicBezTo>
                    <a:pt x="727" y="60"/>
                    <a:pt x="608" y="0"/>
                    <a:pt x="477" y="0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39"/>
            <p:cNvSpPr/>
            <p:nvPr/>
          </p:nvSpPr>
          <p:spPr>
            <a:xfrm>
              <a:off x="7187770" y="3111328"/>
              <a:ext cx="25814" cy="25814"/>
            </a:xfrm>
            <a:custGeom>
              <a:rect b="b" l="l" r="r" t="t"/>
              <a:pathLst>
                <a:path extrusionOk="0" h="811" w="811">
                  <a:moveTo>
                    <a:pt x="406" y="310"/>
                  </a:moveTo>
                  <a:cubicBezTo>
                    <a:pt x="453" y="310"/>
                    <a:pt x="489" y="358"/>
                    <a:pt x="489" y="405"/>
                  </a:cubicBezTo>
                  <a:cubicBezTo>
                    <a:pt x="489" y="453"/>
                    <a:pt x="453" y="489"/>
                    <a:pt x="406" y="489"/>
                  </a:cubicBezTo>
                  <a:cubicBezTo>
                    <a:pt x="358" y="489"/>
                    <a:pt x="310" y="453"/>
                    <a:pt x="310" y="405"/>
                  </a:cubicBezTo>
                  <a:cubicBezTo>
                    <a:pt x="310" y="358"/>
                    <a:pt x="358" y="310"/>
                    <a:pt x="406" y="310"/>
                  </a:cubicBezTo>
                  <a:close/>
                  <a:moveTo>
                    <a:pt x="406" y="0"/>
                  </a:moveTo>
                  <a:cubicBezTo>
                    <a:pt x="179" y="0"/>
                    <a:pt x="1" y="179"/>
                    <a:pt x="1" y="405"/>
                  </a:cubicBezTo>
                  <a:cubicBezTo>
                    <a:pt x="1" y="631"/>
                    <a:pt x="179" y="810"/>
                    <a:pt x="406" y="810"/>
                  </a:cubicBezTo>
                  <a:cubicBezTo>
                    <a:pt x="632" y="810"/>
                    <a:pt x="810" y="631"/>
                    <a:pt x="810" y="405"/>
                  </a:cubicBezTo>
                  <a:cubicBezTo>
                    <a:pt x="787" y="179"/>
                    <a:pt x="608" y="0"/>
                    <a:pt x="406" y="0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39"/>
            <p:cNvSpPr/>
            <p:nvPr/>
          </p:nvSpPr>
          <p:spPr>
            <a:xfrm>
              <a:off x="7249552" y="2951477"/>
              <a:ext cx="18971" cy="23077"/>
            </a:xfrm>
            <a:custGeom>
              <a:rect b="b" l="l" r="r" t="t"/>
              <a:pathLst>
                <a:path extrusionOk="0" h="725" w="596">
                  <a:moveTo>
                    <a:pt x="417" y="0"/>
                  </a:moveTo>
                  <a:cubicBezTo>
                    <a:pt x="362" y="0"/>
                    <a:pt x="307" y="32"/>
                    <a:pt x="274" y="81"/>
                  </a:cubicBezTo>
                  <a:lnTo>
                    <a:pt x="36" y="498"/>
                  </a:lnTo>
                  <a:cubicBezTo>
                    <a:pt x="1" y="570"/>
                    <a:pt x="24" y="665"/>
                    <a:pt x="96" y="700"/>
                  </a:cubicBezTo>
                  <a:cubicBezTo>
                    <a:pt x="132" y="724"/>
                    <a:pt x="143" y="724"/>
                    <a:pt x="179" y="724"/>
                  </a:cubicBezTo>
                  <a:cubicBezTo>
                    <a:pt x="239" y="724"/>
                    <a:pt x="274" y="689"/>
                    <a:pt x="310" y="641"/>
                  </a:cubicBezTo>
                  <a:lnTo>
                    <a:pt x="548" y="224"/>
                  </a:lnTo>
                  <a:cubicBezTo>
                    <a:pt x="596" y="153"/>
                    <a:pt x="560" y="69"/>
                    <a:pt x="489" y="22"/>
                  </a:cubicBezTo>
                  <a:cubicBezTo>
                    <a:pt x="466" y="7"/>
                    <a:pt x="442" y="0"/>
                    <a:pt x="417" y="0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39"/>
            <p:cNvSpPr/>
            <p:nvPr/>
          </p:nvSpPr>
          <p:spPr>
            <a:xfrm>
              <a:off x="7132831" y="3153852"/>
              <a:ext cx="18589" cy="22695"/>
            </a:xfrm>
            <a:custGeom>
              <a:rect b="b" l="l" r="r" t="t"/>
              <a:pathLst>
                <a:path extrusionOk="0" h="713" w="584">
                  <a:moveTo>
                    <a:pt x="419" y="0"/>
                  </a:moveTo>
                  <a:cubicBezTo>
                    <a:pt x="368" y="0"/>
                    <a:pt x="319" y="32"/>
                    <a:pt x="286" y="81"/>
                  </a:cubicBezTo>
                  <a:lnTo>
                    <a:pt x="48" y="498"/>
                  </a:lnTo>
                  <a:cubicBezTo>
                    <a:pt x="0" y="569"/>
                    <a:pt x="36" y="665"/>
                    <a:pt x="108" y="700"/>
                  </a:cubicBezTo>
                  <a:cubicBezTo>
                    <a:pt x="131" y="712"/>
                    <a:pt x="155" y="712"/>
                    <a:pt x="179" y="712"/>
                  </a:cubicBezTo>
                  <a:cubicBezTo>
                    <a:pt x="239" y="712"/>
                    <a:pt x="286" y="689"/>
                    <a:pt x="310" y="641"/>
                  </a:cubicBezTo>
                  <a:lnTo>
                    <a:pt x="548" y="224"/>
                  </a:lnTo>
                  <a:cubicBezTo>
                    <a:pt x="584" y="153"/>
                    <a:pt x="572" y="69"/>
                    <a:pt x="489" y="22"/>
                  </a:cubicBezTo>
                  <a:cubicBezTo>
                    <a:pt x="466" y="7"/>
                    <a:pt x="443" y="0"/>
                    <a:pt x="419" y="0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39"/>
            <p:cNvSpPr/>
            <p:nvPr/>
          </p:nvSpPr>
          <p:spPr>
            <a:xfrm>
              <a:off x="7132449" y="2951477"/>
              <a:ext cx="18971" cy="23077"/>
            </a:xfrm>
            <a:custGeom>
              <a:rect b="b" l="l" r="r" t="t"/>
              <a:pathLst>
                <a:path extrusionOk="0" h="725" w="596">
                  <a:moveTo>
                    <a:pt x="177" y="0"/>
                  </a:moveTo>
                  <a:cubicBezTo>
                    <a:pt x="154" y="0"/>
                    <a:pt x="130" y="7"/>
                    <a:pt x="108" y="22"/>
                  </a:cubicBezTo>
                  <a:cubicBezTo>
                    <a:pt x="24" y="69"/>
                    <a:pt x="1" y="153"/>
                    <a:pt x="48" y="236"/>
                  </a:cubicBezTo>
                  <a:lnTo>
                    <a:pt x="274" y="653"/>
                  </a:lnTo>
                  <a:cubicBezTo>
                    <a:pt x="310" y="689"/>
                    <a:pt x="358" y="724"/>
                    <a:pt x="417" y="724"/>
                  </a:cubicBezTo>
                  <a:cubicBezTo>
                    <a:pt x="441" y="724"/>
                    <a:pt x="477" y="724"/>
                    <a:pt x="489" y="712"/>
                  </a:cubicBezTo>
                  <a:cubicBezTo>
                    <a:pt x="584" y="665"/>
                    <a:pt x="596" y="570"/>
                    <a:pt x="548" y="498"/>
                  </a:cubicBezTo>
                  <a:lnTo>
                    <a:pt x="310" y="81"/>
                  </a:lnTo>
                  <a:cubicBezTo>
                    <a:pt x="277" y="32"/>
                    <a:pt x="228" y="0"/>
                    <a:pt x="177" y="0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39"/>
            <p:cNvSpPr/>
            <p:nvPr/>
          </p:nvSpPr>
          <p:spPr>
            <a:xfrm>
              <a:off x="7249552" y="3153852"/>
              <a:ext cx="18971" cy="22695"/>
            </a:xfrm>
            <a:custGeom>
              <a:rect b="b" l="l" r="r" t="t"/>
              <a:pathLst>
                <a:path extrusionOk="0" h="713" w="596">
                  <a:moveTo>
                    <a:pt x="173" y="0"/>
                  </a:moveTo>
                  <a:cubicBezTo>
                    <a:pt x="148" y="0"/>
                    <a:pt x="122" y="7"/>
                    <a:pt x="96" y="22"/>
                  </a:cubicBezTo>
                  <a:cubicBezTo>
                    <a:pt x="24" y="69"/>
                    <a:pt x="1" y="153"/>
                    <a:pt x="36" y="224"/>
                  </a:cubicBezTo>
                  <a:lnTo>
                    <a:pt x="274" y="641"/>
                  </a:lnTo>
                  <a:cubicBezTo>
                    <a:pt x="310" y="689"/>
                    <a:pt x="358" y="712"/>
                    <a:pt x="417" y="712"/>
                  </a:cubicBezTo>
                  <a:cubicBezTo>
                    <a:pt x="441" y="712"/>
                    <a:pt x="477" y="712"/>
                    <a:pt x="489" y="700"/>
                  </a:cubicBezTo>
                  <a:cubicBezTo>
                    <a:pt x="560" y="665"/>
                    <a:pt x="596" y="569"/>
                    <a:pt x="548" y="498"/>
                  </a:cubicBezTo>
                  <a:lnTo>
                    <a:pt x="310" y="81"/>
                  </a:lnTo>
                  <a:cubicBezTo>
                    <a:pt x="277" y="32"/>
                    <a:pt x="228" y="0"/>
                    <a:pt x="173" y="0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39"/>
            <p:cNvSpPr/>
            <p:nvPr/>
          </p:nvSpPr>
          <p:spPr>
            <a:xfrm>
              <a:off x="7289721" y="3113969"/>
              <a:ext cx="24286" cy="17093"/>
            </a:xfrm>
            <a:custGeom>
              <a:rect b="b" l="l" r="r" t="t"/>
              <a:pathLst>
                <a:path extrusionOk="0" h="537" w="763">
                  <a:moveTo>
                    <a:pt x="172" y="0"/>
                  </a:moveTo>
                  <a:cubicBezTo>
                    <a:pt x="121" y="0"/>
                    <a:pt x="72" y="29"/>
                    <a:pt x="48" y="84"/>
                  </a:cubicBezTo>
                  <a:cubicBezTo>
                    <a:pt x="1" y="156"/>
                    <a:pt x="24" y="239"/>
                    <a:pt x="108" y="287"/>
                  </a:cubicBezTo>
                  <a:lnTo>
                    <a:pt x="524" y="525"/>
                  </a:lnTo>
                  <a:cubicBezTo>
                    <a:pt x="548" y="537"/>
                    <a:pt x="560" y="537"/>
                    <a:pt x="596" y="537"/>
                  </a:cubicBezTo>
                  <a:cubicBezTo>
                    <a:pt x="655" y="537"/>
                    <a:pt x="703" y="513"/>
                    <a:pt x="727" y="465"/>
                  </a:cubicBezTo>
                  <a:cubicBezTo>
                    <a:pt x="763" y="394"/>
                    <a:pt x="739" y="310"/>
                    <a:pt x="667" y="263"/>
                  </a:cubicBezTo>
                  <a:lnTo>
                    <a:pt x="251" y="25"/>
                  </a:lnTo>
                  <a:cubicBezTo>
                    <a:pt x="226" y="8"/>
                    <a:pt x="199" y="0"/>
                    <a:pt x="172" y="0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39"/>
            <p:cNvSpPr/>
            <p:nvPr/>
          </p:nvSpPr>
          <p:spPr>
            <a:xfrm>
              <a:off x="7086964" y="2996931"/>
              <a:ext cx="24668" cy="17411"/>
            </a:xfrm>
            <a:custGeom>
              <a:rect b="b" l="l" r="r" t="t"/>
              <a:pathLst>
                <a:path extrusionOk="0" h="547" w="775">
                  <a:moveTo>
                    <a:pt x="179" y="1"/>
                  </a:moveTo>
                  <a:cubicBezTo>
                    <a:pt x="125" y="1"/>
                    <a:pt x="73" y="33"/>
                    <a:pt x="48" y="82"/>
                  </a:cubicBezTo>
                  <a:cubicBezTo>
                    <a:pt x="1" y="154"/>
                    <a:pt x="25" y="249"/>
                    <a:pt x="108" y="285"/>
                  </a:cubicBezTo>
                  <a:lnTo>
                    <a:pt x="525" y="535"/>
                  </a:lnTo>
                  <a:cubicBezTo>
                    <a:pt x="548" y="546"/>
                    <a:pt x="560" y="546"/>
                    <a:pt x="596" y="546"/>
                  </a:cubicBezTo>
                  <a:cubicBezTo>
                    <a:pt x="656" y="546"/>
                    <a:pt x="703" y="511"/>
                    <a:pt x="727" y="475"/>
                  </a:cubicBezTo>
                  <a:cubicBezTo>
                    <a:pt x="775" y="415"/>
                    <a:pt x="739" y="308"/>
                    <a:pt x="668" y="261"/>
                  </a:cubicBezTo>
                  <a:lnTo>
                    <a:pt x="251" y="23"/>
                  </a:lnTo>
                  <a:cubicBezTo>
                    <a:pt x="228" y="8"/>
                    <a:pt x="204" y="1"/>
                    <a:pt x="179" y="1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39"/>
            <p:cNvSpPr/>
            <p:nvPr/>
          </p:nvSpPr>
          <p:spPr>
            <a:xfrm>
              <a:off x="7289339" y="2996931"/>
              <a:ext cx="24668" cy="17411"/>
            </a:xfrm>
            <a:custGeom>
              <a:rect b="b" l="l" r="r" t="t"/>
              <a:pathLst>
                <a:path extrusionOk="0" h="547" w="775">
                  <a:moveTo>
                    <a:pt x="590" y="1"/>
                  </a:moveTo>
                  <a:cubicBezTo>
                    <a:pt x="565" y="1"/>
                    <a:pt x="539" y="8"/>
                    <a:pt x="513" y="23"/>
                  </a:cubicBezTo>
                  <a:lnTo>
                    <a:pt x="96" y="261"/>
                  </a:lnTo>
                  <a:cubicBezTo>
                    <a:pt x="25" y="308"/>
                    <a:pt x="1" y="392"/>
                    <a:pt x="36" y="475"/>
                  </a:cubicBezTo>
                  <a:cubicBezTo>
                    <a:pt x="72" y="511"/>
                    <a:pt x="108" y="546"/>
                    <a:pt x="179" y="546"/>
                  </a:cubicBezTo>
                  <a:cubicBezTo>
                    <a:pt x="203" y="546"/>
                    <a:pt x="239" y="546"/>
                    <a:pt x="251" y="535"/>
                  </a:cubicBezTo>
                  <a:lnTo>
                    <a:pt x="667" y="285"/>
                  </a:lnTo>
                  <a:cubicBezTo>
                    <a:pt x="751" y="249"/>
                    <a:pt x="775" y="154"/>
                    <a:pt x="727" y="82"/>
                  </a:cubicBezTo>
                  <a:cubicBezTo>
                    <a:pt x="694" y="33"/>
                    <a:pt x="645" y="1"/>
                    <a:pt x="590" y="1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39"/>
            <p:cNvSpPr/>
            <p:nvPr/>
          </p:nvSpPr>
          <p:spPr>
            <a:xfrm>
              <a:off x="7086964" y="3113587"/>
              <a:ext cx="24668" cy="17093"/>
            </a:xfrm>
            <a:custGeom>
              <a:rect b="b" l="l" r="r" t="t"/>
              <a:pathLst>
                <a:path extrusionOk="0" h="537" w="775">
                  <a:moveTo>
                    <a:pt x="597" y="0"/>
                  </a:moveTo>
                  <a:cubicBezTo>
                    <a:pt x="570" y="0"/>
                    <a:pt x="541" y="8"/>
                    <a:pt x="513" y="25"/>
                  </a:cubicBezTo>
                  <a:lnTo>
                    <a:pt x="108" y="263"/>
                  </a:lnTo>
                  <a:cubicBezTo>
                    <a:pt x="25" y="299"/>
                    <a:pt x="1" y="394"/>
                    <a:pt x="36" y="465"/>
                  </a:cubicBezTo>
                  <a:cubicBezTo>
                    <a:pt x="72" y="513"/>
                    <a:pt x="120" y="537"/>
                    <a:pt x="179" y="537"/>
                  </a:cubicBezTo>
                  <a:cubicBezTo>
                    <a:pt x="203" y="537"/>
                    <a:pt x="239" y="537"/>
                    <a:pt x="251" y="525"/>
                  </a:cubicBezTo>
                  <a:lnTo>
                    <a:pt x="668" y="287"/>
                  </a:lnTo>
                  <a:cubicBezTo>
                    <a:pt x="739" y="263"/>
                    <a:pt x="775" y="156"/>
                    <a:pt x="727" y="84"/>
                  </a:cubicBezTo>
                  <a:cubicBezTo>
                    <a:pt x="696" y="29"/>
                    <a:pt x="649" y="0"/>
                    <a:pt x="597" y="0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2" name="Google Shape;262;p39"/>
          <p:cNvSpPr txBox="1"/>
          <p:nvPr/>
        </p:nvSpPr>
        <p:spPr>
          <a:xfrm>
            <a:off x="2145625" y="1989950"/>
            <a:ext cx="6648300" cy="2873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63" name="Google Shape;263;p39"/>
          <p:cNvSpPr txBox="1"/>
          <p:nvPr/>
        </p:nvSpPr>
        <p:spPr>
          <a:xfrm>
            <a:off x="3185477" y="1551350"/>
            <a:ext cx="2561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Overpass SemiBold"/>
                <a:ea typeface="Overpass SemiBold"/>
                <a:cs typeface="Overpass SemiBold"/>
                <a:sym typeface="Overpass SemiBold"/>
              </a:rPr>
              <a:t>Ejemplo </a:t>
            </a:r>
            <a:r>
              <a:rPr lang="es" sz="1100">
                <a:latin typeface="Overpass SemiBold"/>
                <a:ea typeface="Overpass SemiBold"/>
                <a:cs typeface="Overpass SemiBold"/>
                <a:sym typeface="Overpass SemiBold"/>
              </a:rPr>
              <a:t>Observación </a:t>
            </a:r>
            <a:r>
              <a:rPr lang="es" sz="1100">
                <a:solidFill>
                  <a:srgbClr val="FFAC00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EEM</a:t>
            </a:r>
            <a:endParaRPr sz="1100">
              <a:solidFill>
                <a:srgbClr val="FFAC00"/>
              </a:solidFill>
              <a:latin typeface="Overpass SemiBold"/>
              <a:ea typeface="Overpass SemiBold"/>
              <a:cs typeface="Overpass SemiBold"/>
              <a:sym typeface="Overpass SemiBold"/>
            </a:endParaRPr>
          </a:p>
        </p:txBody>
      </p:sp>
      <p:sp>
        <p:nvSpPr>
          <p:cNvPr id="264" name="Google Shape;264;p39"/>
          <p:cNvSpPr txBox="1"/>
          <p:nvPr/>
        </p:nvSpPr>
        <p:spPr>
          <a:xfrm>
            <a:off x="2641700" y="2009900"/>
            <a:ext cx="6008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FFAC00"/>
                </a:solidFill>
                <a:latin typeface="Overpass"/>
                <a:ea typeface="Overpass"/>
                <a:cs typeface="Overpass"/>
                <a:sym typeface="Overpass"/>
              </a:rPr>
              <a:t>Operación</a:t>
            </a:r>
            <a:r>
              <a:rPr b="1" lang="es" sz="1100">
                <a:solidFill>
                  <a:srgbClr val="FFAC00"/>
                </a:solidFill>
                <a:latin typeface="Overpass"/>
                <a:ea typeface="Overpass"/>
                <a:cs typeface="Overpass"/>
                <a:sym typeface="Overpass"/>
              </a:rPr>
              <a:t> hipotecaria renegociada con más de 60 días de mora no deteriorada</a:t>
            </a:r>
            <a:endParaRPr sz="1100">
              <a:solidFill>
                <a:schemeClr val="dk1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265" name="Google Shape;265;p39"/>
          <p:cNvSpPr/>
          <p:nvPr/>
        </p:nvSpPr>
        <p:spPr>
          <a:xfrm rot="5400000">
            <a:off x="-533550" y="1768925"/>
            <a:ext cx="3628500" cy="25611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FAC00"/>
          </a:solidFill>
          <a:ln cap="flat" cmpd="sng" w="9525">
            <a:solidFill>
              <a:srgbClr val="FFA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66" name="Google Shape;266;p39"/>
          <p:cNvSpPr txBox="1"/>
          <p:nvPr>
            <p:ph type="title"/>
          </p:nvPr>
        </p:nvSpPr>
        <p:spPr>
          <a:xfrm>
            <a:off x="129750" y="516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verpass SemiBold"/>
                <a:ea typeface="Overpass SemiBold"/>
                <a:cs typeface="Overpass SemiBold"/>
                <a:sym typeface="Overpass SemiBold"/>
              </a:rPr>
              <a:t>Reglas de Entrada Cartera Deteriorada</a:t>
            </a:r>
            <a:endParaRPr>
              <a:latin typeface="Overpass SemiBold"/>
              <a:ea typeface="Overpass SemiBold"/>
              <a:cs typeface="Overpass SemiBold"/>
              <a:sym typeface="Overpass SemiBold"/>
            </a:endParaRPr>
          </a:p>
        </p:txBody>
      </p:sp>
      <p:pic>
        <p:nvPicPr>
          <p:cNvPr descr="Google Shape;197;p29" id="267" name="Google Shape;26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269" y="200090"/>
            <a:ext cx="908157" cy="169824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39"/>
          <p:cNvSpPr txBox="1"/>
          <p:nvPr/>
        </p:nvSpPr>
        <p:spPr>
          <a:xfrm>
            <a:off x="179275" y="1466750"/>
            <a:ext cx="2382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Reglamento de Modelos de Provisiones por Riesgo de Crédito</a:t>
            </a:r>
            <a:endParaRPr sz="1100">
              <a:solidFill>
                <a:schemeClr val="lt1"/>
              </a:solidFill>
              <a:latin typeface="Overpass SemiBold"/>
              <a:ea typeface="Overpass SemiBold"/>
              <a:cs typeface="Overpass SemiBold"/>
              <a:sym typeface="Overpass SemiBold"/>
            </a:endParaRPr>
          </a:p>
        </p:txBody>
      </p:sp>
      <p:pic>
        <p:nvPicPr>
          <p:cNvPr descr="Imagen" id="269" name="Google Shape;269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85381" y="170344"/>
            <a:ext cx="508539" cy="229336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9"/>
          <p:cNvSpPr/>
          <p:nvPr/>
        </p:nvSpPr>
        <p:spPr>
          <a:xfrm>
            <a:off x="129750" y="1980425"/>
            <a:ext cx="2392800" cy="24354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126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Nuevas Operaciones de Crédito marcadas como Renegociadas, generadas a partir de curses con  mora mayor o igual a 60 días.  Se excluyen operaciones en las cuales la reestructuración proviene de la oportunidad de aprovechar condiciones más ventajosas de mercado (aplica para operaciones Renegociadas desde el 01.01.2009).</a:t>
            </a:r>
            <a:endParaRPr sz="11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271" name="Google Shape;271;p39"/>
          <p:cNvSpPr txBox="1"/>
          <p:nvPr/>
        </p:nvSpPr>
        <p:spPr>
          <a:xfrm>
            <a:off x="179275" y="1905350"/>
            <a:ext cx="359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2.</a:t>
            </a:r>
            <a:endParaRPr sz="1500">
              <a:solidFill>
                <a:schemeClr val="lt1"/>
              </a:solidFill>
              <a:latin typeface="Overpass SemiBold"/>
              <a:ea typeface="Overpass SemiBold"/>
              <a:cs typeface="Overpass SemiBold"/>
              <a:sym typeface="Overpass SemiBold"/>
            </a:endParaRPr>
          </a:p>
        </p:txBody>
      </p:sp>
      <p:graphicFrame>
        <p:nvGraphicFramePr>
          <p:cNvPr id="272" name="Google Shape;272;p39"/>
          <p:cNvGraphicFramePr/>
          <p:nvPr/>
        </p:nvGraphicFramePr>
        <p:xfrm>
          <a:off x="2726688" y="23677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{496AB027-4005-48ED-9279-8D13C1627251}</a:tableStyleId>
              </a:tblPr>
              <a:tblGrid>
                <a:gridCol w="911325"/>
                <a:gridCol w="851600"/>
                <a:gridCol w="927975"/>
                <a:gridCol w="792375"/>
                <a:gridCol w="882425"/>
                <a:gridCol w="747900"/>
                <a:gridCol w="810075"/>
              </a:tblGrid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lt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Cliente_Rut</a:t>
                      </a:r>
                      <a:endParaRPr b="1" sz="1000">
                        <a:solidFill>
                          <a:schemeClr val="lt1"/>
                        </a:solidFill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AC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lt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Periodo_Id</a:t>
                      </a:r>
                      <a:endParaRPr b="1" sz="1000">
                        <a:solidFill>
                          <a:schemeClr val="lt1"/>
                        </a:solidFill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AC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lt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Contrato_Id</a:t>
                      </a:r>
                      <a:endParaRPr b="1" sz="1000">
                        <a:solidFill>
                          <a:schemeClr val="lt1"/>
                        </a:solidFill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AC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lt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cod_tope</a:t>
                      </a:r>
                      <a:endParaRPr b="1" sz="1000">
                        <a:solidFill>
                          <a:schemeClr val="lt1"/>
                        </a:solidFill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AC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lt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num_dmor</a:t>
                      </a:r>
                      <a:endParaRPr b="1" sz="1000">
                        <a:solidFill>
                          <a:schemeClr val="lt1"/>
                        </a:solidFill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AC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lt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cod_oren</a:t>
                      </a:r>
                      <a:endParaRPr b="1" sz="1000">
                        <a:solidFill>
                          <a:schemeClr val="lt1"/>
                        </a:solidFill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AC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lt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ind_cdet</a:t>
                      </a:r>
                      <a:endParaRPr b="1" sz="1000">
                        <a:solidFill>
                          <a:schemeClr val="lt1"/>
                        </a:solidFill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AC00"/>
                    </a:solidFill>
                  </a:tcPr>
                </a:tc>
              </a:tr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183622862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19050" marB="19050" marR="28575" marL="2857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01-07-2025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F90003463116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HIP300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81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</a:tr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183622862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19050" marB="19050" marR="28575" marL="2857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01-08-2025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F90003463116</a:t>
                      </a:r>
                      <a:endParaRPr sz="1000">
                        <a:solidFill>
                          <a:schemeClr val="dk1"/>
                        </a:solidFill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HIP300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0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273" name="Google Shape;273;p39"/>
          <p:cNvSpPr txBox="1"/>
          <p:nvPr/>
        </p:nvSpPr>
        <p:spPr>
          <a:xfrm>
            <a:off x="2689425" y="3419175"/>
            <a:ext cx="60624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Actualmente, para que un crédito hipotecario esté deteriorado tiene que cumplir algunas de las 4 condiciones:</a:t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Overpass"/>
              <a:buAutoNum type="arabicPeriod"/>
            </a:pP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Fecha en cartera vencida</a:t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Overpass"/>
              <a:buAutoNum type="arabicPeriod"/>
            </a:pP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Saldo en cartera vencida</a:t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Overpass"/>
              <a:buAutoNum type="arabicPeriod"/>
            </a:pP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Mora igual o mayor a 90</a:t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Overpass"/>
              <a:buAutoNum type="arabicPeriod"/>
            </a:pP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Cuenta contable que comience con 14%</a:t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0"/>
          <p:cNvSpPr txBox="1"/>
          <p:nvPr/>
        </p:nvSpPr>
        <p:spPr>
          <a:xfrm>
            <a:off x="5846250" y="1989950"/>
            <a:ext cx="3297600" cy="269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279" name="Google Shape;279;p40"/>
          <p:cNvGrpSpPr/>
          <p:nvPr/>
        </p:nvGrpSpPr>
        <p:grpSpPr>
          <a:xfrm>
            <a:off x="6402547" y="1487127"/>
            <a:ext cx="483564" cy="482452"/>
            <a:chOff x="1745217" y="1515471"/>
            <a:chExt cx="343269" cy="342505"/>
          </a:xfrm>
        </p:grpSpPr>
        <p:sp>
          <p:nvSpPr>
            <p:cNvPr id="280" name="Google Shape;280;p40"/>
            <p:cNvSpPr/>
            <p:nvPr/>
          </p:nvSpPr>
          <p:spPr>
            <a:xfrm>
              <a:off x="1854448" y="1647096"/>
              <a:ext cx="22012" cy="21630"/>
            </a:xfrm>
            <a:custGeom>
              <a:rect b="b" l="l" r="r" t="t"/>
              <a:pathLst>
                <a:path extrusionOk="0" h="679" w="691">
                  <a:moveTo>
                    <a:pt x="346" y="0"/>
                  </a:moveTo>
                  <a:cubicBezTo>
                    <a:pt x="155" y="0"/>
                    <a:pt x="0" y="155"/>
                    <a:pt x="0" y="345"/>
                  </a:cubicBezTo>
                  <a:cubicBezTo>
                    <a:pt x="0" y="536"/>
                    <a:pt x="155" y="679"/>
                    <a:pt x="346" y="679"/>
                  </a:cubicBezTo>
                  <a:cubicBezTo>
                    <a:pt x="536" y="679"/>
                    <a:pt x="691" y="536"/>
                    <a:pt x="691" y="345"/>
                  </a:cubicBezTo>
                  <a:cubicBezTo>
                    <a:pt x="691" y="155"/>
                    <a:pt x="536" y="0"/>
                    <a:pt x="346" y="0"/>
                  </a:cubicBezTo>
                  <a:close/>
                </a:path>
              </a:pathLst>
            </a:custGeom>
            <a:solidFill>
              <a:srgbClr val="00AE01"/>
            </a:solidFill>
            <a:ln>
              <a:noFill/>
            </a:ln>
          </p:spPr>
          <p:txBody>
            <a:bodyPr anchorCtr="0" anchor="ctr" bIns="41750" lIns="41750" spcFirstLastPara="1" rIns="41750" wrap="square" tIns="41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39"/>
                <a:buFont typeface="Arial"/>
                <a:buNone/>
              </a:pPr>
              <a:r>
                <a:t/>
              </a:r>
              <a:endParaRPr b="0" i="0" sz="63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40"/>
            <p:cNvSpPr/>
            <p:nvPr/>
          </p:nvSpPr>
          <p:spPr>
            <a:xfrm>
              <a:off x="1906021" y="1647096"/>
              <a:ext cx="21661" cy="21630"/>
            </a:xfrm>
            <a:custGeom>
              <a:rect b="b" l="l" r="r" t="t"/>
              <a:pathLst>
                <a:path extrusionOk="0" h="679" w="680">
                  <a:moveTo>
                    <a:pt x="334" y="0"/>
                  </a:moveTo>
                  <a:cubicBezTo>
                    <a:pt x="143" y="0"/>
                    <a:pt x="0" y="155"/>
                    <a:pt x="0" y="345"/>
                  </a:cubicBezTo>
                  <a:cubicBezTo>
                    <a:pt x="0" y="536"/>
                    <a:pt x="143" y="679"/>
                    <a:pt x="334" y="679"/>
                  </a:cubicBezTo>
                  <a:cubicBezTo>
                    <a:pt x="524" y="679"/>
                    <a:pt x="679" y="536"/>
                    <a:pt x="679" y="345"/>
                  </a:cubicBezTo>
                  <a:cubicBezTo>
                    <a:pt x="679" y="155"/>
                    <a:pt x="524" y="0"/>
                    <a:pt x="334" y="0"/>
                  </a:cubicBezTo>
                  <a:close/>
                </a:path>
              </a:pathLst>
            </a:custGeom>
            <a:solidFill>
              <a:srgbClr val="00AE01"/>
            </a:solidFill>
            <a:ln>
              <a:noFill/>
            </a:ln>
          </p:spPr>
          <p:txBody>
            <a:bodyPr anchorCtr="0" anchor="ctr" bIns="41750" lIns="41750" spcFirstLastPara="1" rIns="41750" wrap="square" tIns="41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39"/>
                <a:buFont typeface="Arial"/>
                <a:buNone/>
              </a:pPr>
              <a:r>
                <a:t/>
              </a:r>
              <a:endParaRPr b="0" i="0" sz="63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40"/>
            <p:cNvSpPr/>
            <p:nvPr/>
          </p:nvSpPr>
          <p:spPr>
            <a:xfrm>
              <a:off x="1956830" y="1647096"/>
              <a:ext cx="22044" cy="21630"/>
            </a:xfrm>
            <a:custGeom>
              <a:rect b="b" l="l" r="r" t="t"/>
              <a:pathLst>
                <a:path extrusionOk="0" h="679" w="692">
                  <a:moveTo>
                    <a:pt x="346" y="0"/>
                  </a:moveTo>
                  <a:cubicBezTo>
                    <a:pt x="156" y="0"/>
                    <a:pt x="1" y="155"/>
                    <a:pt x="1" y="345"/>
                  </a:cubicBezTo>
                  <a:cubicBezTo>
                    <a:pt x="1" y="536"/>
                    <a:pt x="156" y="679"/>
                    <a:pt x="346" y="679"/>
                  </a:cubicBezTo>
                  <a:cubicBezTo>
                    <a:pt x="537" y="679"/>
                    <a:pt x="691" y="536"/>
                    <a:pt x="691" y="345"/>
                  </a:cubicBezTo>
                  <a:cubicBezTo>
                    <a:pt x="691" y="155"/>
                    <a:pt x="537" y="0"/>
                    <a:pt x="346" y="0"/>
                  </a:cubicBezTo>
                  <a:close/>
                </a:path>
              </a:pathLst>
            </a:custGeom>
            <a:solidFill>
              <a:srgbClr val="00AE01"/>
            </a:solidFill>
            <a:ln>
              <a:noFill/>
            </a:ln>
          </p:spPr>
          <p:txBody>
            <a:bodyPr anchorCtr="0" anchor="ctr" bIns="41750" lIns="41750" spcFirstLastPara="1" rIns="41750" wrap="square" tIns="41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39"/>
                <a:buFont typeface="Arial"/>
                <a:buNone/>
              </a:pPr>
              <a:r>
                <a:t/>
              </a:r>
              <a:endParaRPr b="0" i="0" sz="63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40"/>
            <p:cNvSpPr/>
            <p:nvPr/>
          </p:nvSpPr>
          <p:spPr>
            <a:xfrm>
              <a:off x="1745217" y="1515471"/>
              <a:ext cx="343269" cy="342505"/>
            </a:xfrm>
            <a:custGeom>
              <a:rect b="b" l="l" r="r" t="t"/>
              <a:pathLst>
                <a:path extrusionOk="0" h="10752" w="10776">
                  <a:moveTo>
                    <a:pt x="5382" y="1"/>
                  </a:moveTo>
                  <a:cubicBezTo>
                    <a:pt x="3953" y="1"/>
                    <a:pt x="2608" y="453"/>
                    <a:pt x="1596" y="1286"/>
                  </a:cubicBezTo>
                  <a:cubicBezTo>
                    <a:pt x="560" y="2144"/>
                    <a:pt x="0" y="3251"/>
                    <a:pt x="0" y="4465"/>
                  </a:cubicBezTo>
                  <a:cubicBezTo>
                    <a:pt x="0" y="5513"/>
                    <a:pt x="465" y="6561"/>
                    <a:pt x="1274" y="7359"/>
                  </a:cubicBezTo>
                  <a:cubicBezTo>
                    <a:pt x="2072" y="8121"/>
                    <a:pt x="3120" y="8645"/>
                    <a:pt x="4298" y="8835"/>
                  </a:cubicBezTo>
                  <a:cubicBezTo>
                    <a:pt x="4310" y="9442"/>
                    <a:pt x="4108" y="10014"/>
                    <a:pt x="3703" y="10478"/>
                  </a:cubicBezTo>
                  <a:cubicBezTo>
                    <a:pt x="3655" y="10514"/>
                    <a:pt x="3644" y="10597"/>
                    <a:pt x="3679" y="10657"/>
                  </a:cubicBezTo>
                  <a:cubicBezTo>
                    <a:pt x="3703" y="10704"/>
                    <a:pt x="3763" y="10752"/>
                    <a:pt x="3834" y="10752"/>
                  </a:cubicBezTo>
                  <a:cubicBezTo>
                    <a:pt x="5025" y="10752"/>
                    <a:pt x="6084" y="9966"/>
                    <a:pt x="6442" y="8835"/>
                  </a:cubicBezTo>
                  <a:cubicBezTo>
                    <a:pt x="7406" y="8668"/>
                    <a:pt x="8287" y="8299"/>
                    <a:pt x="9013" y="7752"/>
                  </a:cubicBezTo>
                  <a:cubicBezTo>
                    <a:pt x="9097" y="7692"/>
                    <a:pt x="9109" y="7585"/>
                    <a:pt x="9049" y="7513"/>
                  </a:cubicBezTo>
                  <a:cubicBezTo>
                    <a:pt x="9014" y="7465"/>
                    <a:pt x="8963" y="7441"/>
                    <a:pt x="8913" y="7441"/>
                  </a:cubicBezTo>
                  <a:cubicBezTo>
                    <a:pt x="8877" y="7441"/>
                    <a:pt x="8841" y="7453"/>
                    <a:pt x="8811" y="7478"/>
                  </a:cubicBezTo>
                  <a:cubicBezTo>
                    <a:pt x="8096" y="8014"/>
                    <a:pt x="7215" y="8371"/>
                    <a:pt x="6275" y="8502"/>
                  </a:cubicBezTo>
                  <a:cubicBezTo>
                    <a:pt x="6203" y="8525"/>
                    <a:pt x="6156" y="8561"/>
                    <a:pt x="6132" y="8621"/>
                  </a:cubicBezTo>
                  <a:cubicBezTo>
                    <a:pt x="5894" y="9549"/>
                    <a:pt x="5120" y="10216"/>
                    <a:pt x="4215" y="10371"/>
                  </a:cubicBezTo>
                  <a:cubicBezTo>
                    <a:pt x="4537" y="9859"/>
                    <a:pt x="4703" y="9264"/>
                    <a:pt x="4644" y="8656"/>
                  </a:cubicBezTo>
                  <a:cubicBezTo>
                    <a:pt x="4644" y="8585"/>
                    <a:pt x="4572" y="8502"/>
                    <a:pt x="4489" y="8490"/>
                  </a:cubicBezTo>
                  <a:cubicBezTo>
                    <a:pt x="2084" y="8144"/>
                    <a:pt x="346" y="6442"/>
                    <a:pt x="346" y="4430"/>
                  </a:cubicBezTo>
                  <a:cubicBezTo>
                    <a:pt x="346" y="2156"/>
                    <a:pt x="2608" y="310"/>
                    <a:pt x="5382" y="310"/>
                  </a:cubicBezTo>
                  <a:cubicBezTo>
                    <a:pt x="8168" y="310"/>
                    <a:pt x="10430" y="2156"/>
                    <a:pt x="10430" y="4430"/>
                  </a:cubicBezTo>
                  <a:cubicBezTo>
                    <a:pt x="10430" y="5370"/>
                    <a:pt x="10025" y="6287"/>
                    <a:pt x="9311" y="7013"/>
                  </a:cubicBezTo>
                  <a:cubicBezTo>
                    <a:pt x="9251" y="7097"/>
                    <a:pt x="9251" y="7192"/>
                    <a:pt x="9311" y="7252"/>
                  </a:cubicBezTo>
                  <a:cubicBezTo>
                    <a:pt x="9353" y="7281"/>
                    <a:pt x="9397" y="7296"/>
                    <a:pt x="9439" y="7296"/>
                  </a:cubicBezTo>
                  <a:cubicBezTo>
                    <a:pt x="9481" y="7296"/>
                    <a:pt x="9519" y="7281"/>
                    <a:pt x="9549" y="7252"/>
                  </a:cubicBezTo>
                  <a:cubicBezTo>
                    <a:pt x="10347" y="6466"/>
                    <a:pt x="10775" y="5454"/>
                    <a:pt x="10775" y="4430"/>
                  </a:cubicBezTo>
                  <a:cubicBezTo>
                    <a:pt x="10775" y="3263"/>
                    <a:pt x="10204" y="2144"/>
                    <a:pt x="9180" y="1286"/>
                  </a:cubicBezTo>
                  <a:cubicBezTo>
                    <a:pt x="8168" y="453"/>
                    <a:pt x="6811" y="1"/>
                    <a:pt x="5382" y="1"/>
                  </a:cubicBezTo>
                  <a:close/>
                </a:path>
              </a:pathLst>
            </a:custGeom>
            <a:solidFill>
              <a:srgbClr val="00AE01"/>
            </a:solidFill>
            <a:ln>
              <a:noFill/>
            </a:ln>
          </p:spPr>
          <p:txBody>
            <a:bodyPr anchorCtr="0" anchor="ctr" bIns="41750" lIns="41750" spcFirstLastPara="1" rIns="41750" wrap="square" tIns="41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39"/>
                <a:buFont typeface="Arial"/>
                <a:buNone/>
              </a:pPr>
              <a:r>
                <a:t/>
              </a:r>
              <a:endParaRPr b="0" i="0" sz="63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4" name="Google Shape;284;p40"/>
          <p:cNvSpPr txBox="1"/>
          <p:nvPr/>
        </p:nvSpPr>
        <p:spPr>
          <a:xfrm>
            <a:off x="6886100" y="1551350"/>
            <a:ext cx="1563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Overpass SemiBold"/>
                <a:ea typeface="Overpass SemiBold"/>
                <a:cs typeface="Overpass SemiBold"/>
                <a:sym typeface="Overpass SemiBold"/>
              </a:rPr>
              <a:t>Observaciones </a:t>
            </a:r>
            <a:r>
              <a:rPr lang="es" sz="1100">
                <a:solidFill>
                  <a:srgbClr val="00AE01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EEM</a:t>
            </a:r>
            <a:endParaRPr sz="1100">
              <a:solidFill>
                <a:srgbClr val="00AE01"/>
              </a:solidFill>
              <a:latin typeface="Overpass SemiBold"/>
              <a:ea typeface="Overpass SemiBold"/>
              <a:cs typeface="Overpass SemiBold"/>
              <a:sym typeface="Overpass SemiBold"/>
            </a:endParaRPr>
          </a:p>
        </p:txBody>
      </p:sp>
      <p:sp>
        <p:nvSpPr>
          <p:cNvPr id="285" name="Google Shape;285;p40"/>
          <p:cNvSpPr/>
          <p:nvPr/>
        </p:nvSpPr>
        <p:spPr>
          <a:xfrm>
            <a:off x="2043400" y="1980425"/>
            <a:ext cx="4250700" cy="2699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Overpass"/>
                <a:ea typeface="Overpass"/>
                <a:cs typeface="Overpass"/>
                <a:sym typeface="Overpass"/>
              </a:rPr>
              <a:t>Origen Deterioro 2</a:t>
            </a: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: Deterioro propio por ley de Insolvencia y Reemprendimiento LIR.</a:t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Overpass"/>
                <a:ea typeface="Overpass"/>
                <a:cs typeface="Overpass"/>
                <a:sym typeface="Overpass"/>
              </a:rPr>
              <a:t>Criterio 11</a:t>
            </a: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: Cliente acogido a Ley de Insolvencia y Reemprendimiento.</a:t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Overpass"/>
                <a:ea typeface="Overpass"/>
                <a:cs typeface="Overpass"/>
                <a:sym typeface="Overpass"/>
              </a:rPr>
              <a:t>Descripción</a:t>
            </a: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: Si el cliente se acoge a LIR, </a:t>
            </a: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toda su operación entra a cartera deteriorada, independiente si cumplen o no otros criterios de entrada.</a:t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286" name="Google Shape;286;p40"/>
          <p:cNvSpPr/>
          <p:nvPr/>
        </p:nvSpPr>
        <p:spPr>
          <a:xfrm rot="5400000">
            <a:off x="-533550" y="1768925"/>
            <a:ext cx="3628500" cy="25611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00AE01"/>
          </a:solidFill>
          <a:ln cap="flat" cmpd="sng" w="9525">
            <a:solidFill>
              <a:srgbClr val="00AE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87" name="Google Shape;287;p40"/>
          <p:cNvSpPr txBox="1"/>
          <p:nvPr>
            <p:ph type="title"/>
          </p:nvPr>
        </p:nvSpPr>
        <p:spPr>
          <a:xfrm>
            <a:off x="129750" y="516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verpass SemiBold"/>
                <a:ea typeface="Overpass SemiBold"/>
                <a:cs typeface="Overpass SemiBold"/>
                <a:sym typeface="Overpass SemiBold"/>
              </a:rPr>
              <a:t>Reglas de Entrada Cartera Deteriorada</a:t>
            </a:r>
            <a:endParaRPr>
              <a:latin typeface="Overpass SemiBold"/>
              <a:ea typeface="Overpass SemiBold"/>
              <a:cs typeface="Overpass SemiBold"/>
              <a:sym typeface="Overpass SemiBold"/>
            </a:endParaRPr>
          </a:p>
        </p:txBody>
      </p:sp>
      <p:pic>
        <p:nvPicPr>
          <p:cNvPr descr="Google Shape;197;p29" id="288" name="Google Shape;28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269" y="200090"/>
            <a:ext cx="908157" cy="169824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40"/>
          <p:cNvSpPr txBox="1"/>
          <p:nvPr/>
        </p:nvSpPr>
        <p:spPr>
          <a:xfrm>
            <a:off x="2632775" y="1551350"/>
            <a:ext cx="2304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Overpass SemiBold"/>
                <a:ea typeface="Overpass SemiBold"/>
                <a:cs typeface="Overpass SemiBold"/>
                <a:sym typeface="Overpass SemiBold"/>
              </a:rPr>
              <a:t>Documento de </a:t>
            </a:r>
            <a:r>
              <a:rPr lang="es" sz="1100">
                <a:solidFill>
                  <a:srgbClr val="00AE01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Diseño TI</a:t>
            </a:r>
            <a:endParaRPr sz="1100">
              <a:solidFill>
                <a:srgbClr val="00AE01"/>
              </a:solidFill>
              <a:latin typeface="Overpass SemiBold"/>
              <a:ea typeface="Overpass SemiBold"/>
              <a:cs typeface="Overpass SemiBold"/>
              <a:sym typeface="Overpass SemiBold"/>
            </a:endParaRPr>
          </a:p>
        </p:txBody>
      </p:sp>
      <p:sp>
        <p:nvSpPr>
          <p:cNvPr id="290" name="Google Shape;290;p40"/>
          <p:cNvSpPr txBox="1"/>
          <p:nvPr/>
        </p:nvSpPr>
        <p:spPr>
          <a:xfrm>
            <a:off x="179275" y="1466750"/>
            <a:ext cx="2382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Reglamento de Modelos de Provisiones por Riesgo de Crédito</a:t>
            </a:r>
            <a:endParaRPr sz="1100">
              <a:solidFill>
                <a:schemeClr val="lt1"/>
              </a:solidFill>
              <a:latin typeface="Overpass SemiBold"/>
              <a:ea typeface="Overpass SemiBold"/>
              <a:cs typeface="Overpass SemiBold"/>
              <a:sym typeface="Overpass SemiBold"/>
            </a:endParaRPr>
          </a:p>
        </p:txBody>
      </p:sp>
      <p:pic>
        <p:nvPicPr>
          <p:cNvPr descr="Imagen" id="291" name="Google Shape;291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85381" y="170344"/>
            <a:ext cx="508539" cy="229336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40"/>
          <p:cNvSpPr/>
          <p:nvPr/>
        </p:nvSpPr>
        <p:spPr>
          <a:xfrm>
            <a:off x="129750" y="1980425"/>
            <a:ext cx="2392800" cy="24354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126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Clientes acogidos a la</a:t>
            </a:r>
            <a:endParaRPr sz="11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ley de insolvencia y Reemprendimiento (LIR).</a:t>
            </a:r>
            <a:endParaRPr sz="11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293" name="Google Shape;293;p40"/>
          <p:cNvSpPr txBox="1"/>
          <p:nvPr/>
        </p:nvSpPr>
        <p:spPr>
          <a:xfrm>
            <a:off x="179275" y="1905350"/>
            <a:ext cx="359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3.</a:t>
            </a:r>
            <a:endParaRPr sz="1500">
              <a:solidFill>
                <a:schemeClr val="lt1"/>
              </a:solidFill>
              <a:latin typeface="Overpass SemiBold"/>
              <a:ea typeface="Overpass SemiBold"/>
              <a:cs typeface="Overpass SemiBold"/>
              <a:sym typeface="Overpass SemiBold"/>
            </a:endParaRPr>
          </a:p>
        </p:txBody>
      </p:sp>
      <p:sp>
        <p:nvSpPr>
          <p:cNvPr id="294" name="Google Shape;294;p40"/>
          <p:cNvSpPr txBox="1"/>
          <p:nvPr/>
        </p:nvSpPr>
        <p:spPr>
          <a:xfrm>
            <a:off x="6341822" y="2009900"/>
            <a:ext cx="2779800" cy="23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Overpass"/>
                <a:ea typeface="Overpass"/>
                <a:cs typeface="Overpass"/>
                <a:sym typeface="Overpass"/>
              </a:rPr>
              <a:t>Riesgo asociado</a:t>
            </a: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: Actualmente, se observa que las </a:t>
            </a:r>
            <a:r>
              <a:rPr b="1" lang="es" sz="1100">
                <a:solidFill>
                  <a:srgbClr val="00AE01"/>
                </a:solidFill>
                <a:latin typeface="Overpass"/>
                <a:ea typeface="Overpass"/>
                <a:cs typeface="Overpass"/>
                <a:sym typeface="Overpass"/>
              </a:rPr>
              <a:t>operaciones hipotecarias no se deterioran si el cliente se acoge a LIR</a:t>
            </a: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, contrario a la definición establecida donde toda operación del cliente debe entrar a cartera deteriorada.</a:t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Overpass"/>
                <a:ea typeface="Overpass"/>
                <a:cs typeface="Overpass"/>
                <a:sym typeface="Overpass"/>
              </a:rPr>
              <a:t>Oportunidad de mejora</a:t>
            </a: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: Incluir todas las operaciones del cliente para deteriorar y analizar un criterio de salida para los clientes LIR, ya que actualmente no existe una definición. </a:t>
            </a:r>
            <a:endParaRPr i="1" sz="1100"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9" name="Google Shape;299;p41"/>
          <p:cNvGrpSpPr/>
          <p:nvPr/>
        </p:nvGrpSpPr>
        <p:grpSpPr>
          <a:xfrm>
            <a:off x="2689415" y="1425072"/>
            <a:ext cx="508556" cy="544494"/>
            <a:chOff x="7055134" y="2919170"/>
            <a:chExt cx="290321" cy="310820"/>
          </a:xfrm>
        </p:grpSpPr>
        <p:sp>
          <p:nvSpPr>
            <p:cNvPr id="300" name="Google Shape;300;p41"/>
            <p:cNvSpPr/>
            <p:nvPr/>
          </p:nvSpPr>
          <p:spPr>
            <a:xfrm>
              <a:off x="7102497" y="2970989"/>
              <a:ext cx="191044" cy="259001"/>
            </a:xfrm>
            <a:custGeom>
              <a:rect b="b" l="l" r="r" t="t"/>
              <a:pathLst>
                <a:path extrusionOk="0" h="8137" w="6002">
                  <a:moveTo>
                    <a:pt x="3097" y="314"/>
                  </a:moveTo>
                  <a:cubicBezTo>
                    <a:pt x="3739" y="314"/>
                    <a:pt x="4347" y="552"/>
                    <a:pt x="4835" y="980"/>
                  </a:cubicBezTo>
                  <a:cubicBezTo>
                    <a:pt x="5394" y="1481"/>
                    <a:pt x="5716" y="2195"/>
                    <a:pt x="5716" y="2933"/>
                  </a:cubicBezTo>
                  <a:cubicBezTo>
                    <a:pt x="5704" y="3445"/>
                    <a:pt x="5549" y="3933"/>
                    <a:pt x="5287" y="4350"/>
                  </a:cubicBezTo>
                  <a:cubicBezTo>
                    <a:pt x="5013" y="4767"/>
                    <a:pt x="4644" y="5100"/>
                    <a:pt x="4204" y="5302"/>
                  </a:cubicBezTo>
                  <a:cubicBezTo>
                    <a:pt x="3930" y="5433"/>
                    <a:pt x="3751" y="5719"/>
                    <a:pt x="3751" y="6029"/>
                  </a:cubicBezTo>
                  <a:lnTo>
                    <a:pt x="3751" y="6207"/>
                  </a:lnTo>
                  <a:lnTo>
                    <a:pt x="2430" y="6207"/>
                  </a:lnTo>
                  <a:lnTo>
                    <a:pt x="2430" y="6029"/>
                  </a:lnTo>
                  <a:cubicBezTo>
                    <a:pt x="2430" y="5719"/>
                    <a:pt x="2251" y="5433"/>
                    <a:pt x="1965" y="5302"/>
                  </a:cubicBezTo>
                  <a:cubicBezTo>
                    <a:pt x="942" y="4814"/>
                    <a:pt x="346" y="3731"/>
                    <a:pt x="489" y="2588"/>
                  </a:cubicBezTo>
                  <a:cubicBezTo>
                    <a:pt x="644" y="1421"/>
                    <a:pt x="1608" y="457"/>
                    <a:pt x="2799" y="326"/>
                  </a:cubicBezTo>
                  <a:cubicBezTo>
                    <a:pt x="2906" y="314"/>
                    <a:pt x="3013" y="314"/>
                    <a:pt x="3097" y="314"/>
                  </a:cubicBezTo>
                  <a:close/>
                  <a:moveTo>
                    <a:pt x="3728" y="6505"/>
                  </a:moveTo>
                  <a:lnTo>
                    <a:pt x="3739" y="7017"/>
                  </a:lnTo>
                  <a:cubicBezTo>
                    <a:pt x="3739" y="7100"/>
                    <a:pt x="3668" y="7195"/>
                    <a:pt x="3561" y="7195"/>
                  </a:cubicBezTo>
                  <a:lnTo>
                    <a:pt x="2573" y="7195"/>
                  </a:lnTo>
                  <a:cubicBezTo>
                    <a:pt x="2489" y="7195"/>
                    <a:pt x="2394" y="7124"/>
                    <a:pt x="2394" y="7017"/>
                  </a:cubicBezTo>
                  <a:lnTo>
                    <a:pt x="2394" y="6505"/>
                  </a:lnTo>
                  <a:close/>
                  <a:moveTo>
                    <a:pt x="3394" y="7469"/>
                  </a:moveTo>
                  <a:lnTo>
                    <a:pt x="3406" y="7648"/>
                  </a:lnTo>
                  <a:cubicBezTo>
                    <a:pt x="3406" y="7743"/>
                    <a:pt x="3335" y="7838"/>
                    <a:pt x="3228" y="7838"/>
                  </a:cubicBezTo>
                  <a:lnTo>
                    <a:pt x="2906" y="7838"/>
                  </a:lnTo>
                  <a:cubicBezTo>
                    <a:pt x="2811" y="7838"/>
                    <a:pt x="2727" y="7755"/>
                    <a:pt x="2727" y="7648"/>
                  </a:cubicBezTo>
                  <a:lnTo>
                    <a:pt x="2727" y="7469"/>
                  </a:lnTo>
                  <a:close/>
                  <a:moveTo>
                    <a:pt x="3056" y="0"/>
                  </a:moveTo>
                  <a:cubicBezTo>
                    <a:pt x="2951" y="0"/>
                    <a:pt x="2845" y="6"/>
                    <a:pt x="2739" y="16"/>
                  </a:cubicBezTo>
                  <a:cubicBezTo>
                    <a:pt x="1418" y="171"/>
                    <a:pt x="322" y="1230"/>
                    <a:pt x="168" y="2552"/>
                  </a:cubicBezTo>
                  <a:cubicBezTo>
                    <a:pt x="1" y="3814"/>
                    <a:pt x="668" y="5040"/>
                    <a:pt x="1811" y="5564"/>
                  </a:cubicBezTo>
                  <a:cubicBezTo>
                    <a:pt x="1977" y="5648"/>
                    <a:pt x="2096" y="5826"/>
                    <a:pt x="2096" y="6017"/>
                  </a:cubicBezTo>
                  <a:lnTo>
                    <a:pt x="2096" y="7005"/>
                  </a:lnTo>
                  <a:cubicBezTo>
                    <a:pt x="2096" y="7207"/>
                    <a:pt x="2239" y="7386"/>
                    <a:pt x="2430" y="7457"/>
                  </a:cubicBezTo>
                  <a:lnTo>
                    <a:pt x="2430" y="7648"/>
                  </a:lnTo>
                  <a:cubicBezTo>
                    <a:pt x="2430" y="7922"/>
                    <a:pt x="2632" y="8136"/>
                    <a:pt x="2906" y="8136"/>
                  </a:cubicBezTo>
                  <a:lnTo>
                    <a:pt x="3228" y="8136"/>
                  </a:lnTo>
                  <a:cubicBezTo>
                    <a:pt x="3501" y="8136"/>
                    <a:pt x="3704" y="7922"/>
                    <a:pt x="3704" y="7648"/>
                  </a:cubicBezTo>
                  <a:lnTo>
                    <a:pt x="3704" y="7457"/>
                  </a:lnTo>
                  <a:cubicBezTo>
                    <a:pt x="3906" y="7398"/>
                    <a:pt x="4037" y="7219"/>
                    <a:pt x="4037" y="7005"/>
                  </a:cubicBezTo>
                  <a:lnTo>
                    <a:pt x="4037" y="6017"/>
                  </a:lnTo>
                  <a:cubicBezTo>
                    <a:pt x="4037" y="5826"/>
                    <a:pt x="4144" y="5648"/>
                    <a:pt x="4323" y="5564"/>
                  </a:cubicBezTo>
                  <a:cubicBezTo>
                    <a:pt x="4811" y="5326"/>
                    <a:pt x="5228" y="4969"/>
                    <a:pt x="5537" y="4517"/>
                  </a:cubicBezTo>
                  <a:cubicBezTo>
                    <a:pt x="5847" y="4040"/>
                    <a:pt x="6002" y="3481"/>
                    <a:pt x="6002" y="2921"/>
                  </a:cubicBezTo>
                  <a:cubicBezTo>
                    <a:pt x="6002" y="2100"/>
                    <a:pt x="5644" y="1302"/>
                    <a:pt x="5037" y="754"/>
                  </a:cubicBezTo>
                  <a:cubicBezTo>
                    <a:pt x="4485" y="254"/>
                    <a:pt x="3788" y="0"/>
                    <a:pt x="3056" y="0"/>
                  </a:cubicBezTo>
                  <a:close/>
                </a:path>
              </a:pathLst>
            </a:custGeom>
            <a:solidFill>
              <a:srgbClr val="00AE01"/>
            </a:solidFill>
            <a:ln>
              <a:noFill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41"/>
            <p:cNvSpPr/>
            <p:nvPr/>
          </p:nvSpPr>
          <p:spPr>
            <a:xfrm>
              <a:off x="7304872" y="3059413"/>
              <a:ext cx="40583" cy="9485"/>
            </a:xfrm>
            <a:custGeom>
              <a:rect b="b" l="l" r="r" t="t"/>
              <a:pathLst>
                <a:path extrusionOk="0" h="298" w="1275">
                  <a:moveTo>
                    <a:pt x="144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72" y="298"/>
                    <a:pt x="144" y="298"/>
                  </a:cubicBezTo>
                  <a:lnTo>
                    <a:pt x="1132" y="298"/>
                  </a:lnTo>
                  <a:cubicBezTo>
                    <a:pt x="1215" y="298"/>
                    <a:pt x="1275" y="215"/>
                    <a:pt x="1275" y="143"/>
                  </a:cubicBezTo>
                  <a:cubicBezTo>
                    <a:pt x="1275" y="72"/>
                    <a:pt x="1203" y="0"/>
                    <a:pt x="1132" y="0"/>
                  </a:cubicBezTo>
                  <a:close/>
                </a:path>
              </a:pathLst>
            </a:custGeom>
            <a:solidFill>
              <a:srgbClr val="00AE01"/>
            </a:solidFill>
            <a:ln>
              <a:noFill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41"/>
            <p:cNvSpPr/>
            <p:nvPr/>
          </p:nvSpPr>
          <p:spPr>
            <a:xfrm>
              <a:off x="7055134" y="3059413"/>
              <a:ext cx="41347" cy="9485"/>
            </a:xfrm>
            <a:custGeom>
              <a:rect b="b" l="l" r="r" t="t"/>
              <a:pathLst>
                <a:path extrusionOk="0" h="298" w="1299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72" y="298"/>
                    <a:pt x="155" y="298"/>
                  </a:cubicBezTo>
                  <a:lnTo>
                    <a:pt x="1132" y="298"/>
                  </a:lnTo>
                  <a:cubicBezTo>
                    <a:pt x="1215" y="298"/>
                    <a:pt x="1287" y="215"/>
                    <a:pt x="1287" y="143"/>
                  </a:cubicBezTo>
                  <a:cubicBezTo>
                    <a:pt x="1298" y="72"/>
                    <a:pt x="1227" y="0"/>
                    <a:pt x="1132" y="0"/>
                  </a:cubicBezTo>
                  <a:close/>
                </a:path>
              </a:pathLst>
            </a:custGeom>
            <a:solidFill>
              <a:srgbClr val="00AE01"/>
            </a:solidFill>
            <a:ln>
              <a:noFill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41"/>
            <p:cNvSpPr/>
            <p:nvPr/>
          </p:nvSpPr>
          <p:spPr>
            <a:xfrm>
              <a:off x="7195727" y="2919170"/>
              <a:ext cx="9517" cy="40583"/>
            </a:xfrm>
            <a:custGeom>
              <a:rect b="b" l="l" r="r" t="t"/>
              <a:pathLst>
                <a:path extrusionOk="0" h="1275" w="299">
                  <a:moveTo>
                    <a:pt x="156" y="1"/>
                  </a:moveTo>
                  <a:cubicBezTo>
                    <a:pt x="60" y="1"/>
                    <a:pt x="1" y="72"/>
                    <a:pt x="1" y="144"/>
                  </a:cubicBezTo>
                  <a:lnTo>
                    <a:pt x="1" y="1132"/>
                  </a:lnTo>
                  <a:cubicBezTo>
                    <a:pt x="1" y="1215"/>
                    <a:pt x="84" y="1275"/>
                    <a:pt x="156" y="1275"/>
                  </a:cubicBezTo>
                  <a:cubicBezTo>
                    <a:pt x="227" y="1275"/>
                    <a:pt x="299" y="1204"/>
                    <a:pt x="299" y="1132"/>
                  </a:cubicBezTo>
                  <a:lnTo>
                    <a:pt x="299" y="144"/>
                  </a:lnTo>
                  <a:cubicBezTo>
                    <a:pt x="299" y="72"/>
                    <a:pt x="227" y="1"/>
                    <a:pt x="156" y="1"/>
                  </a:cubicBezTo>
                  <a:close/>
                </a:path>
              </a:pathLst>
            </a:custGeom>
            <a:solidFill>
              <a:srgbClr val="00AE01"/>
            </a:solidFill>
            <a:ln>
              <a:noFill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41"/>
            <p:cNvSpPr/>
            <p:nvPr/>
          </p:nvSpPr>
          <p:spPr>
            <a:xfrm>
              <a:off x="7185128" y="3007116"/>
              <a:ext cx="30334" cy="92880"/>
            </a:xfrm>
            <a:custGeom>
              <a:rect b="b" l="l" r="r" t="t"/>
              <a:pathLst>
                <a:path extrusionOk="0" h="2918" w="953">
                  <a:moveTo>
                    <a:pt x="477" y="310"/>
                  </a:moveTo>
                  <a:cubicBezTo>
                    <a:pt x="512" y="310"/>
                    <a:pt x="560" y="334"/>
                    <a:pt x="596" y="357"/>
                  </a:cubicBezTo>
                  <a:cubicBezTo>
                    <a:pt x="620" y="393"/>
                    <a:pt x="632" y="429"/>
                    <a:pt x="632" y="476"/>
                  </a:cubicBezTo>
                  <a:lnTo>
                    <a:pt x="548" y="2608"/>
                  </a:lnTo>
                  <a:lnTo>
                    <a:pt x="405" y="2620"/>
                  </a:lnTo>
                  <a:cubicBezTo>
                    <a:pt x="405" y="2620"/>
                    <a:pt x="393" y="2620"/>
                    <a:pt x="393" y="2608"/>
                  </a:cubicBezTo>
                  <a:lnTo>
                    <a:pt x="310" y="476"/>
                  </a:lnTo>
                  <a:cubicBezTo>
                    <a:pt x="310" y="429"/>
                    <a:pt x="322" y="393"/>
                    <a:pt x="358" y="357"/>
                  </a:cubicBezTo>
                  <a:cubicBezTo>
                    <a:pt x="381" y="334"/>
                    <a:pt x="429" y="310"/>
                    <a:pt x="477" y="310"/>
                  </a:cubicBezTo>
                  <a:close/>
                  <a:moveTo>
                    <a:pt x="477" y="0"/>
                  </a:moveTo>
                  <a:cubicBezTo>
                    <a:pt x="334" y="0"/>
                    <a:pt x="215" y="48"/>
                    <a:pt x="131" y="155"/>
                  </a:cubicBezTo>
                  <a:cubicBezTo>
                    <a:pt x="36" y="238"/>
                    <a:pt x="0" y="357"/>
                    <a:pt x="0" y="488"/>
                  </a:cubicBezTo>
                  <a:lnTo>
                    <a:pt x="84" y="2620"/>
                  </a:lnTo>
                  <a:cubicBezTo>
                    <a:pt x="84" y="2786"/>
                    <a:pt x="239" y="2917"/>
                    <a:pt x="393" y="2917"/>
                  </a:cubicBezTo>
                  <a:lnTo>
                    <a:pt x="512" y="2917"/>
                  </a:lnTo>
                  <a:cubicBezTo>
                    <a:pt x="679" y="2917"/>
                    <a:pt x="822" y="2786"/>
                    <a:pt x="822" y="2620"/>
                  </a:cubicBezTo>
                  <a:lnTo>
                    <a:pt x="917" y="488"/>
                  </a:lnTo>
                  <a:cubicBezTo>
                    <a:pt x="953" y="369"/>
                    <a:pt x="905" y="238"/>
                    <a:pt x="810" y="155"/>
                  </a:cubicBezTo>
                  <a:cubicBezTo>
                    <a:pt x="727" y="60"/>
                    <a:pt x="608" y="0"/>
                    <a:pt x="477" y="0"/>
                  </a:cubicBezTo>
                  <a:close/>
                </a:path>
              </a:pathLst>
            </a:custGeom>
            <a:solidFill>
              <a:srgbClr val="00AE01"/>
            </a:solidFill>
            <a:ln>
              <a:noFill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41"/>
            <p:cNvSpPr/>
            <p:nvPr/>
          </p:nvSpPr>
          <p:spPr>
            <a:xfrm>
              <a:off x="7187770" y="3111328"/>
              <a:ext cx="25814" cy="25814"/>
            </a:xfrm>
            <a:custGeom>
              <a:rect b="b" l="l" r="r" t="t"/>
              <a:pathLst>
                <a:path extrusionOk="0" h="811" w="811">
                  <a:moveTo>
                    <a:pt x="406" y="310"/>
                  </a:moveTo>
                  <a:cubicBezTo>
                    <a:pt x="453" y="310"/>
                    <a:pt x="489" y="358"/>
                    <a:pt x="489" y="405"/>
                  </a:cubicBezTo>
                  <a:cubicBezTo>
                    <a:pt x="489" y="453"/>
                    <a:pt x="453" y="489"/>
                    <a:pt x="406" y="489"/>
                  </a:cubicBezTo>
                  <a:cubicBezTo>
                    <a:pt x="358" y="489"/>
                    <a:pt x="310" y="453"/>
                    <a:pt x="310" y="405"/>
                  </a:cubicBezTo>
                  <a:cubicBezTo>
                    <a:pt x="310" y="358"/>
                    <a:pt x="358" y="310"/>
                    <a:pt x="406" y="310"/>
                  </a:cubicBezTo>
                  <a:close/>
                  <a:moveTo>
                    <a:pt x="406" y="0"/>
                  </a:moveTo>
                  <a:cubicBezTo>
                    <a:pt x="179" y="0"/>
                    <a:pt x="1" y="179"/>
                    <a:pt x="1" y="405"/>
                  </a:cubicBezTo>
                  <a:cubicBezTo>
                    <a:pt x="1" y="631"/>
                    <a:pt x="179" y="810"/>
                    <a:pt x="406" y="810"/>
                  </a:cubicBezTo>
                  <a:cubicBezTo>
                    <a:pt x="632" y="810"/>
                    <a:pt x="810" y="631"/>
                    <a:pt x="810" y="405"/>
                  </a:cubicBezTo>
                  <a:cubicBezTo>
                    <a:pt x="787" y="179"/>
                    <a:pt x="608" y="0"/>
                    <a:pt x="406" y="0"/>
                  </a:cubicBezTo>
                  <a:close/>
                </a:path>
              </a:pathLst>
            </a:custGeom>
            <a:solidFill>
              <a:srgbClr val="00AE01"/>
            </a:solidFill>
            <a:ln>
              <a:noFill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41"/>
            <p:cNvSpPr/>
            <p:nvPr/>
          </p:nvSpPr>
          <p:spPr>
            <a:xfrm>
              <a:off x="7249552" y="2951477"/>
              <a:ext cx="18971" cy="23077"/>
            </a:xfrm>
            <a:custGeom>
              <a:rect b="b" l="l" r="r" t="t"/>
              <a:pathLst>
                <a:path extrusionOk="0" h="725" w="596">
                  <a:moveTo>
                    <a:pt x="417" y="0"/>
                  </a:moveTo>
                  <a:cubicBezTo>
                    <a:pt x="362" y="0"/>
                    <a:pt x="307" y="32"/>
                    <a:pt x="274" y="81"/>
                  </a:cubicBezTo>
                  <a:lnTo>
                    <a:pt x="36" y="498"/>
                  </a:lnTo>
                  <a:cubicBezTo>
                    <a:pt x="1" y="570"/>
                    <a:pt x="24" y="665"/>
                    <a:pt x="96" y="700"/>
                  </a:cubicBezTo>
                  <a:cubicBezTo>
                    <a:pt x="132" y="724"/>
                    <a:pt x="143" y="724"/>
                    <a:pt x="179" y="724"/>
                  </a:cubicBezTo>
                  <a:cubicBezTo>
                    <a:pt x="239" y="724"/>
                    <a:pt x="274" y="689"/>
                    <a:pt x="310" y="641"/>
                  </a:cubicBezTo>
                  <a:lnTo>
                    <a:pt x="548" y="224"/>
                  </a:lnTo>
                  <a:cubicBezTo>
                    <a:pt x="596" y="153"/>
                    <a:pt x="560" y="69"/>
                    <a:pt x="489" y="22"/>
                  </a:cubicBezTo>
                  <a:cubicBezTo>
                    <a:pt x="466" y="7"/>
                    <a:pt x="442" y="0"/>
                    <a:pt x="417" y="0"/>
                  </a:cubicBezTo>
                  <a:close/>
                </a:path>
              </a:pathLst>
            </a:custGeom>
            <a:solidFill>
              <a:srgbClr val="00AE01"/>
            </a:solidFill>
            <a:ln>
              <a:noFill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41"/>
            <p:cNvSpPr/>
            <p:nvPr/>
          </p:nvSpPr>
          <p:spPr>
            <a:xfrm>
              <a:off x="7132831" y="3153852"/>
              <a:ext cx="18589" cy="22695"/>
            </a:xfrm>
            <a:custGeom>
              <a:rect b="b" l="l" r="r" t="t"/>
              <a:pathLst>
                <a:path extrusionOk="0" h="713" w="584">
                  <a:moveTo>
                    <a:pt x="419" y="0"/>
                  </a:moveTo>
                  <a:cubicBezTo>
                    <a:pt x="368" y="0"/>
                    <a:pt x="319" y="32"/>
                    <a:pt x="286" y="81"/>
                  </a:cubicBezTo>
                  <a:lnTo>
                    <a:pt x="48" y="498"/>
                  </a:lnTo>
                  <a:cubicBezTo>
                    <a:pt x="0" y="569"/>
                    <a:pt x="36" y="665"/>
                    <a:pt x="108" y="700"/>
                  </a:cubicBezTo>
                  <a:cubicBezTo>
                    <a:pt x="131" y="712"/>
                    <a:pt x="155" y="712"/>
                    <a:pt x="179" y="712"/>
                  </a:cubicBezTo>
                  <a:cubicBezTo>
                    <a:pt x="239" y="712"/>
                    <a:pt x="286" y="689"/>
                    <a:pt x="310" y="641"/>
                  </a:cubicBezTo>
                  <a:lnTo>
                    <a:pt x="548" y="224"/>
                  </a:lnTo>
                  <a:cubicBezTo>
                    <a:pt x="584" y="153"/>
                    <a:pt x="572" y="69"/>
                    <a:pt x="489" y="22"/>
                  </a:cubicBezTo>
                  <a:cubicBezTo>
                    <a:pt x="466" y="7"/>
                    <a:pt x="443" y="0"/>
                    <a:pt x="419" y="0"/>
                  </a:cubicBezTo>
                  <a:close/>
                </a:path>
              </a:pathLst>
            </a:custGeom>
            <a:solidFill>
              <a:srgbClr val="00AE01"/>
            </a:solidFill>
            <a:ln>
              <a:noFill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41"/>
            <p:cNvSpPr/>
            <p:nvPr/>
          </p:nvSpPr>
          <p:spPr>
            <a:xfrm>
              <a:off x="7132449" y="2951477"/>
              <a:ext cx="18971" cy="23077"/>
            </a:xfrm>
            <a:custGeom>
              <a:rect b="b" l="l" r="r" t="t"/>
              <a:pathLst>
                <a:path extrusionOk="0" h="725" w="596">
                  <a:moveTo>
                    <a:pt x="177" y="0"/>
                  </a:moveTo>
                  <a:cubicBezTo>
                    <a:pt x="154" y="0"/>
                    <a:pt x="130" y="7"/>
                    <a:pt x="108" y="22"/>
                  </a:cubicBezTo>
                  <a:cubicBezTo>
                    <a:pt x="24" y="69"/>
                    <a:pt x="1" y="153"/>
                    <a:pt x="48" y="236"/>
                  </a:cubicBezTo>
                  <a:lnTo>
                    <a:pt x="274" y="653"/>
                  </a:lnTo>
                  <a:cubicBezTo>
                    <a:pt x="310" y="689"/>
                    <a:pt x="358" y="724"/>
                    <a:pt x="417" y="724"/>
                  </a:cubicBezTo>
                  <a:cubicBezTo>
                    <a:pt x="441" y="724"/>
                    <a:pt x="477" y="724"/>
                    <a:pt x="489" y="712"/>
                  </a:cubicBezTo>
                  <a:cubicBezTo>
                    <a:pt x="584" y="665"/>
                    <a:pt x="596" y="570"/>
                    <a:pt x="548" y="498"/>
                  </a:cubicBezTo>
                  <a:lnTo>
                    <a:pt x="310" y="81"/>
                  </a:lnTo>
                  <a:cubicBezTo>
                    <a:pt x="277" y="32"/>
                    <a:pt x="228" y="0"/>
                    <a:pt x="177" y="0"/>
                  </a:cubicBezTo>
                  <a:close/>
                </a:path>
              </a:pathLst>
            </a:custGeom>
            <a:solidFill>
              <a:srgbClr val="00AE01"/>
            </a:solidFill>
            <a:ln>
              <a:noFill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41"/>
            <p:cNvSpPr/>
            <p:nvPr/>
          </p:nvSpPr>
          <p:spPr>
            <a:xfrm>
              <a:off x="7249552" y="3153852"/>
              <a:ext cx="18971" cy="22695"/>
            </a:xfrm>
            <a:custGeom>
              <a:rect b="b" l="l" r="r" t="t"/>
              <a:pathLst>
                <a:path extrusionOk="0" h="713" w="596">
                  <a:moveTo>
                    <a:pt x="173" y="0"/>
                  </a:moveTo>
                  <a:cubicBezTo>
                    <a:pt x="148" y="0"/>
                    <a:pt x="122" y="7"/>
                    <a:pt x="96" y="22"/>
                  </a:cubicBezTo>
                  <a:cubicBezTo>
                    <a:pt x="24" y="69"/>
                    <a:pt x="1" y="153"/>
                    <a:pt x="36" y="224"/>
                  </a:cubicBezTo>
                  <a:lnTo>
                    <a:pt x="274" y="641"/>
                  </a:lnTo>
                  <a:cubicBezTo>
                    <a:pt x="310" y="689"/>
                    <a:pt x="358" y="712"/>
                    <a:pt x="417" y="712"/>
                  </a:cubicBezTo>
                  <a:cubicBezTo>
                    <a:pt x="441" y="712"/>
                    <a:pt x="477" y="712"/>
                    <a:pt x="489" y="700"/>
                  </a:cubicBezTo>
                  <a:cubicBezTo>
                    <a:pt x="560" y="665"/>
                    <a:pt x="596" y="569"/>
                    <a:pt x="548" y="498"/>
                  </a:cubicBezTo>
                  <a:lnTo>
                    <a:pt x="310" y="81"/>
                  </a:lnTo>
                  <a:cubicBezTo>
                    <a:pt x="277" y="32"/>
                    <a:pt x="228" y="0"/>
                    <a:pt x="173" y="0"/>
                  </a:cubicBezTo>
                  <a:close/>
                </a:path>
              </a:pathLst>
            </a:custGeom>
            <a:solidFill>
              <a:srgbClr val="00AE01"/>
            </a:solidFill>
            <a:ln>
              <a:noFill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41"/>
            <p:cNvSpPr/>
            <p:nvPr/>
          </p:nvSpPr>
          <p:spPr>
            <a:xfrm>
              <a:off x="7289721" y="3113969"/>
              <a:ext cx="24286" cy="17093"/>
            </a:xfrm>
            <a:custGeom>
              <a:rect b="b" l="l" r="r" t="t"/>
              <a:pathLst>
                <a:path extrusionOk="0" h="537" w="763">
                  <a:moveTo>
                    <a:pt x="172" y="0"/>
                  </a:moveTo>
                  <a:cubicBezTo>
                    <a:pt x="121" y="0"/>
                    <a:pt x="72" y="29"/>
                    <a:pt x="48" y="84"/>
                  </a:cubicBezTo>
                  <a:cubicBezTo>
                    <a:pt x="1" y="156"/>
                    <a:pt x="24" y="239"/>
                    <a:pt x="108" y="287"/>
                  </a:cubicBezTo>
                  <a:lnTo>
                    <a:pt x="524" y="525"/>
                  </a:lnTo>
                  <a:cubicBezTo>
                    <a:pt x="548" y="537"/>
                    <a:pt x="560" y="537"/>
                    <a:pt x="596" y="537"/>
                  </a:cubicBezTo>
                  <a:cubicBezTo>
                    <a:pt x="655" y="537"/>
                    <a:pt x="703" y="513"/>
                    <a:pt x="727" y="465"/>
                  </a:cubicBezTo>
                  <a:cubicBezTo>
                    <a:pt x="763" y="394"/>
                    <a:pt x="739" y="310"/>
                    <a:pt x="667" y="263"/>
                  </a:cubicBezTo>
                  <a:lnTo>
                    <a:pt x="251" y="25"/>
                  </a:lnTo>
                  <a:cubicBezTo>
                    <a:pt x="226" y="8"/>
                    <a:pt x="199" y="0"/>
                    <a:pt x="172" y="0"/>
                  </a:cubicBezTo>
                  <a:close/>
                </a:path>
              </a:pathLst>
            </a:custGeom>
            <a:solidFill>
              <a:srgbClr val="00AE01"/>
            </a:solidFill>
            <a:ln>
              <a:noFill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41"/>
            <p:cNvSpPr/>
            <p:nvPr/>
          </p:nvSpPr>
          <p:spPr>
            <a:xfrm>
              <a:off x="7086964" y="2996931"/>
              <a:ext cx="24668" cy="17411"/>
            </a:xfrm>
            <a:custGeom>
              <a:rect b="b" l="l" r="r" t="t"/>
              <a:pathLst>
                <a:path extrusionOk="0" h="547" w="775">
                  <a:moveTo>
                    <a:pt x="179" y="1"/>
                  </a:moveTo>
                  <a:cubicBezTo>
                    <a:pt x="125" y="1"/>
                    <a:pt x="73" y="33"/>
                    <a:pt x="48" y="82"/>
                  </a:cubicBezTo>
                  <a:cubicBezTo>
                    <a:pt x="1" y="154"/>
                    <a:pt x="25" y="249"/>
                    <a:pt x="108" y="285"/>
                  </a:cubicBezTo>
                  <a:lnTo>
                    <a:pt x="525" y="535"/>
                  </a:lnTo>
                  <a:cubicBezTo>
                    <a:pt x="548" y="546"/>
                    <a:pt x="560" y="546"/>
                    <a:pt x="596" y="546"/>
                  </a:cubicBezTo>
                  <a:cubicBezTo>
                    <a:pt x="656" y="546"/>
                    <a:pt x="703" y="511"/>
                    <a:pt x="727" y="475"/>
                  </a:cubicBezTo>
                  <a:cubicBezTo>
                    <a:pt x="775" y="415"/>
                    <a:pt x="739" y="308"/>
                    <a:pt x="668" y="261"/>
                  </a:cubicBezTo>
                  <a:lnTo>
                    <a:pt x="251" y="23"/>
                  </a:lnTo>
                  <a:cubicBezTo>
                    <a:pt x="228" y="8"/>
                    <a:pt x="204" y="1"/>
                    <a:pt x="179" y="1"/>
                  </a:cubicBezTo>
                  <a:close/>
                </a:path>
              </a:pathLst>
            </a:custGeom>
            <a:solidFill>
              <a:srgbClr val="00AE01"/>
            </a:solidFill>
            <a:ln>
              <a:noFill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41"/>
            <p:cNvSpPr/>
            <p:nvPr/>
          </p:nvSpPr>
          <p:spPr>
            <a:xfrm>
              <a:off x="7289339" y="2996931"/>
              <a:ext cx="24668" cy="17411"/>
            </a:xfrm>
            <a:custGeom>
              <a:rect b="b" l="l" r="r" t="t"/>
              <a:pathLst>
                <a:path extrusionOk="0" h="547" w="775">
                  <a:moveTo>
                    <a:pt x="590" y="1"/>
                  </a:moveTo>
                  <a:cubicBezTo>
                    <a:pt x="565" y="1"/>
                    <a:pt x="539" y="8"/>
                    <a:pt x="513" y="23"/>
                  </a:cubicBezTo>
                  <a:lnTo>
                    <a:pt x="96" y="261"/>
                  </a:lnTo>
                  <a:cubicBezTo>
                    <a:pt x="25" y="308"/>
                    <a:pt x="1" y="392"/>
                    <a:pt x="36" y="475"/>
                  </a:cubicBezTo>
                  <a:cubicBezTo>
                    <a:pt x="72" y="511"/>
                    <a:pt x="108" y="546"/>
                    <a:pt x="179" y="546"/>
                  </a:cubicBezTo>
                  <a:cubicBezTo>
                    <a:pt x="203" y="546"/>
                    <a:pt x="239" y="546"/>
                    <a:pt x="251" y="535"/>
                  </a:cubicBezTo>
                  <a:lnTo>
                    <a:pt x="667" y="285"/>
                  </a:lnTo>
                  <a:cubicBezTo>
                    <a:pt x="751" y="249"/>
                    <a:pt x="775" y="154"/>
                    <a:pt x="727" y="82"/>
                  </a:cubicBezTo>
                  <a:cubicBezTo>
                    <a:pt x="694" y="33"/>
                    <a:pt x="645" y="1"/>
                    <a:pt x="590" y="1"/>
                  </a:cubicBezTo>
                  <a:close/>
                </a:path>
              </a:pathLst>
            </a:custGeom>
            <a:solidFill>
              <a:srgbClr val="00AE01"/>
            </a:solidFill>
            <a:ln>
              <a:noFill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41"/>
            <p:cNvSpPr/>
            <p:nvPr/>
          </p:nvSpPr>
          <p:spPr>
            <a:xfrm>
              <a:off x="7086964" y="3113587"/>
              <a:ext cx="24668" cy="17093"/>
            </a:xfrm>
            <a:custGeom>
              <a:rect b="b" l="l" r="r" t="t"/>
              <a:pathLst>
                <a:path extrusionOk="0" h="537" w="775">
                  <a:moveTo>
                    <a:pt x="597" y="0"/>
                  </a:moveTo>
                  <a:cubicBezTo>
                    <a:pt x="570" y="0"/>
                    <a:pt x="541" y="8"/>
                    <a:pt x="513" y="25"/>
                  </a:cubicBezTo>
                  <a:lnTo>
                    <a:pt x="108" y="263"/>
                  </a:lnTo>
                  <a:cubicBezTo>
                    <a:pt x="25" y="299"/>
                    <a:pt x="1" y="394"/>
                    <a:pt x="36" y="465"/>
                  </a:cubicBezTo>
                  <a:cubicBezTo>
                    <a:pt x="72" y="513"/>
                    <a:pt x="120" y="537"/>
                    <a:pt x="179" y="537"/>
                  </a:cubicBezTo>
                  <a:cubicBezTo>
                    <a:pt x="203" y="537"/>
                    <a:pt x="239" y="537"/>
                    <a:pt x="251" y="525"/>
                  </a:cubicBezTo>
                  <a:lnTo>
                    <a:pt x="668" y="287"/>
                  </a:lnTo>
                  <a:cubicBezTo>
                    <a:pt x="739" y="263"/>
                    <a:pt x="775" y="156"/>
                    <a:pt x="727" y="84"/>
                  </a:cubicBezTo>
                  <a:cubicBezTo>
                    <a:pt x="696" y="29"/>
                    <a:pt x="649" y="0"/>
                    <a:pt x="597" y="0"/>
                  </a:cubicBezTo>
                  <a:close/>
                </a:path>
              </a:pathLst>
            </a:custGeom>
            <a:solidFill>
              <a:srgbClr val="00AE01"/>
            </a:solidFill>
            <a:ln>
              <a:noFill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4" name="Google Shape;314;p41"/>
          <p:cNvSpPr txBox="1"/>
          <p:nvPr/>
        </p:nvSpPr>
        <p:spPr>
          <a:xfrm>
            <a:off x="2145625" y="1989950"/>
            <a:ext cx="6998400" cy="2873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15" name="Google Shape;315;p41"/>
          <p:cNvSpPr txBox="1"/>
          <p:nvPr/>
        </p:nvSpPr>
        <p:spPr>
          <a:xfrm>
            <a:off x="3185477" y="1551350"/>
            <a:ext cx="2561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Overpass SemiBold"/>
                <a:ea typeface="Overpass SemiBold"/>
                <a:cs typeface="Overpass SemiBold"/>
                <a:sym typeface="Overpass SemiBold"/>
              </a:rPr>
              <a:t>Ejemplo Observación </a:t>
            </a:r>
            <a:r>
              <a:rPr lang="es" sz="1100">
                <a:solidFill>
                  <a:srgbClr val="00AE01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EEM</a:t>
            </a:r>
            <a:endParaRPr sz="1100">
              <a:solidFill>
                <a:srgbClr val="00AE01"/>
              </a:solidFill>
              <a:latin typeface="Overpass SemiBold"/>
              <a:ea typeface="Overpass SemiBold"/>
              <a:cs typeface="Overpass SemiBold"/>
              <a:sym typeface="Overpass SemiBold"/>
            </a:endParaRPr>
          </a:p>
        </p:txBody>
      </p:sp>
      <p:sp>
        <p:nvSpPr>
          <p:cNvPr id="316" name="Google Shape;316;p41"/>
          <p:cNvSpPr/>
          <p:nvPr/>
        </p:nvSpPr>
        <p:spPr>
          <a:xfrm rot="5400000">
            <a:off x="-533550" y="1768925"/>
            <a:ext cx="3628500" cy="25611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00AE01"/>
          </a:solidFill>
          <a:ln cap="flat" cmpd="sng" w="9525">
            <a:solidFill>
              <a:srgbClr val="00AE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17" name="Google Shape;317;p41"/>
          <p:cNvSpPr txBox="1"/>
          <p:nvPr>
            <p:ph type="title"/>
          </p:nvPr>
        </p:nvSpPr>
        <p:spPr>
          <a:xfrm>
            <a:off x="129750" y="516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verpass SemiBold"/>
                <a:ea typeface="Overpass SemiBold"/>
                <a:cs typeface="Overpass SemiBold"/>
                <a:sym typeface="Overpass SemiBold"/>
              </a:rPr>
              <a:t>Reglas de Entrada Cartera Deteriorada</a:t>
            </a:r>
            <a:endParaRPr>
              <a:latin typeface="Overpass SemiBold"/>
              <a:ea typeface="Overpass SemiBold"/>
              <a:cs typeface="Overpass SemiBold"/>
              <a:sym typeface="Overpass SemiBold"/>
            </a:endParaRPr>
          </a:p>
        </p:txBody>
      </p:sp>
      <p:pic>
        <p:nvPicPr>
          <p:cNvPr descr="Google Shape;197;p29" id="318" name="Google Shape;31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269" y="200090"/>
            <a:ext cx="908157" cy="169824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41"/>
          <p:cNvSpPr txBox="1"/>
          <p:nvPr/>
        </p:nvSpPr>
        <p:spPr>
          <a:xfrm>
            <a:off x="179275" y="1466750"/>
            <a:ext cx="2382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Reglamento de Modelos de Provisiones por Riesgo de Crédito</a:t>
            </a:r>
            <a:endParaRPr sz="1100">
              <a:solidFill>
                <a:schemeClr val="lt1"/>
              </a:solidFill>
              <a:latin typeface="Overpass SemiBold"/>
              <a:ea typeface="Overpass SemiBold"/>
              <a:cs typeface="Overpass SemiBold"/>
              <a:sym typeface="Overpass SemiBold"/>
            </a:endParaRPr>
          </a:p>
        </p:txBody>
      </p:sp>
      <p:pic>
        <p:nvPicPr>
          <p:cNvPr descr="Imagen" id="320" name="Google Shape;320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85381" y="170344"/>
            <a:ext cx="508539" cy="229336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41"/>
          <p:cNvSpPr/>
          <p:nvPr/>
        </p:nvSpPr>
        <p:spPr>
          <a:xfrm>
            <a:off x="129750" y="1980425"/>
            <a:ext cx="2392800" cy="24354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126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Clientes acogidos a la</a:t>
            </a:r>
            <a:endParaRPr sz="11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ley de insolvencia y Reemprendimiento (LIR).</a:t>
            </a:r>
            <a:endParaRPr sz="11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322" name="Google Shape;322;p41"/>
          <p:cNvSpPr txBox="1"/>
          <p:nvPr/>
        </p:nvSpPr>
        <p:spPr>
          <a:xfrm>
            <a:off x="179275" y="1905350"/>
            <a:ext cx="359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3.</a:t>
            </a:r>
            <a:endParaRPr sz="1500">
              <a:solidFill>
                <a:schemeClr val="lt1"/>
              </a:solidFill>
              <a:latin typeface="Overpass SemiBold"/>
              <a:ea typeface="Overpass SemiBold"/>
              <a:cs typeface="Overpass SemiBold"/>
              <a:sym typeface="Overpass SemiBold"/>
            </a:endParaRPr>
          </a:p>
        </p:txBody>
      </p:sp>
      <p:graphicFrame>
        <p:nvGraphicFramePr>
          <p:cNvPr id="323" name="Google Shape;323;p41"/>
          <p:cNvGraphicFramePr/>
          <p:nvPr/>
        </p:nvGraphicFramePr>
        <p:xfrm>
          <a:off x="2728550" y="23677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{496AB027-4005-48ED-9279-8D13C1627251}</a:tableStyleId>
              </a:tblPr>
              <a:tblGrid>
                <a:gridCol w="908000"/>
                <a:gridCol w="896650"/>
                <a:gridCol w="1126550"/>
                <a:gridCol w="769950"/>
                <a:gridCol w="1314750"/>
                <a:gridCol w="719775"/>
              </a:tblGrid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lt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Cliente_Rut</a:t>
                      </a:r>
                      <a:endParaRPr b="1" sz="1000">
                        <a:solidFill>
                          <a:schemeClr val="lt1"/>
                        </a:solidFill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00AE0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lt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Periodo_Id</a:t>
                      </a:r>
                      <a:endParaRPr b="1" sz="1000">
                        <a:solidFill>
                          <a:schemeClr val="lt1"/>
                        </a:solidFill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00AE0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lt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Contrato_Id</a:t>
                      </a:r>
                      <a:endParaRPr b="1" sz="1000">
                        <a:solidFill>
                          <a:schemeClr val="lt1"/>
                        </a:solidFill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00AE0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lt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cod_tope</a:t>
                      </a:r>
                      <a:endParaRPr b="1" sz="1000">
                        <a:solidFill>
                          <a:schemeClr val="lt1"/>
                        </a:solidFill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00AE0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lt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cod_motivo_deter</a:t>
                      </a:r>
                      <a:endParaRPr b="1" sz="1000">
                        <a:solidFill>
                          <a:schemeClr val="lt1"/>
                        </a:solidFill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00AE0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lt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ind_cdet</a:t>
                      </a:r>
                      <a:endParaRPr b="1" sz="1000">
                        <a:solidFill>
                          <a:schemeClr val="lt1"/>
                        </a:solidFill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00AE01"/>
                    </a:solidFill>
                  </a:tcPr>
                </a:tc>
              </a:tr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164383903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01-08-2025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F90003423971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HIP300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43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164383903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01-08-2025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E02199861082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TDC490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11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164383903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01-08-2025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A24429680701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CCC400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11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164383903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01-08-2025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E05090573243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TDC500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11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164383903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01-08-2025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E12199861082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TDC490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11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164383903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01-08-2025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E15090573243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TDC500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11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24" name="Google Shape;324;p41"/>
          <p:cNvSpPr txBox="1"/>
          <p:nvPr/>
        </p:nvSpPr>
        <p:spPr>
          <a:xfrm>
            <a:off x="2641700" y="2009900"/>
            <a:ext cx="6008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AE01"/>
                </a:solidFill>
                <a:latin typeface="Overpass"/>
                <a:ea typeface="Overpass"/>
                <a:cs typeface="Overpass"/>
                <a:sym typeface="Overpass"/>
              </a:rPr>
              <a:t>Operación</a:t>
            </a:r>
            <a:r>
              <a:rPr b="1" lang="es" sz="1100">
                <a:solidFill>
                  <a:srgbClr val="00AE01"/>
                </a:solidFill>
                <a:latin typeface="Overpass"/>
                <a:ea typeface="Overpass"/>
                <a:cs typeface="Overpass"/>
                <a:sym typeface="Overpass"/>
              </a:rPr>
              <a:t> hipotecaria de cliente LIR no deteriorada</a:t>
            </a:r>
            <a:endParaRPr sz="1100">
              <a:solidFill>
                <a:srgbClr val="00AE01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2"/>
          <p:cNvSpPr txBox="1"/>
          <p:nvPr/>
        </p:nvSpPr>
        <p:spPr>
          <a:xfrm>
            <a:off x="5846250" y="1989950"/>
            <a:ext cx="3297900" cy="2699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330" name="Google Shape;330;p42"/>
          <p:cNvGrpSpPr/>
          <p:nvPr/>
        </p:nvGrpSpPr>
        <p:grpSpPr>
          <a:xfrm>
            <a:off x="6402547" y="1487127"/>
            <a:ext cx="483564" cy="482452"/>
            <a:chOff x="1745217" y="1515471"/>
            <a:chExt cx="343269" cy="342505"/>
          </a:xfrm>
        </p:grpSpPr>
        <p:sp>
          <p:nvSpPr>
            <p:cNvPr id="331" name="Google Shape;331;p42"/>
            <p:cNvSpPr/>
            <p:nvPr/>
          </p:nvSpPr>
          <p:spPr>
            <a:xfrm>
              <a:off x="1854448" y="1647096"/>
              <a:ext cx="22012" cy="21630"/>
            </a:xfrm>
            <a:custGeom>
              <a:rect b="b" l="l" r="r" t="t"/>
              <a:pathLst>
                <a:path extrusionOk="0" h="679" w="691">
                  <a:moveTo>
                    <a:pt x="346" y="0"/>
                  </a:moveTo>
                  <a:cubicBezTo>
                    <a:pt x="155" y="0"/>
                    <a:pt x="0" y="155"/>
                    <a:pt x="0" y="345"/>
                  </a:cubicBezTo>
                  <a:cubicBezTo>
                    <a:pt x="0" y="536"/>
                    <a:pt x="155" y="679"/>
                    <a:pt x="346" y="679"/>
                  </a:cubicBezTo>
                  <a:cubicBezTo>
                    <a:pt x="536" y="679"/>
                    <a:pt x="691" y="536"/>
                    <a:pt x="691" y="345"/>
                  </a:cubicBezTo>
                  <a:cubicBezTo>
                    <a:pt x="691" y="155"/>
                    <a:pt x="536" y="0"/>
                    <a:pt x="346" y="0"/>
                  </a:cubicBezTo>
                  <a:close/>
                </a:path>
              </a:pathLst>
            </a:custGeom>
            <a:solidFill>
              <a:srgbClr val="F40034"/>
            </a:solidFill>
            <a:ln>
              <a:noFill/>
            </a:ln>
          </p:spPr>
          <p:txBody>
            <a:bodyPr anchorCtr="0" anchor="ctr" bIns="41750" lIns="41750" spcFirstLastPara="1" rIns="41750" wrap="square" tIns="41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39"/>
                <a:buFont typeface="Arial"/>
                <a:buNone/>
              </a:pPr>
              <a:r>
                <a:t/>
              </a:r>
              <a:endParaRPr b="0" i="0" sz="63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42"/>
            <p:cNvSpPr/>
            <p:nvPr/>
          </p:nvSpPr>
          <p:spPr>
            <a:xfrm>
              <a:off x="1906021" y="1647096"/>
              <a:ext cx="21661" cy="21630"/>
            </a:xfrm>
            <a:custGeom>
              <a:rect b="b" l="l" r="r" t="t"/>
              <a:pathLst>
                <a:path extrusionOk="0" h="679" w="680">
                  <a:moveTo>
                    <a:pt x="334" y="0"/>
                  </a:moveTo>
                  <a:cubicBezTo>
                    <a:pt x="143" y="0"/>
                    <a:pt x="0" y="155"/>
                    <a:pt x="0" y="345"/>
                  </a:cubicBezTo>
                  <a:cubicBezTo>
                    <a:pt x="0" y="536"/>
                    <a:pt x="143" y="679"/>
                    <a:pt x="334" y="679"/>
                  </a:cubicBezTo>
                  <a:cubicBezTo>
                    <a:pt x="524" y="679"/>
                    <a:pt x="679" y="536"/>
                    <a:pt x="679" y="345"/>
                  </a:cubicBezTo>
                  <a:cubicBezTo>
                    <a:pt x="679" y="155"/>
                    <a:pt x="524" y="0"/>
                    <a:pt x="334" y="0"/>
                  </a:cubicBezTo>
                  <a:close/>
                </a:path>
              </a:pathLst>
            </a:custGeom>
            <a:solidFill>
              <a:srgbClr val="F40034"/>
            </a:solidFill>
            <a:ln>
              <a:noFill/>
            </a:ln>
          </p:spPr>
          <p:txBody>
            <a:bodyPr anchorCtr="0" anchor="ctr" bIns="41750" lIns="41750" spcFirstLastPara="1" rIns="41750" wrap="square" tIns="41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39"/>
                <a:buFont typeface="Arial"/>
                <a:buNone/>
              </a:pPr>
              <a:r>
                <a:t/>
              </a:r>
              <a:endParaRPr b="0" i="0" sz="63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42"/>
            <p:cNvSpPr/>
            <p:nvPr/>
          </p:nvSpPr>
          <p:spPr>
            <a:xfrm>
              <a:off x="1956830" y="1647096"/>
              <a:ext cx="22044" cy="21630"/>
            </a:xfrm>
            <a:custGeom>
              <a:rect b="b" l="l" r="r" t="t"/>
              <a:pathLst>
                <a:path extrusionOk="0" h="679" w="692">
                  <a:moveTo>
                    <a:pt x="346" y="0"/>
                  </a:moveTo>
                  <a:cubicBezTo>
                    <a:pt x="156" y="0"/>
                    <a:pt x="1" y="155"/>
                    <a:pt x="1" y="345"/>
                  </a:cubicBezTo>
                  <a:cubicBezTo>
                    <a:pt x="1" y="536"/>
                    <a:pt x="156" y="679"/>
                    <a:pt x="346" y="679"/>
                  </a:cubicBezTo>
                  <a:cubicBezTo>
                    <a:pt x="537" y="679"/>
                    <a:pt x="691" y="536"/>
                    <a:pt x="691" y="345"/>
                  </a:cubicBezTo>
                  <a:cubicBezTo>
                    <a:pt x="691" y="155"/>
                    <a:pt x="537" y="0"/>
                    <a:pt x="346" y="0"/>
                  </a:cubicBezTo>
                  <a:close/>
                </a:path>
              </a:pathLst>
            </a:custGeom>
            <a:solidFill>
              <a:srgbClr val="F40034"/>
            </a:solidFill>
            <a:ln>
              <a:noFill/>
            </a:ln>
          </p:spPr>
          <p:txBody>
            <a:bodyPr anchorCtr="0" anchor="ctr" bIns="41750" lIns="41750" spcFirstLastPara="1" rIns="41750" wrap="square" tIns="41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39"/>
                <a:buFont typeface="Arial"/>
                <a:buNone/>
              </a:pPr>
              <a:r>
                <a:t/>
              </a:r>
              <a:endParaRPr b="0" i="0" sz="63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42"/>
            <p:cNvSpPr/>
            <p:nvPr/>
          </p:nvSpPr>
          <p:spPr>
            <a:xfrm>
              <a:off x="1745217" y="1515471"/>
              <a:ext cx="343269" cy="342505"/>
            </a:xfrm>
            <a:custGeom>
              <a:rect b="b" l="l" r="r" t="t"/>
              <a:pathLst>
                <a:path extrusionOk="0" h="10752" w="10776">
                  <a:moveTo>
                    <a:pt x="5382" y="1"/>
                  </a:moveTo>
                  <a:cubicBezTo>
                    <a:pt x="3953" y="1"/>
                    <a:pt x="2608" y="453"/>
                    <a:pt x="1596" y="1286"/>
                  </a:cubicBezTo>
                  <a:cubicBezTo>
                    <a:pt x="560" y="2144"/>
                    <a:pt x="0" y="3251"/>
                    <a:pt x="0" y="4465"/>
                  </a:cubicBezTo>
                  <a:cubicBezTo>
                    <a:pt x="0" y="5513"/>
                    <a:pt x="465" y="6561"/>
                    <a:pt x="1274" y="7359"/>
                  </a:cubicBezTo>
                  <a:cubicBezTo>
                    <a:pt x="2072" y="8121"/>
                    <a:pt x="3120" y="8645"/>
                    <a:pt x="4298" y="8835"/>
                  </a:cubicBezTo>
                  <a:cubicBezTo>
                    <a:pt x="4310" y="9442"/>
                    <a:pt x="4108" y="10014"/>
                    <a:pt x="3703" y="10478"/>
                  </a:cubicBezTo>
                  <a:cubicBezTo>
                    <a:pt x="3655" y="10514"/>
                    <a:pt x="3644" y="10597"/>
                    <a:pt x="3679" y="10657"/>
                  </a:cubicBezTo>
                  <a:cubicBezTo>
                    <a:pt x="3703" y="10704"/>
                    <a:pt x="3763" y="10752"/>
                    <a:pt x="3834" y="10752"/>
                  </a:cubicBezTo>
                  <a:cubicBezTo>
                    <a:pt x="5025" y="10752"/>
                    <a:pt x="6084" y="9966"/>
                    <a:pt x="6442" y="8835"/>
                  </a:cubicBezTo>
                  <a:cubicBezTo>
                    <a:pt x="7406" y="8668"/>
                    <a:pt x="8287" y="8299"/>
                    <a:pt x="9013" y="7752"/>
                  </a:cubicBezTo>
                  <a:cubicBezTo>
                    <a:pt x="9097" y="7692"/>
                    <a:pt x="9109" y="7585"/>
                    <a:pt x="9049" y="7513"/>
                  </a:cubicBezTo>
                  <a:cubicBezTo>
                    <a:pt x="9014" y="7465"/>
                    <a:pt x="8963" y="7441"/>
                    <a:pt x="8913" y="7441"/>
                  </a:cubicBezTo>
                  <a:cubicBezTo>
                    <a:pt x="8877" y="7441"/>
                    <a:pt x="8841" y="7453"/>
                    <a:pt x="8811" y="7478"/>
                  </a:cubicBezTo>
                  <a:cubicBezTo>
                    <a:pt x="8096" y="8014"/>
                    <a:pt x="7215" y="8371"/>
                    <a:pt x="6275" y="8502"/>
                  </a:cubicBezTo>
                  <a:cubicBezTo>
                    <a:pt x="6203" y="8525"/>
                    <a:pt x="6156" y="8561"/>
                    <a:pt x="6132" y="8621"/>
                  </a:cubicBezTo>
                  <a:cubicBezTo>
                    <a:pt x="5894" y="9549"/>
                    <a:pt x="5120" y="10216"/>
                    <a:pt x="4215" y="10371"/>
                  </a:cubicBezTo>
                  <a:cubicBezTo>
                    <a:pt x="4537" y="9859"/>
                    <a:pt x="4703" y="9264"/>
                    <a:pt x="4644" y="8656"/>
                  </a:cubicBezTo>
                  <a:cubicBezTo>
                    <a:pt x="4644" y="8585"/>
                    <a:pt x="4572" y="8502"/>
                    <a:pt x="4489" y="8490"/>
                  </a:cubicBezTo>
                  <a:cubicBezTo>
                    <a:pt x="2084" y="8144"/>
                    <a:pt x="346" y="6442"/>
                    <a:pt x="346" y="4430"/>
                  </a:cubicBezTo>
                  <a:cubicBezTo>
                    <a:pt x="346" y="2156"/>
                    <a:pt x="2608" y="310"/>
                    <a:pt x="5382" y="310"/>
                  </a:cubicBezTo>
                  <a:cubicBezTo>
                    <a:pt x="8168" y="310"/>
                    <a:pt x="10430" y="2156"/>
                    <a:pt x="10430" y="4430"/>
                  </a:cubicBezTo>
                  <a:cubicBezTo>
                    <a:pt x="10430" y="5370"/>
                    <a:pt x="10025" y="6287"/>
                    <a:pt x="9311" y="7013"/>
                  </a:cubicBezTo>
                  <a:cubicBezTo>
                    <a:pt x="9251" y="7097"/>
                    <a:pt x="9251" y="7192"/>
                    <a:pt x="9311" y="7252"/>
                  </a:cubicBezTo>
                  <a:cubicBezTo>
                    <a:pt x="9353" y="7281"/>
                    <a:pt x="9397" y="7296"/>
                    <a:pt x="9439" y="7296"/>
                  </a:cubicBezTo>
                  <a:cubicBezTo>
                    <a:pt x="9481" y="7296"/>
                    <a:pt x="9519" y="7281"/>
                    <a:pt x="9549" y="7252"/>
                  </a:cubicBezTo>
                  <a:cubicBezTo>
                    <a:pt x="10347" y="6466"/>
                    <a:pt x="10775" y="5454"/>
                    <a:pt x="10775" y="4430"/>
                  </a:cubicBezTo>
                  <a:cubicBezTo>
                    <a:pt x="10775" y="3263"/>
                    <a:pt x="10204" y="2144"/>
                    <a:pt x="9180" y="1286"/>
                  </a:cubicBezTo>
                  <a:cubicBezTo>
                    <a:pt x="8168" y="453"/>
                    <a:pt x="6811" y="1"/>
                    <a:pt x="5382" y="1"/>
                  </a:cubicBezTo>
                  <a:close/>
                </a:path>
              </a:pathLst>
            </a:custGeom>
            <a:solidFill>
              <a:srgbClr val="F40034"/>
            </a:solidFill>
            <a:ln>
              <a:noFill/>
            </a:ln>
          </p:spPr>
          <p:txBody>
            <a:bodyPr anchorCtr="0" anchor="ctr" bIns="41750" lIns="41750" spcFirstLastPara="1" rIns="41750" wrap="square" tIns="41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39"/>
                <a:buFont typeface="Arial"/>
                <a:buNone/>
              </a:pPr>
              <a:r>
                <a:t/>
              </a:r>
              <a:endParaRPr b="0" i="0" sz="63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5" name="Google Shape;335;p42"/>
          <p:cNvSpPr txBox="1"/>
          <p:nvPr/>
        </p:nvSpPr>
        <p:spPr>
          <a:xfrm>
            <a:off x="6886100" y="1551350"/>
            <a:ext cx="1542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Overpass SemiBold"/>
                <a:ea typeface="Overpass SemiBold"/>
                <a:cs typeface="Overpass SemiBold"/>
                <a:sym typeface="Overpass SemiBold"/>
              </a:rPr>
              <a:t>Observaciones </a:t>
            </a:r>
            <a:r>
              <a:rPr lang="es" sz="1100">
                <a:solidFill>
                  <a:srgbClr val="F40034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EEM</a:t>
            </a:r>
            <a:endParaRPr sz="1100">
              <a:solidFill>
                <a:srgbClr val="F40034"/>
              </a:solidFill>
              <a:latin typeface="Overpass SemiBold"/>
              <a:ea typeface="Overpass SemiBold"/>
              <a:cs typeface="Overpass SemiBold"/>
              <a:sym typeface="Overpass SemiBold"/>
            </a:endParaRPr>
          </a:p>
        </p:txBody>
      </p:sp>
      <p:sp>
        <p:nvSpPr>
          <p:cNvPr id="336" name="Google Shape;336;p42"/>
          <p:cNvSpPr/>
          <p:nvPr/>
        </p:nvSpPr>
        <p:spPr>
          <a:xfrm>
            <a:off x="2043400" y="1980425"/>
            <a:ext cx="4250700" cy="2699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Overpass"/>
                <a:ea typeface="Overpass"/>
                <a:cs typeface="Overpass"/>
                <a:sym typeface="Overpass"/>
              </a:rPr>
              <a:t>Origen Deterioro 6: </a:t>
            </a: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Deterioro por filiales.</a:t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Overpass"/>
                <a:ea typeface="Overpass"/>
                <a:cs typeface="Overpass"/>
                <a:sym typeface="Overpass"/>
              </a:rPr>
              <a:t>Criterio </a:t>
            </a:r>
            <a:r>
              <a:rPr b="1" lang="es" sz="1100">
                <a:latin typeface="Overpass"/>
                <a:ea typeface="Overpass"/>
                <a:cs typeface="Overpass"/>
                <a:sym typeface="Overpass"/>
              </a:rPr>
              <a:t>12</a:t>
            </a: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: Clientes Walmart</a:t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Overpass"/>
                <a:ea typeface="Overpass"/>
                <a:cs typeface="Overpass"/>
                <a:sym typeface="Overpass"/>
              </a:rPr>
              <a:t>Criterio 13</a:t>
            </a: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: Clientes Factoring</a:t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Overpass"/>
                <a:ea typeface="Overpass"/>
                <a:cs typeface="Overpass"/>
                <a:sym typeface="Overpass"/>
              </a:rPr>
              <a:t>Desc</a:t>
            </a:r>
            <a:r>
              <a:rPr b="1" lang="es" sz="1100">
                <a:latin typeface="Overpass"/>
                <a:ea typeface="Overpass"/>
                <a:cs typeface="Overpass"/>
                <a:sym typeface="Overpass"/>
              </a:rPr>
              <a:t>ripción</a:t>
            </a: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: Cliente en cartera deteriorada en alguna de las filiales del banco. </a:t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337" name="Google Shape;337;p42"/>
          <p:cNvSpPr/>
          <p:nvPr/>
        </p:nvSpPr>
        <p:spPr>
          <a:xfrm rot="5400000">
            <a:off x="-533550" y="1768925"/>
            <a:ext cx="3628500" cy="25611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40034"/>
          </a:solidFill>
          <a:ln cap="flat" cmpd="sng" w="9525">
            <a:solidFill>
              <a:srgbClr val="F400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38" name="Google Shape;338;p42"/>
          <p:cNvSpPr txBox="1"/>
          <p:nvPr>
            <p:ph type="title"/>
          </p:nvPr>
        </p:nvSpPr>
        <p:spPr>
          <a:xfrm>
            <a:off x="129750" y="516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verpass SemiBold"/>
                <a:ea typeface="Overpass SemiBold"/>
                <a:cs typeface="Overpass SemiBold"/>
                <a:sym typeface="Overpass SemiBold"/>
              </a:rPr>
              <a:t>Reglas de Entrada Cartera Deteriorada</a:t>
            </a:r>
            <a:endParaRPr>
              <a:latin typeface="Overpass SemiBold"/>
              <a:ea typeface="Overpass SemiBold"/>
              <a:cs typeface="Overpass SemiBold"/>
              <a:sym typeface="Overpass SemiBold"/>
            </a:endParaRPr>
          </a:p>
        </p:txBody>
      </p:sp>
      <p:pic>
        <p:nvPicPr>
          <p:cNvPr descr="Google Shape;197;p29" id="339" name="Google Shape;33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269" y="200090"/>
            <a:ext cx="908157" cy="169824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42"/>
          <p:cNvSpPr txBox="1"/>
          <p:nvPr/>
        </p:nvSpPr>
        <p:spPr>
          <a:xfrm>
            <a:off x="2632775" y="1551350"/>
            <a:ext cx="2304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Overpass SemiBold"/>
                <a:ea typeface="Overpass SemiBold"/>
                <a:cs typeface="Overpass SemiBold"/>
                <a:sym typeface="Overpass SemiBold"/>
              </a:rPr>
              <a:t>Documento de </a:t>
            </a:r>
            <a:r>
              <a:rPr lang="es" sz="1100">
                <a:solidFill>
                  <a:srgbClr val="F40034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Diseño TI</a:t>
            </a:r>
            <a:endParaRPr sz="1100">
              <a:solidFill>
                <a:srgbClr val="F40034"/>
              </a:solidFill>
              <a:latin typeface="Overpass SemiBold"/>
              <a:ea typeface="Overpass SemiBold"/>
              <a:cs typeface="Overpass SemiBold"/>
              <a:sym typeface="Overpass SemiBold"/>
            </a:endParaRPr>
          </a:p>
        </p:txBody>
      </p:sp>
      <p:sp>
        <p:nvSpPr>
          <p:cNvPr id="341" name="Google Shape;341;p42"/>
          <p:cNvSpPr txBox="1"/>
          <p:nvPr/>
        </p:nvSpPr>
        <p:spPr>
          <a:xfrm>
            <a:off x="179275" y="1466750"/>
            <a:ext cx="2382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Reglamento de Modelos de Provisiones por Riesgo de Crédito</a:t>
            </a:r>
            <a:endParaRPr sz="1100">
              <a:solidFill>
                <a:schemeClr val="lt1"/>
              </a:solidFill>
              <a:latin typeface="Overpass SemiBold"/>
              <a:ea typeface="Overpass SemiBold"/>
              <a:cs typeface="Overpass SemiBold"/>
              <a:sym typeface="Overpass SemiBold"/>
            </a:endParaRPr>
          </a:p>
        </p:txBody>
      </p:sp>
      <p:pic>
        <p:nvPicPr>
          <p:cNvPr descr="Imagen" id="342" name="Google Shape;342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85381" y="170344"/>
            <a:ext cx="508539" cy="229336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42"/>
          <p:cNvSpPr/>
          <p:nvPr/>
        </p:nvSpPr>
        <p:spPr>
          <a:xfrm>
            <a:off x="129750" y="1980425"/>
            <a:ext cx="2392800" cy="24354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126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Clientes que se deterioren en alguna de las filiales del Banco (Factoring, SSFF).</a:t>
            </a:r>
            <a:endParaRPr sz="11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344" name="Google Shape;344;p42"/>
          <p:cNvSpPr txBox="1"/>
          <p:nvPr/>
        </p:nvSpPr>
        <p:spPr>
          <a:xfrm>
            <a:off x="179275" y="1905350"/>
            <a:ext cx="381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4</a:t>
            </a:r>
            <a:r>
              <a:rPr lang="es" sz="15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.</a:t>
            </a:r>
            <a:endParaRPr sz="1500">
              <a:solidFill>
                <a:schemeClr val="lt1"/>
              </a:solidFill>
              <a:latin typeface="Overpass SemiBold"/>
              <a:ea typeface="Overpass SemiBold"/>
              <a:cs typeface="Overpass SemiBold"/>
              <a:sym typeface="Overpass SemiBold"/>
            </a:endParaRPr>
          </a:p>
        </p:txBody>
      </p:sp>
      <p:sp>
        <p:nvSpPr>
          <p:cNvPr id="345" name="Google Shape;345;p42"/>
          <p:cNvSpPr txBox="1"/>
          <p:nvPr/>
        </p:nvSpPr>
        <p:spPr>
          <a:xfrm>
            <a:off x="6341825" y="1988025"/>
            <a:ext cx="28023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Overpass"/>
                <a:ea typeface="Overpass"/>
                <a:cs typeface="Overpass"/>
                <a:sym typeface="Overpass"/>
              </a:rPr>
              <a:t>Riesgo asociado</a:t>
            </a: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: </a:t>
            </a: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Existe un desfase entre el envío de la cartera deteriorada de Lider Bci y su marca de deterioro final, esto provoca que </a:t>
            </a:r>
            <a:r>
              <a:rPr b="1" lang="es" sz="1100">
                <a:solidFill>
                  <a:srgbClr val="EA3327"/>
                </a:solidFill>
                <a:latin typeface="Overpass"/>
                <a:ea typeface="Overpass"/>
                <a:cs typeface="Overpass"/>
                <a:sym typeface="Overpass"/>
              </a:rPr>
              <a:t>clientes que fueron marcados de manera preventiva por la filial, sean deteriorados por el banco sin haber entrado a incumplimiento</a:t>
            </a: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, generando inconsistencias en los criterios de salida.</a:t>
            </a: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 </a:t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Overpass"/>
                <a:ea typeface="Overpass"/>
                <a:cs typeface="Overpass"/>
                <a:sym typeface="Overpass"/>
              </a:rPr>
              <a:t>Oportunidad de mejora</a:t>
            </a: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: Se solicitó regularizar el envío de la cartera deteriorada de Lider Bci con la marca de deterioro final a partir del cierre de septiembre 2025.</a:t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3"/>
          <p:cNvSpPr txBox="1"/>
          <p:nvPr/>
        </p:nvSpPr>
        <p:spPr>
          <a:xfrm>
            <a:off x="5846250" y="1989950"/>
            <a:ext cx="3297600" cy="2697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351" name="Google Shape;351;p43"/>
          <p:cNvGrpSpPr/>
          <p:nvPr/>
        </p:nvGrpSpPr>
        <p:grpSpPr>
          <a:xfrm>
            <a:off x="6402547" y="1487127"/>
            <a:ext cx="483564" cy="482452"/>
            <a:chOff x="1745217" y="1515471"/>
            <a:chExt cx="343269" cy="342505"/>
          </a:xfrm>
        </p:grpSpPr>
        <p:sp>
          <p:nvSpPr>
            <p:cNvPr id="352" name="Google Shape;352;p43"/>
            <p:cNvSpPr/>
            <p:nvPr/>
          </p:nvSpPr>
          <p:spPr>
            <a:xfrm>
              <a:off x="1854448" y="1647096"/>
              <a:ext cx="22012" cy="21630"/>
            </a:xfrm>
            <a:custGeom>
              <a:rect b="b" l="l" r="r" t="t"/>
              <a:pathLst>
                <a:path extrusionOk="0" h="679" w="691">
                  <a:moveTo>
                    <a:pt x="346" y="0"/>
                  </a:moveTo>
                  <a:cubicBezTo>
                    <a:pt x="155" y="0"/>
                    <a:pt x="0" y="155"/>
                    <a:pt x="0" y="345"/>
                  </a:cubicBezTo>
                  <a:cubicBezTo>
                    <a:pt x="0" y="536"/>
                    <a:pt x="155" y="679"/>
                    <a:pt x="346" y="679"/>
                  </a:cubicBezTo>
                  <a:cubicBezTo>
                    <a:pt x="536" y="679"/>
                    <a:pt x="691" y="536"/>
                    <a:pt x="691" y="345"/>
                  </a:cubicBezTo>
                  <a:cubicBezTo>
                    <a:pt x="691" y="155"/>
                    <a:pt x="536" y="0"/>
                    <a:pt x="346" y="0"/>
                  </a:cubicBezTo>
                  <a:close/>
                </a:path>
              </a:pathLst>
            </a:custGeom>
            <a:solidFill>
              <a:srgbClr val="005FFF"/>
            </a:solidFill>
            <a:ln>
              <a:noFill/>
            </a:ln>
          </p:spPr>
          <p:txBody>
            <a:bodyPr anchorCtr="0" anchor="ctr" bIns="41750" lIns="41750" spcFirstLastPara="1" rIns="41750" wrap="square" tIns="41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39"/>
                <a:buFont typeface="Arial"/>
                <a:buNone/>
              </a:pPr>
              <a:r>
                <a:t/>
              </a:r>
              <a:endParaRPr b="0" i="0" sz="63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43"/>
            <p:cNvSpPr/>
            <p:nvPr/>
          </p:nvSpPr>
          <p:spPr>
            <a:xfrm>
              <a:off x="1906021" y="1647096"/>
              <a:ext cx="21661" cy="21630"/>
            </a:xfrm>
            <a:custGeom>
              <a:rect b="b" l="l" r="r" t="t"/>
              <a:pathLst>
                <a:path extrusionOk="0" h="679" w="680">
                  <a:moveTo>
                    <a:pt x="334" y="0"/>
                  </a:moveTo>
                  <a:cubicBezTo>
                    <a:pt x="143" y="0"/>
                    <a:pt x="0" y="155"/>
                    <a:pt x="0" y="345"/>
                  </a:cubicBezTo>
                  <a:cubicBezTo>
                    <a:pt x="0" y="536"/>
                    <a:pt x="143" y="679"/>
                    <a:pt x="334" y="679"/>
                  </a:cubicBezTo>
                  <a:cubicBezTo>
                    <a:pt x="524" y="679"/>
                    <a:pt x="679" y="536"/>
                    <a:pt x="679" y="345"/>
                  </a:cubicBezTo>
                  <a:cubicBezTo>
                    <a:pt x="679" y="155"/>
                    <a:pt x="524" y="0"/>
                    <a:pt x="334" y="0"/>
                  </a:cubicBezTo>
                  <a:close/>
                </a:path>
              </a:pathLst>
            </a:custGeom>
            <a:solidFill>
              <a:srgbClr val="005FFF"/>
            </a:solidFill>
            <a:ln>
              <a:noFill/>
            </a:ln>
          </p:spPr>
          <p:txBody>
            <a:bodyPr anchorCtr="0" anchor="ctr" bIns="41750" lIns="41750" spcFirstLastPara="1" rIns="41750" wrap="square" tIns="41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39"/>
                <a:buFont typeface="Arial"/>
                <a:buNone/>
              </a:pPr>
              <a:r>
                <a:t/>
              </a:r>
              <a:endParaRPr b="0" i="0" sz="63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43"/>
            <p:cNvSpPr/>
            <p:nvPr/>
          </p:nvSpPr>
          <p:spPr>
            <a:xfrm>
              <a:off x="1956830" y="1647096"/>
              <a:ext cx="22044" cy="21630"/>
            </a:xfrm>
            <a:custGeom>
              <a:rect b="b" l="l" r="r" t="t"/>
              <a:pathLst>
                <a:path extrusionOk="0" h="679" w="692">
                  <a:moveTo>
                    <a:pt x="346" y="0"/>
                  </a:moveTo>
                  <a:cubicBezTo>
                    <a:pt x="156" y="0"/>
                    <a:pt x="1" y="155"/>
                    <a:pt x="1" y="345"/>
                  </a:cubicBezTo>
                  <a:cubicBezTo>
                    <a:pt x="1" y="536"/>
                    <a:pt x="156" y="679"/>
                    <a:pt x="346" y="679"/>
                  </a:cubicBezTo>
                  <a:cubicBezTo>
                    <a:pt x="537" y="679"/>
                    <a:pt x="691" y="536"/>
                    <a:pt x="691" y="345"/>
                  </a:cubicBezTo>
                  <a:cubicBezTo>
                    <a:pt x="691" y="155"/>
                    <a:pt x="537" y="0"/>
                    <a:pt x="346" y="0"/>
                  </a:cubicBezTo>
                  <a:close/>
                </a:path>
              </a:pathLst>
            </a:custGeom>
            <a:solidFill>
              <a:srgbClr val="005FFF"/>
            </a:solidFill>
            <a:ln>
              <a:noFill/>
            </a:ln>
          </p:spPr>
          <p:txBody>
            <a:bodyPr anchorCtr="0" anchor="ctr" bIns="41750" lIns="41750" spcFirstLastPara="1" rIns="41750" wrap="square" tIns="41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39"/>
                <a:buFont typeface="Arial"/>
                <a:buNone/>
              </a:pPr>
              <a:r>
                <a:t/>
              </a:r>
              <a:endParaRPr b="0" i="0" sz="63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43"/>
            <p:cNvSpPr/>
            <p:nvPr/>
          </p:nvSpPr>
          <p:spPr>
            <a:xfrm>
              <a:off x="1745217" y="1515471"/>
              <a:ext cx="343269" cy="342505"/>
            </a:xfrm>
            <a:custGeom>
              <a:rect b="b" l="l" r="r" t="t"/>
              <a:pathLst>
                <a:path extrusionOk="0" h="10752" w="10776">
                  <a:moveTo>
                    <a:pt x="5382" y="1"/>
                  </a:moveTo>
                  <a:cubicBezTo>
                    <a:pt x="3953" y="1"/>
                    <a:pt x="2608" y="453"/>
                    <a:pt x="1596" y="1286"/>
                  </a:cubicBezTo>
                  <a:cubicBezTo>
                    <a:pt x="560" y="2144"/>
                    <a:pt x="0" y="3251"/>
                    <a:pt x="0" y="4465"/>
                  </a:cubicBezTo>
                  <a:cubicBezTo>
                    <a:pt x="0" y="5513"/>
                    <a:pt x="465" y="6561"/>
                    <a:pt x="1274" y="7359"/>
                  </a:cubicBezTo>
                  <a:cubicBezTo>
                    <a:pt x="2072" y="8121"/>
                    <a:pt x="3120" y="8645"/>
                    <a:pt x="4298" y="8835"/>
                  </a:cubicBezTo>
                  <a:cubicBezTo>
                    <a:pt x="4310" y="9442"/>
                    <a:pt x="4108" y="10014"/>
                    <a:pt x="3703" y="10478"/>
                  </a:cubicBezTo>
                  <a:cubicBezTo>
                    <a:pt x="3655" y="10514"/>
                    <a:pt x="3644" y="10597"/>
                    <a:pt x="3679" y="10657"/>
                  </a:cubicBezTo>
                  <a:cubicBezTo>
                    <a:pt x="3703" y="10704"/>
                    <a:pt x="3763" y="10752"/>
                    <a:pt x="3834" y="10752"/>
                  </a:cubicBezTo>
                  <a:cubicBezTo>
                    <a:pt x="5025" y="10752"/>
                    <a:pt x="6084" y="9966"/>
                    <a:pt x="6442" y="8835"/>
                  </a:cubicBezTo>
                  <a:cubicBezTo>
                    <a:pt x="7406" y="8668"/>
                    <a:pt x="8287" y="8299"/>
                    <a:pt x="9013" y="7752"/>
                  </a:cubicBezTo>
                  <a:cubicBezTo>
                    <a:pt x="9097" y="7692"/>
                    <a:pt x="9109" y="7585"/>
                    <a:pt x="9049" y="7513"/>
                  </a:cubicBezTo>
                  <a:cubicBezTo>
                    <a:pt x="9014" y="7465"/>
                    <a:pt x="8963" y="7441"/>
                    <a:pt x="8913" y="7441"/>
                  </a:cubicBezTo>
                  <a:cubicBezTo>
                    <a:pt x="8877" y="7441"/>
                    <a:pt x="8841" y="7453"/>
                    <a:pt x="8811" y="7478"/>
                  </a:cubicBezTo>
                  <a:cubicBezTo>
                    <a:pt x="8096" y="8014"/>
                    <a:pt x="7215" y="8371"/>
                    <a:pt x="6275" y="8502"/>
                  </a:cubicBezTo>
                  <a:cubicBezTo>
                    <a:pt x="6203" y="8525"/>
                    <a:pt x="6156" y="8561"/>
                    <a:pt x="6132" y="8621"/>
                  </a:cubicBezTo>
                  <a:cubicBezTo>
                    <a:pt x="5894" y="9549"/>
                    <a:pt x="5120" y="10216"/>
                    <a:pt x="4215" y="10371"/>
                  </a:cubicBezTo>
                  <a:cubicBezTo>
                    <a:pt x="4537" y="9859"/>
                    <a:pt x="4703" y="9264"/>
                    <a:pt x="4644" y="8656"/>
                  </a:cubicBezTo>
                  <a:cubicBezTo>
                    <a:pt x="4644" y="8585"/>
                    <a:pt x="4572" y="8502"/>
                    <a:pt x="4489" y="8490"/>
                  </a:cubicBezTo>
                  <a:cubicBezTo>
                    <a:pt x="2084" y="8144"/>
                    <a:pt x="346" y="6442"/>
                    <a:pt x="346" y="4430"/>
                  </a:cubicBezTo>
                  <a:cubicBezTo>
                    <a:pt x="346" y="2156"/>
                    <a:pt x="2608" y="310"/>
                    <a:pt x="5382" y="310"/>
                  </a:cubicBezTo>
                  <a:cubicBezTo>
                    <a:pt x="8168" y="310"/>
                    <a:pt x="10430" y="2156"/>
                    <a:pt x="10430" y="4430"/>
                  </a:cubicBezTo>
                  <a:cubicBezTo>
                    <a:pt x="10430" y="5370"/>
                    <a:pt x="10025" y="6287"/>
                    <a:pt x="9311" y="7013"/>
                  </a:cubicBezTo>
                  <a:cubicBezTo>
                    <a:pt x="9251" y="7097"/>
                    <a:pt x="9251" y="7192"/>
                    <a:pt x="9311" y="7252"/>
                  </a:cubicBezTo>
                  <a:cubicBezTo>
                    <a:pt x="9353" y="7281"/>
                    <a:pt x="9397" y="7296"/>
                    <a:pt x="9439" y="7296"/>
                  </a:cubicBezTo>
                  <a:cubicBezTo>
                    <a:pt x="9481" y="7296"/>
                    <a:pt x="9519" y="7281"/>
                    <a:pt x="9549" y="7252"/>
                  </a:cubicBezTo>
                  <a:cubicBezTo>
                    <a:pt x="10347" y="6466"/>
                    <a:pt x="10775" y="5454"/>
                    <a:pt x="10775" y="4430"/>
                  </a:cubicBezTo>
                  <a:cubicBezTo>
                    <a:pt x="10775" y="3263"/>
                    <a:pt x="10204" y="2144"/>
                    <a:pt x="9180" y="1286"/>
                  </a:cubicBezTo>
                  <a:cubicBezTo>
                    <a:pt x="8168" y="453"/>
                    <a:pt x="6811" y="1"/>
                    <a:pt x="5382" y="1"/>
                  </a:cubicBezTo>
                  <a:close/>
                </a:path>
              </a:pathLst>
            </a:custGeom>
            <a:solidFill>
              <a:srgbClr val="005FFF"/>
            </a:solidFill>
            <a:ln>
              <a:noFill/>
            </a:ln>
          </p:spPr>
          <p:txBody>
            <a:bodyPr anchorCtr="0" anchor="ctr" bIns="41750" lIns="41750" spcFirstLastPara="1" rIns="41750" wrap="square" tIns="41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39"/>
                <a:buFont typeface="Arial"/>
                <a:buNone/>
              </a:pPr>
              <a:r>
                <a:t/>
              </a:r>
              <a:endParaRPr b="0" i="0" sz="63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6" name="Google Shape;356;p43"/>
          <p:cNvSpPr txBox="1"/>
          <p:nvPr/>
        </p:nvSpPr>
        <p:spPr>
          <a:xfrm>
            <a:off x="6886100" y="1551350"/>
            <a:ext cx="1612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Overpass SemiBold"/>
                <a:ea typeface="Overpass SemiBold"/>
                <a:cs typeface="Overpass SemiBold"/>
                <a:sym typeface="Overpass SemiBold"/>
              </a:rPr>
              <a:t>Observaciones </a:t>
            </a:r>
            <a:r>
              <a:rPr lang="es" sz="1100">
                <a:solidFill>
                  <a:srgbClr val="005FFF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EEM</a:t>
            </a:r>
            <a:endParaRPr sz="1100">
              <a:solidFill>
                <a:srgbClr val="005FFF"/>
              </a:solidFill>
              <a:latin typeface="Overpass SemiBold"/>
              <a:ea typeface="Overpass SemiBold"/>
              <a:cs typeface="Overpass SemiBold"/>
              <a:sym typeface="Overpass SemiBold"/>
            </a:endParaRPr>
          </a:p>
        </p:txBody>
      </p:sp>
      <p:sp>
        <p:nvSpPr>
          <p:cNvPr id="357" name="Google Shape;357;p43"/>
          <p:cNvSpPr/>
          <p:nvPr/>
        </p:nvSpPr>
        <p:spPr>
          <a:xfrm>
            <a:off x="2043400" y="1980425"/>
            <a:ext cx="4250700" cy="2706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Origen Deterioro 4</a:t>
            </a:r>
            <a:r>
              <a:rPr lang="es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:</a:t>
            </a:r>
            <a:r>
              <a:rPr lang="es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 Deterioro propio por curse bajo mora.</a:t>
            </a:r>
            <a:endParaRPr sz="1100">
              <a:solidFill>
                <a:schemeClr val="dk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Criterio 10</a:t>
            </a:r>
            <a:r>
              <a:rPr lang="es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: Cliente con curse de operación de venta bajo mora. </a:t>
            </a:r>
            <a:endParaRPr sz="1100">
              <a:solidFill>
                <a:schemeClr val="dk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Descripción</a:t>
            </a:r>
            <a:r>
              <a:rPr lang="es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:  Si la operación es de tipo venta y fue cursada mientras existía una operación con mora en el día anterior, esta operación de venta es considerada como una operación con curse bajo mora. </a:t>
            </a:r>
            <a:endParaRPr sz="1100">
              <a:solidFill>
                <a:schemeClr val="dk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rgbClr val="005FFF"/>
                </a:solidFill>
                <a:latin typeface="Overpass"/>
                <a:ea typeface="Overpass"/>
                <a:cs typeface="Overpass"/>
                <a:sym typeface="Overpass"/>
              </a:rPr>
              <a:t>*</a:t>
            </a:r>
            <a:r>
              <a:rPr lang="es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Condición </a:t>
            </a:r>
            <a:r>
              <a:rPr b="1" lang="es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cod_oren </a:t>
            </a:r>
            <a:r>
              <a:rPr lang="es" sz="1100">
                <a:solidFill>
                  <a:srgbClr val="FFAC00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s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'S' o </a:t>
            </a:r>
            <a:r>
              <a:rPr lang="es" sz="1100">
                <a:solidFill>
                  <a:srgbClr val="FFAC00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s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'C'.</a:t>
            </a:r>
            <a:endParaRPr b="1" sz="11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358" name="Google Shape;358;p43"/>
          <p:cNvSpPr/>
          <p:nvPr/>
        </p:nvSpPr>
        <p:spPr>
          <a:xfrm rot="5400000">
            <a:off x="-533550" y="1768925"/>
            <a:ext cx="3628500" cy="25611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005FFF"/>
          </a:solidFill>
          <a:ln cap="flat" cmpd="sng" w="9525">
            <a:solidFill>
              <a:srgbClr val="005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59" name="Google Shape;359;p43"/>
          <p:cNvSpPr txBox="1"/>
          <p:nvPr>
            <p:ph type="title"/>
          </p:nvPr>
        </p:nvSpPr>
        <p:spPr>
          <a:xfrm>
            <a:off x="129750" y="516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verpass SemiBold"/>
                <a:ea typeface="Overpass SemiBold"/>
                <a:cs typeface="Overpass SemiBold"/>
                <a:sym typeface="Overpass SemiBold"/>
              </a:rPr>
              <a:t>Reglas de Entrada Cartera Deteriorada</a:t>
            </a:r>
            <a:endParaRPr>
              <a:latin typeface="Overpass SemiBold"/>
              <a:ea typeface="Overpass SemiBold"/>
              <a:cs typeface="Overpass SemiBold"/>
              <a:sym typeface="Overpass SemiBold"/>
            </a:endParaRPr>
          </a:p>
        </p:txBody>
      </p:sp>
      <p:pic>
        <p:nvPicPr>
          <p:cNvPr descr="Google Shape;197;p29" id="360" name="Google Shape;360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269" y="200090"/>
            <a:ext cx="908157" cy="169824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43"/>
          <p:cNvSpPr txBox="1"/>
          <p:nvPr/>
        </p:nvSpPr>
        <p:spPr>
          <a:xfrm>
            <a:off x="2632775" y="1551350"/>
            <a:ext cx="2304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Overpass SemiBold"/>
                <a:ea typeface="Overpass SemiBold"/>
                <a:cs typeface="Overpass SemiBold"/>
                <a:sym typeface="Overpass SemiBold"/>
              </a:rPr>
              <a:t>Documento de </a:t>
            </a:r>
            <a:r>
              <a:rPr lang="es" sz="1100">
                <a:solidFill>
                  <a:srgbClr val="005FFF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Diseño TI</a:t>
            </a:r>
            <a:endParaRPr sz="1100">
              <a:solidFill>
                <a:srgbClr val="005FFF"/>
              </a:solidFill>
              <a:latin typeface="Overpass SemiBold"/>
              <a:ea typeface="Overpass SemiBold"/>
              <a:cs typeface="Overpass SemiBold"/>
              <a:sym typeface="Overpass SemiBold"/>
            </a:endParaRPr>
          </a:p>
        </p:txBody>
      </p:sp>
      <p:sp>
        <p:nvSpPr>
          <p:cNvPr id="362" name="Google Shape;362;p43"/>
          <p:cNvSpPr txBox="1"/>
          <p:nvPr/>
        </p:nvSpPr>
        <p:spPr>
          <a:xfrm>
            <a:off x="179275" y="1466750"/>
            <a:ext cx="2382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Reglamento de Modelos de Provisiones por Riesgo de Crédito</a:t>
            </a:r>
            <a:endParaRPr sz="1100">
              <a:solidFill>
                <a:schemeClr val="lt1"/>
              </a:solidFill>
              <a:latin typeface="Overpass SemiBold"/>
              <a:ea typeface="Overpass SemiBold"/>
              <a:cs typeface="Overpass SemiBold"/>
              <a:sym typeface="Overpass SemiBold"/>
            </a:endParaRPr>
          </a:p>
        </p:txBody>
      </p:sp>
      <p:pic>
        <p:nvPicPr>
          <p:cNvPr descr="Imagen" id="363" name="Google Shape;363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85381" y="170344"/>
            <a:ext cx="508539" cy="229336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43"/>
          <p:cNvSpPr/>
          <p:nvPr/>
        </p:nvSpPr>
        <p:spPr>
          <a:xfrm>
            <a:off x="179275" y="1980425"/>
            <a:ext cx="2343300" cy="24354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126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Operaciones marcadas como reestructuraciones forzosas: Son todos los curses de créditos que tengan más de 3 meses de gracia y/o que sea una reestructuración consecutiva a una anterior, de las carteras de Consumo o Comercial.</a:t>
            </a:r>
            <a:endParaRPr sz="11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365" name="Google Shape;365;p43"/>
          <p:cNvSpPr txBox="1"/>
          <p:nvPr/>
        </p:nvSpPr>
        <p:spPr>
          <a:xfrm>
            <a:off x="179275" y="1905350"/>
            <a:ext cx="381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5</a:t>
            </a:r>
            <a:r>
              <a:rPr lang="es" sz="15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.</a:t>
            </a:r>
            <a:endParaRPr sz="1500">
              <a:solidFill>
                <a:schemeClr val="lt1"/>
              </a:solidFill>
              <a:latin typeface="Overpass SemiBold"/>
              <a:ea typeface="Overpass SemiBold"/>
              <a:cs typeface="Overpass SemiBold"/>
              <a:sym typeface="Overpass SemiBold"/>
            </a:endParaRPr>
          </a:p>
        </p:txBody>
      </p:sp>
      <p:sp>
        <p:nvSpPr>
          <p:cNvPr id="366" name="Google Shape;366;p43"/>
          <p:cNvSpPr txBox="1"/>
          <p:nvPr/>
        </p:nvSpPr>
        <p:spPr>
          <a:xfrm>
            <a:off x="6357269" y="2013164"/>
            <a:ext cx="27798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Overpass"/>
                <a:ea typeface="Overpass"/>
                <a:cs typeface="Overpass"/>
                <a:sym typeface="Overpass"/>
              </a:rPr>
              <a:t>Ries</a:t>
            </a:r>
            <a:r>
              <a:rPr b="1" lang="es" sz="1100">
                <a:latin typeface="Overpass"/>
                <a:ea typeface="Overpass"/>
                <a:cs typeface="Overpass"/>
                <a:sym typeface="Overpass"/>
              </a:rPr>
              <a:t>go asociado</a:t>
            </a: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: </a:t>
            </a:r>
            <a:r>
              <a:rPr lang="es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A la fecha no se observan riesgos asociados a este criterio.</a:t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Overpass"/>
                <a:ea typeface="Overpass"/>
                <a:cs typeface="Overpass"/>
                <a:sym typeface="Overpass"/>
              </a:rPr>
              <a:t>Oportunidad de mejora</a:t>
            </a: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: </a:t>
            </a: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Sin oportunidades de mejora para recomendar.</a:t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4"/>
          <p:cNvSpPr txBox="1"/>
          <p:nvPr/>
        </p:nvSpPr>
        <p:spPr>
          <a:xfrm>
            <a:off x="5846250" y="1989950"/>
            <a:ext cx="3297600" cy="269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372" name="Google Shape;372;p44"/>
          <p:cNvGrpSpPr/>
          <p:nvPr/>
        </p:nvGrpSpPr>
        <p:grpSpPr>
          <a:xfrm>
            <a:off x="6402547" y="1487127"/>
            <a:ext cx="483564" cy="482452"/>
            <a:chOff x="1745217" y="1515471"/>
            <a:chExt cx="343269" cy="342505"/>
          </a:xfrm>
        </p:grpSpPr>
        <p:sp>
          <p:nvSpPr>
            <p:cNvPr id="373" name="Google Shape;373;p44"/>
            <p:cNvSpPr/>
            <p:nvPr/>
          </p:nvSpPr>
          <p:spPr>
            <a:xfrm>
              <a:off x="1854448" y="1647096"/>
              <a:ext cx="22012" cy="21630"/>
            </a:xfrm>
            <a:custGeom>
              <a:rect b="b" l="l" r="r" t="t"/>
              <a:pathLst>
                <a:path extrusionOk="0" h="679" w="691">
                  <a:moveTo>
                    <a:pt x="346" y="0"/>
                  </a:moveTo>
                  <a:cubicBezTo>
                    <a:pt x="155" y="0"/>
                    <a:pt x="0" y="155"/>
                    <a:pt x="0" y="345"/>
                  </a:cubicBezTo>
                  <a:cubicBezTo>
                    <a:pt x="0" y="536"/>
                    <a:pt x="155" y="679"/>
                    <a:pt x="346" y="679"/>
                  </a:cubicBezTo>
                  <a:cubicBezTo>
                    <a:pt x="536" y="679"/>
                    <a:pt x="691" y="536"/>
                    <a:pt x="691" y="345"/>
                  </a:cubicBezTo>
                  <a:cubicBezTo>
                    <a:pt x="691" y="155"/>
                    <a:pt x="536" y="0"/>
                    <a:pt x="346" y="0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anchorCtr="0" anchor="ctr" bIns="41750" lIns="41750" spcFirstLastPara="1" rIns="41750" wrap="square" tIns="41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39"/>
                <a:buFont typeface="Arial"/>
                <a:buNone/>
              </a:pPr>
              <a:r>
                <a:t/>
              </a:r>
              <a:endParaRPr b="0" i="0" sz="63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44"/>
            <p:cNvSpPr/>
            <p:nvPr/>
          </p:nvSpPr>
          <p:spPr>
            <a:xfrm>
              <a:off x="1906021" y="1647096"/>
              <a:ext cx="21661" cy="21630"/>
            </a:xfrm>
            <a:custGeom>
              <a:rect b="b" l="l" r="r" t="t"/>
              <a:pathLst>
                <a:path extrusionOk="0" h="679" w="680">
                  <a:moveTo>
                    <a:pt x="334" y="0"/>
                  </a:moveTo>
                  <a:cubicBezTo>
                    <a:pt x="143" y="0"/>
                    <a:pt x="0" y="155"/>
                    <a:pt x="0" y="345"/>
                  </a:cubicBezTo>
                  <a:cubicBezTo>
                    <a:pt x="0" y="536"/>
                    <a:pt x="143" y="679"/>
                    <a:pt x="334" y="679"/>
                  </a:cubicBezTo>
                  <a:cubicBezTo>
                    <a:pt x="524" y="679"/>
                    <a:pt x="679" y="536"/>
                    <a:pt x="679" y="345"/>
                  </a:cubicBezTo>
                  <a:cubicBezTo>
                    <a:pt x="679" y="155"/>
                    <a:pt x="524" y="0"/>
                    <a:pt x="334" y="0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anchorCtr="0" anchor="ctr" bIns="41750" lIns="41750" spcFirstLastPara="1" rIns="41750" wrap="square" tIns="41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39"/>
                <a:buFont typeface="Arial"/>
                <a:buNone/>
              </a:pPr>
              <a:r>
                <a:t/>
              </a:r>
              <a:endParaRPr b="0" i="0" sz="63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44"/>
            <p:cNvSpPr/>
            <p:nvPr/>
          </p:nvSpPr>
          <p:spPr>
            <a:xfrm>
              <a:off x="1956830" y="1647096"/>
              <a:ext cx="22044" cy="21630"/>
            </a:xfrm>
            <a:custGeom>
              <a:rect b="b" l="l" r="r" t="t"/>
              <a:pathLst>
                <a:path extrusionOk="0" h="679" w="692">
                  <a:moveTo>
                    <a:pt x="346" y="0"/>
                  </a:moveTo>
                  <a:cubicBezTo>
                    <a:pt x="156" y="0"/>
                    <a:pt x="1" y="155"/>
                    <a:pt x="1" y="345"/>
                  </a:cubicBezTo>
                  <a:cubicBezTo>
                    <a:pt x="1" y="536"/>
                    <a:pt x="156" y="679"/>
                    <a:pt x="346" y="679"/>
                  </a:cubicBezTo>
                  <a:cubicBezTo>
                    <a:pt x="537" y="679"/>
                    <a:pt x="691" y="536"/>
                    <a:pt x="691" y="345"/>
                  </a:cubicBezTo>
                  <a:cubicBezTo>
                    <a:pt x="691" y="155"/>
                    <a:pt x="537" y="0"/>
                    <a:pt x="346" y="0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anchorCtr="0" anchor="ctr" bIns="41750" lIns="41750" spcFirstLastPara="1" rIns="41750" wrap="square" tIns="41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39"/>
                <a:buFont typeface="Arial"/>
                <a:buNone/>
              </a:pPr>
              <a:r>
                <a:t/>
              </a:r>
              <a:endParaRPr b="0" i="0" sz="63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44"/>
            <p:cNvSpPr/>
            <p:nvPr/>
          </p:nvSpPr>
          <p:spPr>
            <a:xfrm>
              <a:off x="1745217" y="1515471"/>
              <a:ext cx="343269" cy="342505"/>
            </a:xfrm>
            <a:custGeom>
              <a:rect b="b" l="l" r="r" t="t"/>
              <a:pathLst>
                <a:path extrusionOk="0" h="10752" w="10776">
                  <a:moveTo>
                    <a:pt x="5382" y="1"/>
                  </a:moveTo>
                  <a:cubicBezTo>
                    <a:pt x="3953" y="1"/>
                    <a:pt x="2608" y="453"/>
                    <a:pt x="1596" y="1286"/>
                  </a:cubicBezTo>
                  <a:cubicBezTo>
                    <a:pt x="560" y="2144"/>
                    <a:pt x="0" y="3251"/>
                    <a:pt x="0" y="4465"/>
                  </a:cubicBezTo>
                  <a:cubicBezTo>
                    <a:pt x="0" y="5513"/>
                    <a:pt x="465" y="6561"/>
                    <a:pt x="1274" y="7359"/>
                  </a:cubicBezTo>
                  <a:cubicBezTo>
                    <a:pt x="2072" y="8121"/>
                    <a:pt x="3120" y="8645"/>
                    <a:pt x="4298" y="8835"/>
                  </a:cubicBezTo>
                  <a:cubicBezTo>
                    <a:pt x="4310" y="9442"/>
                    <a:pt x="4108" y="10014"/>
                    <a:pt x="3703" y="10478"/>
                  </a:cubicBezTo>
                  <a:cubicBezTo>
                    <a:pt x="3655" y="10514"/>
                    <a:pt x="3644" y="10597"/>
                    <a:pt x="3679" y="10657"/>
                  </a:cubicBezTo>
                  <a:cubicBezTo>
                    <a:pt x="3703" y="10704"/>
                    <a:pt x="3763" y="10752"/>
                    <a:pt x="3834" y="10752"/>
                  </a:cubicBezTo>
                  <a:cubicBezTo>
                    <a:pt x="5025" y="10752"/>
                    <a:pt x="6084" y="9966"/>
                    <a:pt x="6442" y="8835"/>
                  </a:cubicBezTo>
                  <a:cubicBezTo>
                    <a:pt x="7406" y="8668"/>
                    <a:pt x="8287" y="8299"/>
                    <a:pt x="9013" y="7752"/>
                  </a:cubicBezTo>
                  <a:cubicBezTo>
                    <a:pt x="9097" y="7692"/>
                    <a:pt x="9109" y="7585"/>
                    <a:pt x="9049" y="7513"/>
                  </a:cubicBezTo>
                  <a:cubicBezTo>
                    <a:pt x="9014" y="7465"/>
                    <a:pt x="8963" y="7441"/>
                    <a:pt x="8913" y="7441"/>
                  </a:cubicBezTo>
                  <a:cubicBezTo>
                    <a:pt x="8877" y="7441"/>
                    <a:pt x="8841" y="7453"/>
                    <a:pt x="8811" y="7478"/>
                  </a:cubicBezTo>
                  <a:cubicBezTo>
                    <a:pt x="8096" y="8014"/>
                    <a:pt x="7215" y="8371"/>
                    <a:pt x="6275" y="8502"/>
                  </a:cubicBezTo>
                  <a:cubicBezTo>
                    <a:pt x="6203" y="8525"/>
                    <a:pt x="6156" y="8561"/>
                    <a:pt x="6132" y="8621"/>
                  </a:cubicBezTo>
                  <a:cubicBezTo>
                    <a:pt x="5894" y="9549"/>
                    <a:pt x="5120" y="10216"/>
                    <a:pt x="4215" y="10371"/>
                  </a:cubicBezTo>
                  <a:cubicBezTo>
                    <a:pt x="4537" y="9859"/>
                    <a:pt x="4703" y="9264"/>
                    <a:pt x="4644" y="8656"/>
                  </a:cubicBezTo>
                  <a:cubicBezTo>
                    <a:pt x="4644" y="8585"/>
                    <a:pt x="4572" y="8502"/>
                    <a:pt x="4489" y="8490"/>
                  </a:cubicBezTo>
                  <a:cubicBezTo>
                    <a:pt x="2084" y="8144"/>
                    <a:pt x="346" y="6442"/>
                    <a:pt x="346" y="4430"/>
                  </a:cubicBezTo>
                  <a:cubicBezTo>
                    <a:pt x="346" y="2156"/>
                    <a:pt x="2608" y="310"/>
                    <a:pt x="5382" y="310"/>
                  </a:cubicBezTo>
                  <a:cubicBezTo>
                    <a:pt x="8168" y="310"/>
                    <a:pt x="10430" y="2156"/>
                    <a:pt x="10430" y="4430"/>
                  </a:cubicBezTo>
                  <a:cubicBezTo>
                    <a:pt x="10430" y="5370"/>
                    <a:pt x="10025" y="6287"/>
                    <a:pt x="9311" y="7013"/>
                  </a:cubicBezTo>
                  <a:cubicBezTo>
                    <a:pt x="9251" y="7097"/>
                    <a:pt x="9251" y="7192"/>
                    <a:pt x="9311" y="7252"/>
                  </a:cubicBezTo>
                  <a:cubicBezTo>
                    <a:pt x="9353" y="7281"/>
                    <a:pt x="9397" y="7296"/>
                    <a:pt x="9439" y="7296"/>
                  </a:cubicBezTo>
                  <a:cubicBezTo>
                    <a:pt x="9481" y="7296"/>
                    <a:pt x="9519" y="7281"/>
                    <a:pt x="9549" y="7252"/>
                  </a:cubicBezTo>
                  <a:cubicBezTo>
                    <a:pt x="10347" y="6466"/>
                    <a:pt x="10775" y="5454"/>
                    <a:pt x="10775" y="4430"/>
                  </a:cubicBezTo>
                  <a:cubicBezTo>
                    <a:pt x="10775" y="3263"/>
                    <a:pt x="10204" y="2144"/>
                    <a:pt x="9180" y="1286"/>
                  </a:cubicBezTo>
                  <a:cubicBezTo>
                    <a:pt x="8168" y="453"/>
                    <a:pt x="6811" y="1"/>
                    <a:pt x="5382" y="1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anchorCtr="0" anchor="ctr" bIns="41750" lIns="41750" spcFirstLastPara="1" rIns="41750" wrap="square" tIns="41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39"/>
                <a:buFont typeface="Arial"/>
                <a:buNone/>
              </a:pPr>
              <a:r>
                <a:t/>
              </a:r>
              <a:endParaRPr b="0" i="0" sz="63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7" name="Google Shape;377;p44"/>
          <p:cNvSpPr txBox="1"/>
          <p:nvPr/>
        </p:nvSpPr>
        <p:spPr>
          <a:xfrm>
            <a:off x="6886100" y="1551350"/>
            <a:ext cx="1506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Overpass SemiBold"/>
                <a:ea typeface="Overpass SemiBold"/>
                <a:cs typeface="Overpass SemiBold"/>
                <a:sym typeface="Overpass SemiBold"/>
              </a:rPr>
              <a:t>Observaciones </a:t>
            </a:r>
            <a:r>
              <a:rPr lang="es" sz="1100">
                <a:solidFill>
                  <a:srgbClr val="FFAC00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EEM</a:t>
            </a:r>
            <a:endParaRPr sz="1100">
              <a:solidFill>
                <a:srgbClr val="FFAC00"/>
              </a:solidFill>
              <a:latin typeface="Overpass SemiBold"/>
              <a:ea typeface="Overpass SemiBold"/>
              <a:cs typeface="Overpass SemiBold"/>
              <a:sym typeface="Overpass SemiBold"/>
            </a:endParaRPr>
          </a:p>
        </p:txBody>
      </p:sp>
      <p:sp>
        <p:nvSpPr>
          <p:cNvPr id="378" name="Google Shape;378;p44"/>
          <p:cNvSpPr/>
          <p:nvPr/>
        </p:nvSpPr>
        <p:spPr>
          <a:xfrm>
            <a:off x="2043400" y="1980425"/>
            <a:ext cx="4250700" cy="2699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Overpass"/>
                <a:ea typeface="Overpass"/>
                <a:cs typeface="Overpass"/>
                <a:sym typeface="Overpass"/>
              </a:rPr>
              <a:t>Origen Deterioro 5: </a:t>
            </a: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Irradiada.</a:t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Overpass"/>
                <a:ea typeface="Overpass"/>
                <a:cs typeface="Overpass"/>
                <a:sym typeface="Overpass"/>
              </a:rPr>
              <a:t>Criterio 8</a:t>
            </a: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: Cliente con Crédito hipotecario de la vivienda o crédito para financiamiento de estudio superiores CAE en </a:t>
            </a:r>
            <a:r>
              <a:rPr lang="es" sz="1100">
                <a:solidFill>
                  <a:srgbClr val="EA3327"/>
                </a:solidFill>
                <a:highlight>
                  <a:srgbClr val="FBCFCC"/>
                </a:highlight>
                <a:latin typeface="Overpass"/>
                <a:ea typeface="Overpass"/>
                <a:cs typeface="Overpass"/>
                <a:sym typeface="Overpass"/>
              </a:rPr>
              <a:t>Cartera Vencida</a:t>
            </a: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.</a:t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Overpass"/>
                <a:ea typeface="Overpass"/>
                <a:cs typeface="Overpass"/>
                <a:sym typeface="Overpass"/>
              </a:rPr>
              <a:t>Descripción</a:t>
            </a: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:  Si el cliente tiene una operación de crédito hipotecario de la vivienda o crédito para financiamiento de estudios superiores CAE en cartera vencida, entonces todas sus operacione</a:t>
            </a: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s pasan a cartera deteriorada.</a:t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highlight>
                <a:srgbClr val="FBCFCC"/>
              </a:highlight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379" name="Google Shape;379;p44"/>
          <p:cNvSpPr/>
          <p:nvPr/>
        </p:nvSpPr>
        <p:spPr>
          <a:xfrm rot="5400000">
            <a:off x="-533550" y="1768925"/>
            <a:ext cx="3628500" cy="25611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FAC00"/>
          </a:solidFill>
          <a:ln cap="flat" cmpd="sng" w="9525">
            <a:solidFill>
              <a:srgbClr val="FFA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80" name="Google Shape;380;p44"/>
          <p:cNvSpPr txBox="1"/>
          <p:nvPr>
            <p:ph type="title"/>
          </p:nvPr>
        </p:nvSpPr>
        <p:spPr>
          <a:xfrm>
            <a:off x="129750" y="516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verpass SemiBold"/>
                <a:ea typeface="Overpass SemiBold"/>
                <a:cs typeface="Overpass SemiBold"/>
                <a:sym typeface="Overpass SemiBold"/>
              </a:rPr>
              <a:t>Reglas de Entrada Cartera Deteriorada</a:t>
            </a:r>
            <a:endParaRPr>
              <a:latin typeface="Overpass SemiBold"/>
              <a:ea typeface="Overpass SemiBold"/>
              <a:cs typeface="Overpass SemiBold"/>
              <a:sym typeface="Overpass SemiBold"/>
            </a:endParaRPr>
          </a:p>
        </p:txBody>
      </p:sp>
      <p:pic>
        <p:nvPicPr>
          <p:cNvPr descr="Google Shape;197;p29" id="381" name="Google Shape;38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269" y="200090"/>
            <a:ext cx="908157" cy="169824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44"/>
          <p:cNvSpPr txBox="1"/>
          <p:nvPr/>
        </p:nvSpPr>
        <p:spPr>
          <a:xfrm>
            <a:off x="2632775" y="1551350"/>
            <a:ext cx="2304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Overpass SemiBold"/>
                <a:ea typeface="Overpass SemiBold"/>
                <a:cs typeface="Overpass SemiBold"/>
                <a:sym typeface="Overpass SemiBold"/>
              </a:rPr>
              <a:t>Documento de </a:t>
            </a:r>
            <a:r>
              <a:rPr lang="es" sz="1100">
                <a:solidFill>
                  <a:srgbClr val="FFAC00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Diseño TI</a:t>
            </a:r>
            <a:endParaRPr sz="1100">
              <a:solidFill>
                <a:srgbClr val="FFAC00"/>
              </a:solidFill>
              <a:latin typeface="Overpass SemiBold"/>
              <a:ea typeface="Overpass SemiBold"/>
              <a:cs typeface="Overpass SemiBold"/>
              <a:sym typeface="Overpass SemiBold"/>
            </a:endParaRPr>
          </a:p>
        </p:txBody>
      </p:sp>
      <p:sp>
        <p:nvSpPr>
          <p:cNvPr id="383" name="Google Shape;383;p44"/>
          <p:cNvSpPr txBox="1"/>
          <p:nvPr/>
        </p:nvSpPr>
        <p:spPr>
          <a:xfrm>
            <a:off x="179275" y="1466750"/>
            <a:ext cx="2382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Reglamento de Modelos de Provisiones por Riesgo de Crédito</a:t>
            </a:r>
            <a:endParaRPr sz="1100">
              <a:solidFill>
                <a:schemeClr val="lt1"/>
              </a:solidFill>
              <a:latin typeface="Overpass SemiBold"/>
              <a:ea typeface="Overpass SemiBold"/>
              <a:cs typeface="Overpass SemiBold"/>
              <a:sym typeface="Overpass SemiBold"/>
            </a:endParaRPr>
          </a:p>
        </p:txBody>
      </p:sp>
      <p:pic>
        <p:nvPicPr>
          <p:cNvPr descr="Imagen" id="384" name="Google Shape;384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85381" y="170344"/>
            <a:ext cx="508539" cy="229336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44"/>
          <p:cNvSpPr/>
          <p:nvPr/>
        </p:nvSpPr>
        <p:spPr>
          <a:xfrm>
            <a:off x="179275" y="1980425"/>
            <a:ext cx="2343300" cy="24354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126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Irradiación de Cartera:</a:t>
            </a:r>
            <a:r>
              <a:rPr lang="es" sz="11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Serán marcados como Cartera Deteriorada todas aquellas operaciones de crédito y el 100% de las colocaciones contingentes,  si el Cliente  presenta alguna de sus otras operaciones de crédito marcada como Deteriorada. </a:t>
            </a:r>
            <a:endParaRPr sz="11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Excepciones</a:t>
            </a:r>
            <a:r>
              <a:rPr lang="es" sz="11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: Créditos Hipotecarios para vivienda y </a:t>
            </a:r>
            <a:r>
              <a:rPr lang="es" sz="11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financiamiento</a:t>
            </a:r>
            <a:r>
              <a:rPr lang="es" sz="11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CAE.</a:t>
            </a:r>
            <a:endParaRPr sz="11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386" name="Google Shape;386;p44"/>
          <p:cNvSpPr txBox="1"/>
          <p:nvPr/>
        </p:nvSpPr>
        <p:spPr>
          <a:xfrm>
            <a:off x="6364250" y="2009900"/>
            <a:ext cx="27798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Overpass"/>
                <a:ea typeface="Overpass"/>
                <a:cs typeface="Overpass"/>
                <a:sym typeface="Overpass"/>
              </a:rPr>
              <a:t>Riesgo asociado</a:t>
            </a: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: Se observa que </a:t>
            </a:r>
            <a:r>
              <a:rPr b="1" lang="es" sz="1100">
                <a:solidFill>
                  <a:srgbClr val="FFAC00"/>
                </a:solidFill>
                <a:latin typeface="Overpass"/>
                <a:ea typeface="Overpass"/>
                <a:cs typeface="Overpass"/>
                <a:sym typeface="Overpass"/>
              </a:rPr>
              <a:t>la definición de irradiación de los créditos hipotecarios o CAE, solo considera las operaciones en cartera vencida</a:t>
            </a:r>
            <a:r>
              <a:rPr lang="es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, por lo que </a:t>
            </a:r>
            <a:r>
              <a:rPr lang="es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cre´ditos</a:t>
            </a:r>
            <a:r>
              <a:rPr lang="es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 renegociados con más de 60 </a:t>
            </a:r>
            <a:r>
              <a:rPr lang="es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días</a:t>
            </a:r>
            <a:r>
              <a:rPr lang="es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 o clientes LIR no deterioran al resto de las operaciones.</a:t>
            </a: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 </a:t>
            </a:r>
            <a:endParaRPr b="1" sz="11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Overpass"/>
                <a:ea typeface="Overpass"/>
                <a:cs typeface="Overpass"/>
                <a:sym typeface="Overpass"/>
              </a:rPr>
              <a:t>Opor</a:t>
            </a:r>
            <a:r>
              <a:rPr b="1" lang="es" sz="1100">
                <a:latin typeface="Overpass"/>
                <a:ea typeface="Overpass"/>
                <a:cs typeface="Overpass"/>
                <a:sym typeface="Overpass"/>
              </a:rPr>
              <a:t>tunidad de mejora</a:t>
            </a: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: Se debe incluir en la irradiación de deterioro por créditos hipotecarios o CAE todas las casuísticas de deterioro de un crédito.</a:t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1" name="Google Shape;391;p45"/>
          <p:cNvGrpSpPr/>
          <p:nvPr/>
        </p:nvGrpSpPr>
        <p:grpSpPr>
          <a:xfrm>
            <a:off x="2689415" y="1425072"/>
            <a:ext cx="508556" cy="544494"/>
            <a:chOff x="7055134" y="2919170"/>
            <a:chExt cx="290321" cy="310820"/>
          </a:xfrm>
        </p:grpSpPr>
        <p:sp>
          <p:nvSpPr>
            <p:cNvPr id="392" name="Google Shape;392;p45"/>
            <p:cNvSpPr/>
            <p:nvPr/>
          </p:nvSpPr>
          <p:spPr>
            <a:xfrm>
              <a:off x="7102497" y="2970989"/>
              <a:ext cx="191044" cy="259001"/>
            </a:xfrm>
            <a:custGeom>
              <a:rect b="b" l="l" r="r" t="t"/>
              <a:pathLst>
                <a:path extrusionOk="0" h="8137" w="6002">
                  <a:moveTo>
                    <a:pt x="3097" y="314"/>
                  </a:moveTo>
                  <a:cubicBezTo>
                    <a:pt x="3739" y="314"/>
                    <a:pt x="4347" y="552"/>
                    <a:pt x="4835" y="980"/>
                  </a:cubicBezTo>
                  <a:cubicBezTo>
                    <a:pt x="5394" y="1481"/>
                    <a:pt x="5716" y="2195"/>
                    <a:pt x="5716" y="2933"/>
                  </a:cubicBezTo>
                  <a:cubicBezTo>
                    <a:pt x="5704" y="3445"/>
                    <a:pt x="5549" y="3933"/>
                    <a:pt x="5287" y="4350"/>
                  </a:cubicBezTo>
                  <a:cubicBezTo>
                    <a:pt x="5013" y="4767"/>
                    <a:pt x="4644" y="5100"/>
                    <a:pt x="4204" y="5302"/>
                  </a:cubicBezTo>
                  <a:cubicBezTo>
                    <a:pt x="3930" y="5433"/>
                    <a:pt x="3751" y="5719"/>
                    <a:pt x="3751" y="6029"/>
                  </a:cubicBezTo>
                  <a:lnTo>
                    <a:pt x="3751" y="6207"/>
                  </a:lnTo>
                  <a:lnTo>
                    <a:pt x="2430" y="6207"/>
                  </a:lnTo>
                  <a:lnTo>
                    <a:pt x="2430" y="6029"/>
                  </a:lnTo>
                  <a:cubicBezTo>
                    <a:pt x="2430" y="5719"/>
                    <a:pt x="2251" y="5433"/>
                    <a:pt x="1965" y="5302"/>
                  </a:cubicBezTo>
                  <a:cubicBezTo>
                    <a:pt x="942" y="4814"/>
                    <a:pt x="346" y="3731"/>
                    <a:pt x="489" y="2588"/>
                  </a:cubicBezTo>
                  <a:cubicBezTo>
                    <a:pt x="644" y="1421"/>
                    <a:pt x="1608" y="457"/>
                    <a:pt x="2799" y="326"/>
                  </a:cubicBezTo>
                  <a:cubicBezTo>
                    <a:pt x="2906" y="314"/>
                    <a:pt x="3013" y="314"/>
                    <a:pt x="3097" y="314"/>
                  </a:cubicBezTo>
                  <a:close/>
                  <a:moveTo>
                    <a:pt x="3728" y="6505"/>
                  </a:moveTo>
                  <a:lnTo>
                    <a:pt x="3739" y="7017"/>
                  </a:lnTo>
                  <a:cubicBezTo>
                    <a:pt x="3739" y="7100"/>
                    <a:pt x="3668" y="7195"/>
                    <a:pt x="3561" y="7195"/>
                  </a:cubicBezTo>
                  <a:lnTo>
                    <a:pt x="2573" y="7195"/>
                  </a:lnTo>
                  <a:cubicBezTo>
                    <a:pt x="2489" y="7195"/>
                    <a:pt x="2394" y="7124"/>
                    <a:pt x="2394" y="7017"/>
                  </a:cubicBezTo>
                  <a:lnTo>
                    <a:pt x="2394" y="6505"/>
                  </a:lnTo>
                  <a:close/>
                  <a:moveTo>
                    <a:pt x="3394" y="7469"/>
                  </a:moveTo>
                  <a:lnTo>
                    <a:pt x="3406" y="7648"/>
                  </a:lnTo>
                  <a:cubicBezTo>
                    <a:pt x="3406" y="7743"/>
                    <a:pt x="3335" y="7838"/>
                    <a:pt x="3228" y="7838"/>
                  </a:cubicBezTo>
                  <a:lnTo>
                    <a:pt x="2906" y="7838"/>
                  </a:lnTo>
                  <a:cubicBezTo>
                    <a:pt x="2811" y="7838"/>
                    <a:pt x="2727" y="7755"/>
                    <a:pt x="2727" y="7648"/>
                  </a:cubicBezTo>
                  <a:lnTo>
                    <a:pt x="2727" y="7469"/>
                  </a:lnTo>
                  <a:close/>
                  <a:moveTo>
                    <a:pt x="3056" y="0"/>
                  </a:moveTo>
                  <a:cubicBezTo>
                    <a:pt x="2951" y="0"/>
                    <a:pt x="2845" y="6"/>
                    <a:pt x="2739" y="16"/>
                  </a:cubicBezTo>
                  <a:cubicBezTo>
                    <a:pt x="1418" y="171"/>
                    <a:pt x="322" y="1230"/>
                    <a:pt x="168" y="2552"/>
                  </a:cubicBezTo>
                  <a:cubicBezTo>
                    <a:pt x="1" y="3814"/>
                    <a:pt x="668" y="5040"/>
                    <a:pt x="1811" y="5564"/>
                  </a:cubicBezTo>
                  <a:cubicBezTo>
                    <a:pt x="1977" y="5648"/>
                    <a:pt x="2096" y="5826"/>
                    <a:pt x="2096" y="6017"/>
                  </a:cubicBezTo>
                  <a:lnTo>
                    <a:pt x="2096" y="7005"/>
                  </a:lnTo>
                  <a:cubicBezTo>
                    <a:pt x="2096" y="7207"/>
                    <a:pt x="2239" y="7386"/>
                    <a:pt x="2430" y="7457"/>
                  </a:cubicBezTo>
                  <a:lnTo>
                    <a:pt x="2430" y="7648"/>
                  </a:lnTo>
                  <a:cubicBezTo>
                    <a:pt x="2430" y="7922"/>
                    <a:pt x="2632" y="8136"/>
                    <a:pt x="2906" y="8136"/>
                  </a:cubicBezTo>
                  <a:lnTo>
                    <a:pt x="3228" y="8136"/>
                  </a:lnTo>
                  <a:cubicBezTo>
                    <a:pt x="3501" y="8136"/>
                    <a:pt x="3704" y="7922"/>
                    <a:pt x="3704" y="7648"/>
                  </a:cubicBezTo>
                  <a:lnTo>
                    <a:pt x="3704" y="7457"/>
                  </a:lnTo>
                  <a:cubicBezTo>
                    <a:pt x="3906" y="7398"/>
                    <a:pt x="4037" y="7219"/>
                    <a:pt x="4037" y="7005"/>
                  </a:cubicBezTo>
                  <a:lnTo>
                    <a:pt x="4037" y="6017"/>
                  </a:lnTo>
                  <a:cubicBezTo>
                    <a:pt x="4037" y="5826"/>
                    <a:pt x="4144" y="5648"/>
                    <a:pt x="4323" y="5564"/>
                  </a:cubicBezTo>
                  <a:cubicBezTo>
                    <a:pt x="4811" y="5326"/>
                    <a:pt x="5228" y="4969"/>
                    <a:pt x="5537" y="4517"/>
                  </a:cubicBezTo>
                  <a:cubicBezTo>
                    <a:pt x="5847" y="4040"/>
                    <a:pt x="6002" y="3481"/>
                    <a:pt x="6002" y="2921"/>
                  </a:cubicBezTo>
                  <a:cubicBezTo>
                    <a:pt x="6002" y="2100"/>
                    <a:pt x="5644" y="1302"/>
                    <a:pt x="5037" y="754"/>
                  </a:cubicBezTo>
                  <a:cubicBezTo>
                    <a:pt x="4485" y="254"/>
                    <a:pt x="3788" y="0"/>
                    <a:pt x="3056" y="0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45"/>
            <p:cNvSpPr/>
            <p:nvPr/>
          </p:nvSpPr>
          <p:spPr>
            <a:xfrm>
              <a:off x="7304872" y="3059413"/>
              <a:ext cx="40583" cy="9485"/>
            </a:xfrm>
            <a:custGeom>
              <a:rect b="b" l="l" r="r" t="t"/>
              <a:pathLst>
                <a:path extrusionOk="0" h="298" w="1275">
                  <a:moveTo>
                    <a:pt x="144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72" y="298"/>
                    <a:pt x="144" y="298"/>
                  </a:cubicBezTo>
                  <a:lnTo>
                    <a:pt x="1132" y="298"/>
                  </a:lnTo>
                  <a:cubicBezTo>
                    <a:pt x="1215" y="298"/>
                    <a:pt x="1275" y="215"/>
                    <a:pt x="1275" y="143"/>
                  </a:cubicBezTo>
                  <a:cubicBezTo>
                    <a:pt x="1275" y="72"/>
                    <a:pt x="1203" y="0"/>
                    <a:pt x="1132" y="0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45"/>
            <p:cNvSpPr/>
            <p:nvPr/>
          </p:nvSpPr>
          <p:spPr>
            <a:xfrm>
              <a:off x="7055134" y="3059413"/>
              <a:ext cx="41347" cy="9485"/>
            </a:xfrm>
            <a:custGeom>
              <a:rect b="b" l="l" r="r" t="t"/>
              <a:pathLst>
                <a:path extrusionOk="0" h="298" w="1299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72" y="298"/>
                    <a:pt x="155" y="298"/>
                  </a:cubicBezTo>
                  <a:lnTo>
                    <a:pt x="1132" y="298"/>
                  </a:lnTo>
                  <a:cubicBezTo>
                    <a:pt x="1215" y="298"/>
                    <a:pt x="1287" y="215"/>
                    <a:pt x="1287" y="143"/>
                  </a:cubicBezTo>
                  <a:cubicBezTo>
                    <a:pt x="1298" y="72"/>
                    <a:pt x="1227" y="0"/>
                    <a:pt x="1132" y="0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45"/>
            <p:cNvSpPr/>
            <p:nvPr/>
          </p:nvSpPr>
          <p:spPr>
            <a:xfrm>
              <a:off x="7195727" y="2919170"/>
              <a:ext cx="9517" cy="40583"/>
            </a:xfrm>
            <a:custGeom>
              <a:rect b="b" l="l" r="r" t="t"/>
              <a:pathLst>
                <a:path extrusionOk="0" h="1275" w="299">
                  <a:moveTo>
                    <a:pt x="156" y="1"/>
                  </a:moveTo>
                  <a:cubicBezTo>
                    <a:pt x="60" y="1"/>
                    <a:pt x="1" y="72"/>
                    <a:pt x="1" y="144"/>
                  </a:cubicBezTo>
                  <a:lnTo>
                    <a:pt x="1" y="1132"/>
                  </a:lnTo>
                  <a:cubicBezTo>
                    <a:pt x="1" y="1215"/>
                    <a:pt x="84" y="1275"/>
                    <a:pt x="156" y="1275"/>
                  </a:cubicBezTo>
                  <a:cubicBezTo>
                    <a:pt x="227" y="1275"/>
                    <a:pt x="299" y="1204"/>
                    <a:pt x="299" y="1132"/>
                  </a:cubicBezTo>
                  <a:lnTo>
                    <a:pt x="299" y="144"/>
                  </a:lnTo>
                  <a:cubicBezTo>
                    <a:pt x="299" y="72"/>
                    <a:pt x="227" y="1"/>
                    <a:pt x="156" y="1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45"/>
            <p:cNvSpPr/>
            <p:nvPr/>
          </p:nvSpPr>
          <p:spPr>
            <a:xfrm>
              <a:off x="7185128" y="3007116"/>
              <a:ext cx="30334" cy="92880"/>
            </a:xfrm>
            <a:custGeom>
              <a:rect b="b" l="l" r="r" t="t"/>
              <a:pathLst>
                <a:path extrusionOk="0" h="2918" w="953">
                  <a:moveTo>
                    <a:pt x="477" y="310"/>
                  </a:moveTo>
                  <a:cubicBezTo>
                    <a:pt x="512" y="310"/>
                    <a:pt x="560" y="334"/>
                    <a:pt x="596" y="357"/>
                  </a:cubicBezTo>
                  <a:cubicBezTo>
                    <a:pt x="620" y="393"/>
                    <a:pt x="632" y="429"/>
                    <a:pt x="632" y="476"/>
                  </a:cubicBezTo>
                  <a:lnTo>
                    <a:pt x="548" y="2608"/>
                  </a:lnTo>
                  <a:lnTo>
                    <a:pt x="405" y="2620"/>
                  </a:lnTo>
                  <a:cubicBezTo>
                    <a:pt x="405" y="2620"/>
                    <a:pt x="393" y="2620"/>
                    <a:pt x="393" y="2608"/>
                  </a:cubicBezTo>
                  <a:lnTo>
                    <a:pt x="310" y="476"/>
                  </a:lnTo>
                  <a:cubicBezTo>
                    <a:pt x="310" y="429"/>
                    <a:pt x="322" y="393"/>
                    <a:pt x="358" y="357"/>
                  </a:cubicBezTo>
                  <a:cubicBezTo>
                    <a:pt x="381" y="334"/>
                    <a:pt x="429" y="310"/>
                    <a:pt x="477" y="310"/>
                  </a:cubicBezTo>
                  <a:close/>
                  <a:moveTo>
                    <a:pt x="477" y="0"/>
                  </a:moveTo>
                  <a:cubicBezTo>
                    <a:pt x="334" y="0"/>
                    <a:pt x="215" y="48"/>
                    <a:pt x="131" y="155"/>
                  </a:cubicBezTo>
                  <a:cubicBezTo>
                    <a:pt x="36" y="238"/>
                    <a:pt x="0" y="357"/>
                    <a:pt x="0" y="488"/>
                  </a:cubicBezTo>
                  <a:lnTo>
                    <a:pt x="84" y="2620"/>
                  </a:lnTo>
                  <a:cubicBezTo>
                    <a:pt x="84" y="2786"/>
                    <a:pt x="239" y="2917"/>
                    <a:pt x="393" y="2917"/>
                  </a:cubicBezTo>
                  <a:lnTo>
                    <a:pt x="512" y="2917"/>
                  </a:lnTo>
                  <a:cubicBezTo>
                    <a:pt x="679" y="2917"/>
                    <a:pt x="822" y="2786"/>
                    <a:pt x="822" y="2620"/>
                  </a:cubicBezTo>
                  <a:lnTo>
                    <a:pt x="917" y="488"/>
                  </a:lnTo>
                  <a:cubicBezTo>
                    <a:pt x="953" y="369"/>
                    <a:pt x="905" y="238"/>
                    <a:pt x="810" y="155"/>
                  </a:cubicBezTo>
                  <a:cubicBezTo>
                    <a:pt x="727" y="60"/>
                    <a:pt x="608" y="0"/>
                    <a:pt x="477" y="0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45"/>
            <p:cNvSpPr/>
            <p:nvPr/>
          </p:nvSpPr>
          <p:spPr>
            <a:xfrm>
              <a:off x="7187770" y="3111328"/>
              <a:ext cx="25814" cy="25814"/>
            </a:xfrm>
            <a:custGeom>
              <a:rect b="b" l="l" r="r" t="t"/>
              <a:pathLst>
                <a:path extrusionOk="0" h="811" w="811">
                  <a:moveTo>
                    <a:pt x="406" y="310"/>
                  </a:moveTo>
                  <a:cubicBezTo>
                    <a:pt x="453" y="310"/>
                    <a:pt x="489" y="358"/>
                    <a:pt x="489" y="405"/>
                  </a:cubicBezTo>
                  <a:cubicBezTo>
                    <a:pt x="489" y="453"/>
                    <a:pt x="453" y="489"/>
                    <a:pt x="406" y="489"/>
                  </a:cubicBezTo>
                  <a:cubicBezTo>
                    <a:pt x="358" y="489"/>
                    <a:pt x="310" y="453"/>
                    <a:pt x="310" y="405"/>
                  </a:cubicBezTo>
                  <a:cubicBezTo>
                    <a:pt x="310" y="358"/>
                    <a:pt x="358" y="310"/>
                    <a:pt x="406" y="310"/>
                  </a:cubicBezTo>
                  <a:close/>
                  <a:moveTo>
                    <a:pt x="406" y="0"/>
                  </a:moveTo>
                  <a:cubicBezTo>
                    <a:pt x="179" y="0"/>
                    <a:pt x="1" y="179"/>
                    <a:pt x="1" y="405"/>
                  </a:cubicBezTo>
                  <a:cubicBezTo>
                    <a:pt x="1" y="631"/>
                    <a:pt x="179" y="810"/>
                    <a:pt x="406" y="810"/>
                  </a:cubicBezTo>
                  <a:cubicBezTo>
                    <a:pt x="632" y="810"/>
                    <a:pt x="810" y="631"/>
                    <a:pt x="810" y="405"/>
                  </a:cubicBezTo>
                  <a:cubicBezTo>
                    <a:pt x="787" y="179"/>
                    <a:pt x="608" y="0"/>
                    <a:pt x="406" y="0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45"/>
            <p:cNvSpPr/>
            <p:nvPr/>
          </p:nvSpPr>
          <p:spPr>
            <a:xfrm>
              <a:off x="7249552" y="2951477"/>
              <a:ext cx="18971" cy="23077"/>
            </a:xfrm>
            <a:custGeom>
              <a:rect b="b" l="l" r="r" t="t"/>
              <a:pathLst>
                <a:path extrusionOk="0" h="725" w="596">
                  <a:moveTo>
                    <a:pt x="417" y="0"/>
                  </a:moveTo>
                  <a:cubicBezTo>
                    <a:pt x="362" y="0"/>
                    <a:pt x="307" y="32"/>
                    <a:pt x="274" y="81"/>
                  </a:cubicBezTo>
                  <a:lnTo>
                    <a:pt x="36" y="498"/>
                  </a:lnTo>
                  <a:cubicBezTo>
                    <a:pt x="1" y="570"/>
                    <a:pt x="24" y="665"/>
                    <a:pt x="96" y="700"/>
                  </a:cubicBezTo>
                  <a:cubicBezTo>
                    <a:pt x="132" y="724"/>
                    <a:pt x="143" y="724"/>
                    <a:pt x="179" y="724"/>
                  </a:cubicBezTo>
                  <a:cubicBezTo>
                    <a:pt x="239" y="724"/>
                    <a:pt x="274" y="689"/>
                    <a:pt x="310" y="641"/>
                  </a:cubicBezTo>
                  <a:lnTo>
                    <a:pt x="548" y="224"/>
                  </a:lnTo>
                  <a:cubicBezTo>
                    <a:pt x="596" y="153"/>
                    <a:pt x="560" y="69"/>
                    <a:pt x="489" y="22"/>
                  </a:cubicBezTo>
                  <a:cubicBezTo>
                    <a:pt x="466" y="7"/>
                    <a:pt x="442" y="0"/>
                    <a:pt x="417" y="0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45"/>
            <p:cNvSpPr/>
            <p:nvPr/>
          </p:nvSpPr>
          <p:spPr>
            <a:xfrm>
              <a:off x="7132831" y="3153852"/>
              <a:ext cx="18589" cy="22695"/>
            </a:xfrm>
            <a:custGeom>
              <a:rect b="b" l="l" r="r" t="t"/>
              <a:pathLst>
                <a:path extrusionOk="0" h="713" w="584">
                  <a:moveTo>
                    <a:pt x="419" y="0"/>
                  </a:moveTo>
                  <a:cubicBezTo>
                    <a:pt x="368" y="0"/>
                    <a:pt x="319" y="32"/>
                    <a:pt x="286" y="81"/>
                  </a:cubicBezTo>
                  <a:lnTo>
                    <a:pt x="48" y="498"/>
                  </a:lnTo>
                  <a:cubicBezTo>
                    <a:pt x="0" y="569"/>
                    <a:pt x="36" y="665"/>
                    <a:pt x="108" y="700"/>
                  </a:cubicBezTo>
                  <a:cubicBezTo>
                    <a:pt x="131" y="712"/>
                    <a:pt x="155" y="712"/>
                    <a:pt x="179" y="712"/>
                  </a:cubicBezTo>
                  <a:cubicBezTo>
                    <a:pt x="239" y="712"/>
                    <a:pt x="286" y="689"/>
                    <a:pt x="310" y="641"/>
                  </a:cubicBezTo>
                  <a:lnTo>
                    <a:pt x="548" y="224"/>
                  </a:lnTo>
                  <a:cubicBezTo>
                    <a:pt x="584" y="153"/>
                    <a:pt x="572" y="69"/>
                    <a:pt x="489" y="22"/>
                  </a:cubicBezTo>
                  <a:cubicBezTo>
                    <a:pt x="466" y="7"/>
                    <a:pt x="443" y="0"/>
                    <a:pt x="419" y="0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45"/>
            <p:cNvSpPr/>
            <p:nvPr/>
          </p:nvSpPr>
          <p:spPr>
            <a:xfrm>
              <a:off x="7132449" y="2951477"/>
              <a:ext cx="18971" cy="23077"/>
            </a:xfrm>
            <a:custGeom>
              <a:rect b="b" l="l" r="r" t="t"/>
              <a:pathLst>
                <a:path extrusionOk="0" h="725" w="596">
                  <a:moveTo>
                    <a:pt x="177" y="0"/>
                  </a:moveTo>
                  <a:cubicBezTo>
                    <a:pt x="154" y="0"/>
                    <a:pt x="130" y="7"/>
                    <a:pt x="108" y="22"/>
                  </a:cubicBezTo>
                  <a:cubicBezTo>
                    <a:pt x="24" y="69"/>
                    <a:pt x="1" y="153"/>
                    <a:pt x="48" y="236"/>
                  </a:cubicBezTo>
                  <a:lnTo>
                    <a:pt x="274" y="653"/>
                  </a:lnTo>
                  <a:cubicBezTo>
                    <a:pt x="310" y="689"/>
                    <a:pt x="358" y="724"/>
                    <a:pt x="417" y="724"/>
                  </a:cubicBezTo>
                  <a:cubicBezTo>
                    <a:pt x="441" y="724"/>
                    <a:pt x="477" y="724"/>
                    <a:pt x="489" y="712"/>
                  </a:cubicBezTo>
                  <a:cubicBezTo>
                    <a:pt x="584" y="665"/>
                    <a:pt x="596" y="570"/>
                    <a:pt x="548" y="498"/>
                  </a:cubicBezTo>
                  <a:lnTo>
                    <a:pt x="310" y="81"/>
                  </a:lnTo>
                  <a:cubicBezTo>
                    <a:pt x="277" y="32"/>
                    <a:pt x="228" y="0"/>
                    <a:pt x="177" y="0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45"/>
            <p:cNvSpPr/>
            <p:nvPr/>
          </p:nvSpPr>
          <p:spPr>
            <a:xfrm>
              <a:off x="7249552" y="3153852"/>
              <a:ext cx="18971" cy="22695"/>
            </a:xfrm>
            <a:custGeom>
              <a:rect b="b" l="l" r="r" t="t"/>
              <a:pathLst>
                <a:path extrusionOk="0" h="713" w="596">
                  <a:moveTo>
                    <a:pt x="173" y="0"/>
                  </a:moveTo>
                  <a:cubicBezTo>
                    <a:pt x="148" y="0"/>
                    <a:pt x="122" y="7"/>
                    <a:pt x="96" y="22"/>
                  </a:cubicBezTo>
                  <a:cubicBezTo>
                    <a:pt x="24" y="69"/>
                    <a:pt x="1" y="153"/>
                    <a:pt x="36" y="224"/>
                  </a:cubicBezTo>
                  <a:lnTo>
                    <a:pt x="274" y="641"/>
                  </a:lnTo>
                  <a:cubicBezTo>
                    <a:pt x="310" y="689"/>
                    <a:pt x="358" y="712"/>
                    <a:pt x="417" y="712"/>
                  </a:cubicBezTo>
                  <a:cubicBezTo>
                    <a:pt x="441" y="712"/>
                    <a:pt x="477" y="712"/>
                    <a:pt x="489" y="700"/>
                  </a:cubicBezTo>
                  <a:cubicBezTo>
                    <a:pt x="560" y="665"/>
                    <a:pt x="596" y="569"/>
                    <a:pt x="548" y="498"/>
                  </a:cubicBezTo>
                  <a:lnTo>
                    <a:pt x="310" y="81"/>
                  </a:lnTo>
                  <a:cubicBezTo>
                    <a:pt x="277" y="32"/>
                    <a:pt x="228" y="0"/>
                    <a:pt x="173" y="0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45"/>
            <p:cNvSpPr/>
            <p:nvPr/>
          </p:nvSpPr>
          <p:spPr>
            <a:xfrm>
              <a:off x="7289721" y="3113969"/>
              <a:ext cx="24286" cy="17093"/>
            </a:xfrm>
            <a:custGeom>
              <a:rect b="b" l="l" r="r" t="t"/>
              <a:pathLst>
                <a:path extrusionOk="0" h="537" w="763">
                  <a:moveTo>
                    <a:pt x="172" y="0"/>
                  </a:moveTo>
                  <a:cubicBezTo>
                    <a:pt x="121" y="0"/>
                    <a:pt x="72" y="29"/>
                    <a:pt x="48" y="84"/>
                  </a:cubicBezTo>
                  <a:cubicBezTo>
                    <a:pt x="1" y="156"/>
                    <a:pt x="24" y="239"/>
                    <a:pt x="108" y="287"/>
                  </a:cubicBezTo>
                  <a:lnTo>
                    <a:pt x="524" y="525"/>
                  </a:lnTo>
                  <a:cubicBezTo>
                    <a:pt x="548" y="537"/>
                    <a:pt x="560" y="537"/>
                    <a:pt x="596" y="537"/>
                  </a:cubicBezTo>
                  <a:cubicBezTo>
                    <a:pt x="655" y="537"/>
                    <a:pt x="703" y="513"/>
                    <a:pt x="727" y="465"/>
                  </a:cubicBezTo>
                  <a:cubicBezTo>
                    <a:pt x="763" y="394"/>
                    <a:pt x="739" y="310"/>
                    <a:pt x="667" y="263"/>
                  </a:cubicBezTo>
                  <a:lnTo>
                    <a:pt x="251" y="25"/>
                  </a:lnTo>
                  <a:cubicBezTo>
                    <a:pt x="226" y="8"/>
                    <a:pt x="199" y="0"/>
                    <a:pt x="172" y="0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45"/>
            <p:cNvSpPr/>
            <p:nvPr/>
          </p:nvSpPr>
          <p:spPr>
            <a:xfrm>
              <a:off x="7086964" y="2996931"/>
              <a:ext cx="24668" cy="17411"/>
            </a:xfrm>
            <a:custGeom>
              <a:rect b="b" l="l" r="r" t="t"/>
              <a:pathLst>
                <a:path extrusionOk="0" h="547" w="775">
                  <a:moveTo>
                    <a:pt x="179" y="1"/>
                  </a:moveTo>
                  <a:cubicBezTo>
                    <a:pt x="125" y="1"/>
                    <a:pt x="73" y="33"/>
                    <a:pt x="48" y="82"/>
                  </a:cubicBezTo>
                  <a:cubicBezTo>
                    <a:pt x="1" y="154"/>
                    <a:pt x="25" y="249"/>
                    <a:pt x="108" y="285"/>
                  </a:cubicBezTo>
                  <a:lnTo>
                    <a:pt x="525" y="535"/>
                  </a:lnTo>
                  <a:cubicBezTo>
                    <a:pt x="548" y="546"/>
                    <a:pt x="560" y="546"/>
                    <a:pt x="596" y="546"/>
                  </a:cubicBezTo>
                  <a:cubicBezTo>
                    <a:pt x="656" y="546"/>
                    <a:pt x="703" y="511"/>
                    <a:pt x="727" y="475"/>
                  </a:cubicBezTo>
                  <a:cubicBezTo>
                    <a:pt x="775" y="415"/>
                    <a:pt x="739" y="308"/>
                    <a:pt x="668" y="261"/>
                  </a:cubicBezTo>
                  <a:lnTo>
                    <a:pt x="251" y="23"/>
                  </a:lnTo>
                  <a:cubicBezTo>
                    <a:pt x="228" y="8"/>
                    <a:pt x="204" y="1"/>
                    <a:pt x="179" y="1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45"/>
            <p:cNvSpPr/>
            <p:nvPr/>
          </p:nvSpPr>
          <p:spPr>
            <a:xfrm>
              <a:off x="7289339" y="2996931"/>
              <a:ext cx="24668" cy="17411"/>
            </a:xfrm>
            <a:custGeom>
              <a:rect b="b" l="l" r="r" t="t"/>
              <a:pathLst>
                <a:path extrusionOk="0" h="547" w="775">
                  <a:moveTo>
                    <a:pt x="590" y="1"/>
                  </a:moveTo>
                  <a:cubicBezTo>
                    <a:pt x="565" y="1"/>
                    <a:pt x="539" y="8"/>
                    <a:pt x="513" y="23"/>
                  </a:cubicBezTo>
                  <a:lnTo>
                    <a:pt x="96" y="261"/>
                  </a:lnTo>
                  <a:cubicBezTo>
                    <a:pt x="25" y="308"/>
                    <a:pt x="1" y="392"/>
                    <a:pt x="36" y="475"/>
                  </a:cubicBezTo>
                  <a:cubicBezTo>
                    <a:pt x="72" y="511"/>
                    <a:pt x="108" y="546"/>
                    <a:pt x="179" y="546"/>
                  </a:cubicBezTo>
                  <a:cubicBezTo>
                    <a:pt x="203" y="546"/>
                    <a:pt x="239" y="546"/>
                    <a:pt x="251" y="535"/>
                  </a:cubicBezTo>
                  <a:lnTo>
                    <a:pt x="667" y="285"/>
                  </a:lnTo>
                  <a:cubicBezTo>
                    <a:pt x="751" y="249"/>
                    <a:pt x="775" y="154"/>
                    <a:pt x="727" y="82"/>
                  </a:cubicBezTo>
                  <a:cubicBezTo>
                    <a:pt x="694" y="33"/>
                    <a:pt x="645" y="1"/>
                    <a:pt x="590" y="1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45"/>
            <p:cNvSpPr/>
            <p:nvPr/>
          </p:nvSpPr>
          <p:spPr>
            <a:xfrm>
              <a:off x="7086964" y="3113587"/>
              <a:ext cx="24668" cy="17093"/>
            </a:xfrm>
            <a:custGeom>
              <a:rect b="b" l="l" r="r" t="t"/>
              <a:pathLst>
                <a:path extrusionOk="0" h="537" w="775">
                  <a:moveTo>
                    <a:pt x="597" y="0"/>
                  </a:moveTo>
                  <a:cubicBezTo>
                    <a:pt x="570" y="0"/>
                    <a:pt x="541" y="8"/>
                    <a:pt x="513" y="25"/>
                  </a:cubicBezTo>
                  <a:lnTo>
                    <a:pt x="108" y="263"/>
                  </a:lnTo>
                  <a:cubicBezTo>
                    <a:pt x="25" y="299"/>
                    <a:pt x="1" y="394"/>
                    <a:pt x="36" y="465"/>
                  </a:cubicBezTo>
                  <a:cubicBezTo>
                    <a:pt x="72" y="513"/>
                    <a:pt x="120" y="537"/>
                    <a:pt x="179" y="537"/>
                  </a:cubicBezTo>
                  <a:cubicBezTo>
                    <a:pt x="203" y="537"/>
                    <a:pt x="239" y="537"/>
                    <a:pt x="251" y="525"/>
                  </a:cubicBezTo>
                  <a:lnTo>
                    <a:pt x="668" y="287"/>
                  </a:lnTo>
                  <a:cubicBezTo>
                    <a:pt x="739" y="263"/>
                    <a:pt x="775" y="156"/>
                    <a:pt x="727" y="84"/>
                  </a:cubicBezTo>
                  <a:cubicBezTo>
                    <a:pt x="696" y="29"/>
                    <a:pt x="649" y="0"/>
                    <a:pt x="597" y="0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6" name="Google Shape;406;p45"/>
          <p:cNvSpPr txBox="1"/>
          <p:nvPr/>
        </p:nvSpPr>
        <p:spPr>
          <a:xfrm>
            <a:off x="2145625" y="1989950"/>
            <a:ext cx="6648300" cy="1983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07" name="Google Shape;407;p45"/>
          <p:cNvSpPr txBox="1"/>
          <p:nvPr/>
        </p:nvSpPr>
        <p:spPr>
          <a:xfrm>
            <a:off x="3185477" y="1551350"/>
            <a:ext cx="2561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Overpass SemiBold"/>
                <a:ea typeface="Overpass SemiBold"/>
                <a:cs typeface="Overpass SemiBold"/>
                <a:sym typeface="Overpass SemiBold"/>
              </a:rPr>
              <a:t>Ejemplo Observación </a:t>
            </a:r>
            <a:r>
              <a:rPr lang="es" sz="1100">
                <a:solidFill>
                  <a:srgbClr val="FFAC00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EEM</a:t>
            </a:r>
            <a:endParaRPr sz="1100">
              <a:solidFill>
                <a:srgbClr val="FFAC00"/>
              </a:solidFill>
              <a:latin typeface="Overpass SemiBold"/>
              <a:ea typeface="Overpass SemiBold"/>
              <a:cs typeface="Overpass SemiBold"/>
              <a:sym typeface="Overpass SemiBold"/>
            </a:endParaRPr>
          </a:p>
        </p:txBody>
      </p:sp>
      <p:sp>
        <p:nvSpPr>
          <p:cNvPr id="408" name="Google Shape;408;p45"/>
          <p:cNvSpPr txBox="1"/>
          <p:nvPr/>
        </p:nvSpPr>
        <p:spPr>
          <a:xfrm>
            <a:off x="2641700" y="2009900"/>
            <a:ext cx="6008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FFAC00"/>
                </a:solidFill>
                <a:latin typeface="Overpass"/>
                <a:ea typeface="Overpass"/>
                <a:cs typeface="Overpass"/>
                <a:sym typeface="Overpass"/>
              </a:rPr>
              <a:t>Operación</a:t>
            </a:r>
            <a:r>
              <a:rPr b="1" lang="es" sz="1100">
                <a:solidFill>
                  <a:srgbClr val="FFAC00"/>
                </a:solidFill>
                <a:latin typeface="Overpass"/>
                <a:ea typeface="Overpass"/>
                <a:cs typeface="Overpass"/>
                <a:sym typeface="Overpass"/>
              </a:rPr>
              <a:t> hipotecaria renegociada con más de 60 días de mora no deteriorada</a:t>
            </a:r>
            <a:endParaRPr sz="1100">
              <a:solidFill>
                <a:schemeClr val="dk1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409" name="Google Shape;409;p45"/>
          <p:cNvSpPr/>
          <p:nvPr/>
        </p:nvSpPr>
        <p:spPr>
          <a:xfrm rot="5400000">
            <a:off x="-533550" y="1768925"/>
            <a:ext cx="3628500" cy="25611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FAC00"/>
          </a:solidFill>
          <a:ln cap="flat" cmpd="sng" w="9525">
            <a:solidFill>
              <a:srgbClr val="FFA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10" name="Google Shape;410;p45"/>
          <p:cNvSpPr txBox="1"/>
          <p:nvPr>
            <p:ph type="title"/>
          </p:nvPr>
        </p:nvSpPr>
        <p:spPr>
          <a:xfrm>
            <a:off x="129750" y="516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verpass SemiBold"/>
                <a:ea typeface="Overpass SemiBold"/>
                <a:cs typeface="Overpass SemiBold"/>
                <a:sym typeface="Overpass SemiBold"/>
              </a:rPr>
              <a:t>Reglas de Entrada Cartera Deteriorada</a:t>
            </a:r>
            <a:endParaRPr>
              <a:latin typeface="Overpass SemiBold"/>
              <a:ea typeface="Overpass SemiBold"/>
              <a:cs typeface="Overpass SemiBold"/>
              <a:sym typeface="Overpass SemiBold"/>
            </a:endParaRPr>
          </a:p>
        </p:txBody>
      </p:sp>
      <p:pic>
        <p:nvPicPr>
          <p:cNvPr descr="Google Shape;197;p29" id="411" name="Google Shape;41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269" y="200090"/>
            <a:ext cx="908157" cy="169824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45"/>
          <p:cNvSpPr txBox="1"/>
          <p:nvPr/>
        </p:nvSpPr>
        <p:spPr>
          <a:xfrm>
            <a:off x="179275" y="1466750"/>
            <a:ext cx="2382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Reglamento de Modelos de Provisiones por Riesgo de Crédito</a:t>
            </a:r>
            <a:endParaRPr sz="1100">
              <a:solidFill>
                <a:schemeClr val="lt1"/>
              </a:solidFill>
              <a:latin typeface="Overpass SemiBold"/>
              <a:ea typeface="Overpass SemiBold"/>
              <a:cs typeface="Overpass SemiBold"/>
              <a:sym typeface="Overpass SemiBold"/>
            </a:endParaRPr>
          </a:p>
        </p:txBody>
      </p:sp>
      <p:pic>
        <p:nvPicPr>
          <p:cNvPr descr="Imagen" id="413" name="Google Shape;413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85381" y="170344"/>
            <a:ext cx="508539" cy="22933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4" name="Google Shape;414;p45"/>
          <p:cNvGraphicFramePr/>
          <p:nvPr/>
        </p:nvGraphicFramePr>
        <p:xfrm>
          <a:off x="2689425" y="24684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{496AB027-4005-48ED-9279-8D13C1627251}</a:tableStyleId>
              </a:tblPr>
              <a:tblGrid>
                <a:gridCol w="911325"/>
                <a:gridCol w="821700"/>
                <a:gridCol w="995250"/>
                <a:gridCol w="732575"/>
                <a:gridCol w="845025"/>
                <a:gridCol w="732950"/>
                <a:gridCol w="1028425"/>
              </a:tblGrid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lt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Cliente_Rut</a:t>
                      </a:r>
                      <a:endParaRPr b="1" sz="1000">
                        <a:solidFill>
                          <a:schemeClr val="lt1"/>
                        </a:solidFill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AC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lt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Periodo_Id</a:t>
                      </a:r>
                      <a:endParaRPr b="1" sz="1000">
                        <a:solidFill>
                          <a:schemeClr val="lt1"/>
                        </a:solidFill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AC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lt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Contrato_Id</a:t>
                      </a:r>
                      <a:endParaRPr b="1" sz="1000">
                        <a:solidFill>
                          <a:schemeClr val="lt1"/>
                        </a:solidFill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AC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lt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cod_tope</a:t>
                      </a:r>
                      <a:endParaRPr b="1" sz="1000">
                        <a:solidFill>
                          <a:schemeClr val="lt1"/>
                        </a:solidFill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AC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lt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num_dmor</a:t>
                      </a:r>
                      <a:endParaRPr b="1" sz="1000">
                        <a:solidFill>
                          <a:schemeClr val="lt1"/>
                        </a:solidFill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AC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lt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ind_cdet</a:t>
                      </a:r>
                      <a:endParaRPr b="1" sz="1000">
                        <a:solidFill>
                          <a:schemeClr val="lt1"/>
                        </a:solidFill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AC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lt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mto_val_scvc</a:t>
                      </a:r>
                      <a:endParaRPr b="1" sz="1000">
                        <a:solidFill>
                          <a:schemeClr val="lt1"/>
                        </a:solidFill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AC00"/>
                    </a:solidFill>
                  </a:tcPr>
                </a:tc>
              </a:tr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183622862</a:t>
                      </a:r>
                      <a:endParaRPr/>
                    </a:p>
                  </a:txBody>
                  <a:tcPr marT="19050" marB="19050" marR="28575" marL="2857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01-08-2025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D25300165676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CONR01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>
                          <a:solidFill>
                            <a:srgbClr val="EA3327"/>
                          </a:solidFill>
                          <a:highlight>
                            <a:srgbClr val="FBCFCC"/>
                          </a:highlight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</a:t>
                      </a:r>
                      <a:endParaRPr>
                        <a:solidFill>
                          <a:srgbClr val="EA3327"/>
                        </a:solidFill>
                        <a:highlight>
                          <a:srgbClr val="FBCFCC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0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</a:tr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183622862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19050" marB="19050" marR="28575" marL="2857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01-08-2025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F90003463116</a:t>
                      </a:r>
                      <a:endParaRPr sz="1000">
                        <a:solidFill>
                          <a:schemeClr val="dk1"/>
                        </a:solidFill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HIP300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0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</a:t>
                      </a:r>
                      <a:r>
                        <a:rPr b="1" lang="es" sz="1000">
                          <a:solidFill>
                            <a:srgbClr val="FAA51A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*</a:t>
                      </a:r>
                      <a:endParaRPr b="1" sz="1000">
                        <a:solidFill>
                          <a:srgbClr val="FAA51A"/>
                        </a:solidFill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0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2"/>
                    </a:solidFill>
                  </a:tcPr>
                </a:tc>
              </a:tr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183622862</a:t>
                      </a:r>
                      <a:endParaRPr sz="1000">
                        <a:solidFill>
                          <a:schemeClr val="dk1"/>
                        </a:solidFill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19050" marB="19050" marR="28575" marL="2857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01-08-2025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A24425800512</a:t>
                      </a:r>
                      <a:endParaRPr sz="1000">
                        <a:solidFill>
                          <a:schemeClr val="dk1"/>
                        </a:solidFill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CCC400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0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>
                          <a:solidFill>
                            <a:srgbClr val="EA3327"/>
                          </a:solidFill>
                          <a:highlight>
                            <a:srgbClr val="FBCFCC"/>
                          </a:highlight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</a:t>
                      </a:r>
                      <a:endParaRPr sz="1000">
                        <a:solidFill>
                          <a:srgbClr val="EA3327"/>
                        </a:solidFill>
                        <a:highlight>
                          <a:srgbClr val="FBCFCC"/>
                        </a:highlight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0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15" name="Google Shape;415;p45"/>
          <p:cNvSpPr/>
          <p:nvPr/>
        </p:nvSpPr>
        <p:spPr>
          <a:xfrm>
            <a:off x="179275" y="1980425"/>
            <a:ext cx="2343300" cy="24354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126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Irradiación de Cartera:</a:t>
            </a:r>
            <a:r>
              <a:rPr lang="es" sz="11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Serán marcados como Cartera Deteriorada todas aquellas operaciones de crédito y el 100% de las colocaciones contingentes,  si el Cliente  presenta alguna de sus otras operaciones de crédito marcada como Deteriorada. </a:t>
            </a:r>
            <a:endParaRPr sz="11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Excepciones</a:t>
            </a:r>
            <a:r>
              <a:rPr lang="es" sz="11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: Créditos Hipotecarios para vivienda y financiamiento CAE.</a:t>
            </a:r>
            <a:endParaRPr sz="11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grpSp>
        <p:nvGrpSpPr>
          <p:cNvPr id="416" name="Google Shape;416;p45"/>
          <p:cNvGrpSpPr/>
          <p:nvPr/>
        </p:nvGrpSpPr>
        <p:grpSpPr>
          <a:xfrm>
            <a:off x="2726671" y="4095089"/>
            <a:ext cx="309594" cy="277182"/>
            <a:chOff x="4666846" y="2433161"/>
            <a:chExt cx="309594" cy="277182"/>
          </a:xfrm>
        </p:grpSpPr>
        <p:sp>
          <p:nvSpPr>
            <p:cNvPr id="417" name="Google Shape;417;p45"/>
            <p:cNvSpPr/>
            <p:nvPr/>
          </p:nvSpPr>
          <p:spPr>
            <a:xfrm>
              <a:off x="4812568" y="2500733"/>
              <a:ext cx="18144" cy="87426"/>
            </a:xfrm>
            <a:custGeom>
              <a:rect b="b" l="l" r="r" t="t"/>
              <a:pathLst>
                <a:path extrusionOk="0" h="21600" w="21600">
                  <a:moveTo>
                    <a:pt x="10819" y="0"/>
                  </a:moveTo>
                  <a:cubicBezTo>
                    <a:pt x="4836" y="0"/>
                    <a:pt x="0" y="967"/>
                    <a:pt x="0" y="2164"/>
                  </a:cubicBezTo>
                  <a:lnTo>
                    <a:pt x="0" y="19447"/>
                  </a:lnTo>
                  <a:cubicBezTo>
                    <a:pt x="0" y="20633"/>
                    <a:pt x="4836" y="21600"/>
                    <a:pt x="10819" y="21600"/>
                  </a:cubicBezTo>
                  <a:cubicBezTo>
                    <a:pt x="16764" y="21600"/>
                    <a:pt x="21600" y="20633"/>
                    <a:pt x="21600" y="19447"/>
                  </a:cubicBezTo>
                  <a:lnTo>
                    <a:pt x="21600" y="2164"/>
                  </a:lnTo>
                  <a:cubicBezTo>
                    <a:pt x="21600" y="967"/>
                    <a:pt x="16764" y="0"/>
                    <a:pt x="10819" y="0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5D74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45"/>
            <p:cNvSpPr/>
            <p:nvPr/>
          </p:nvSpPr>
          <p:spPr>
            <a:xfrm>
              <a:off x="4666846" y="2433161"/>
              <a:ext cx="309594" cy="277182"/>
            </a:xfrm>
            <a:custGeom>
              <a:rect b="b" l="l" r="r" t="t"/>
              <a:pathLst>
                <a:path extrusionOk="0" h="21600" w="20169">
                  <a:moveTo>
                    <a:pt x="10084" y="3905"/>
                  </a:moveTo>
                  <a:cubicBezTo>
                    <a:pt x="11062" y="3905"/>
                    <a:pt x="11856" y="4818"/>
                    <a:pt x="11856" y="5948"/>
                  </a:cubicBezTo>
                  <a:lnTo>
                    <a:pt x="11856" y="11393"/>
                  </a:lnTo>
                  <a:cubicBezTo>
                    <a:pt x="11856" y="12518"/>
                    <a:pt x="11062" y="13433"/>
                    <a:pt x="10084" y="13433"/>
                  </a:cubicBezTo>
                  <a:cubicBezTo>
                    <a:pt x="9105" y="13433"/>
                    <a:pt x="8311" y="12518"/>
                    <a:pt x="8311" y="11393"/>
                  </a:cubicBezTo>
                  <a:lnTo>
                    <a:pt x="8311" y="5948"/>
                  </a:lnTo>
                  <a:cubicBezTo>
                    <a:pt x="8311" y="4818"/>
                    <a:pt x="9105" y="3905"/>
                    <a:pt x="10084" y="3905"/>
                  </a:cubicBezTo>
                  <a:close/>
                  <a:moveTo>
                    <a:pt x="10084" y="14795"/>
                  </a:moveTo>
                  <a:cubicBezTo>
                    <a:pt x="10313" y="14795"/>
                    <a:pt x="10543" y="14846"/>
                    <a:pt x="10763" y="14951"/>
                  </a:cubicBezTo>
                  <a:cubicBezTo>
                    <a:pt x="11424" y="15266"/>
                    <a:pt x="11856" y="16010"/>
                    <a:pt x="11856" y="16838"/>
                  </a:cubicBezTo>
                  <a:cubicBezTo>
                    <a:pt x="11856" y="17963"/>
                    <a:pt x="11062" y="18878"/>
                    <a:pt x="10084" y="18878"/>
                  </a:cubicBezTo>
                  <a:cubicBezTo>
                    <a:pt x="9367" y="18878"/>
                    <a:pt x="8721" y="18380"/>
                    <a:pt x="8447" y="17618"/>
                  </a:cubicBezTo>
                  <a:cubicBezTo>
                    <a:pt x="8172" y="16856"/>
                    <a:pt x="8323" y="15978"/>
                    <a:pt x="8831" y="15393"/>
                  </a:cubicBezTo>
                  <a:cubicBezTo>
                    <a:pt x="9170" y="15002"/>
                    <a:pt x="9624" y="14795"/>
                    <a:pt x="10084" y="14795"/>
                  </a:cubicBezTo>
                  <a:close/>
                  <a:moveTo>
                    <a:pt x="10083" y="0"/>
                  </a:moveTo>
                  <a:cubicBezTo>
                    <a:pt x="9071" y="0"/>
                    <a:pt x="8060" y="586"/>
                    <a:pt x="7497" y="1759"/>
                  </a:cubicBezTo>
                  <a:lnTo>
                    <a:pt x="372" y="16551"/>
                  </a:lnTo>
                  <a:cubicBezTo>
                    <a:pt x="-715" y="18820"/>
                    <a:pt x="706" y="21600"/>
                    <a:pt x="2956" y="21600"/>
                  </a:cubicBezTo>
                  <a:lnTo>
                    <a:pt x="17211" y="21600"/>
                  </a:lnTo>
                  <a:cubicBezTo>
                    <a:pt x="19461" y="21600"/>
                    <a:pt x="20885" y="18824"/>
                    <a:pt x="19794" y="16551"/>
                  </a:cubicBezTo>
                  <a:lnTo>
                    <a:pt x="12669" y="1759"/>
                  </a:lnTo>
                  <a:cubicBezTo>
                    <a:pt x="12106" y="586"/>
                    <a:pt x="11095" y="0"/>
                    <a:pt x="10083" y="0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5D74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45"/>
            <p:cNvSpPr/>
            <p:nvPr/>
          </p:nvSpPr>
          <p:spPr>
            <a:xfrm>
              <a:off x="4812568" y="2640487"/>
              <a:ext cx="18144" cy="17496"/>
            </a:xfrm>
            <a:custGeom>
              <a:rect b="b" l="l" r="r" t="t"/>
              <a:pathLst>
                <a:path extrusionOk="0" h="21600" w="21600">
                  <a:moveTo>
                    <a:pt x="10819" y="0"/>
                  </a:moveTo>
                  <a:cubicBezTo>
                    <a:pt x="4836" y="0"/>
                    <a:pt x="0" y="4821"/>
                    <a:pt x="0" y="10829"/>
                  </a:cubicBezTo>
                  <a:cubicBezTo>
                    <a:pt x="0" y="16760"/>
                    <a:pt x="4836" y="21600"/>
                    <a:pt x="10819" y="21600"/>
                  </a:cubicBezTo>
                  <a:cubicBezTo>
                    <a:pt x="16764" y="21600"/>
                    <a:pt x="21600" y="16760"/>
                    <a:pt x="21600" y="10829"/>
                  </a:cubicBezTo>
                  <a:cubicBezTo>
                    <a:pt x="21600" y="4821"/>
                    <a:pt x="16764" y="0"/>
                    <a:pt x="10819" y="0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5D74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0" name="Google Shape;420;p45"/>
          <p:cNvSpPr txBox="1"/>
          <p:nvPr/>
        </p:nvSpPr>
        <p:spPr>
          <a:xfrm>
            <a:off x="3082100" y="3973075"/>
            <a:ext cx="5568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FFAC00"/>
                </a:solidFill>
                <a:latin typeface="Overpass"/>
                <a:ea typeface="Overpass"/>
                <a:cs typeface="Overpass"/>
                <a:sym typeface="Overpass"/>
              </a:rPr>
              <a:t>*</a:t>
            </a: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Suponiendo que la operación hipotecaria renegociada con más de 60 días estuviera correctamente deteriorada. Por definición del documento de diseño, las demás operaciones no se deteriorarían, ya que solo </a:t>
            </a: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identifica</a:t>
            </a:r>
            <a:r>
              <a:rPr lang="es" sz="1100">
                <a:latin typeface="Overpass"/>
                <a:ea typeface="Overpass"/>
                <a:cs typeface="Overpass"/>
                <a:sym typeface="Overpass"/>
              </a:rPr>
              <a:t> que la operación hipotecaria se encuentre en cartera vencida.</a:t>
            </a:r>
            <a:endParaRPr sz="1100"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6"/>
          <p:cNvSpPr txBox="1"/>
          <p:nvPr>
            <p:ph type="title"/>
          </p:nvPr>
        </p:nvSpPr>
        <p:spPr>
          <a:xfrm>
            <a:off x="129750" y="516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verpass SemiBold"/>
                <a:ea typeface="Overpass SemiBold"/>
                <a:cs typeface="Overpass SemiBold"/>
                <a:sym typeface="Overpass SemiBold"/>
              </a:rPr>
              <a:t>Reglas de Entrada Cartera Deteriorada</a:t>
            </a:r>
            <a:endParaRPr>
              <a:latin typeface="Overpass SemiBold"/>
              <a:ea typeface="Overpass SemiBold"/>
              <a:cs typeface="Overpass SemiBold"/>
              <a:sym typeface="Overpass SemiBold"/>
            </a:endParaRPr>
          </a:p>
        </p:txBody>
      </p:sp>
      <p:pic>
        <p:nvPicPr>
          <p:cNvPr descr="Google Shape;197;p29" id="426" name="Google Shape;426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269" y="200090"/>
            <a:ext cx="908157" cy="1698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" id="427" name="Google Shape;427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85381" y="170344"/>
            <a:ext cx="508539" cy="22933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28" name="Google Shape;428;p46"/>
          <p:cNvGraphicFramePr/>
          <p:nvPr/>
        </p:nvGraphicFramePr>
        <p:xfrm>
          <a:off x="267800" y="12893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{496AB027-4005-48ED-9279-8D13C1627251}</a:tableStyleId>
              </a:tblPr>
              <a:tblGrid>
                <a:gridCol w="901750"/>
                <a:gridCol w="824400"/>
                <a:gridCol w="6656400"/>
              </a:tblGrid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lt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Jerarquía</a:t>
                      </a:r>
                      <a:endParaRPr b="1" sz="1100">
                        <a:solidFill>
                          <a:schemeClr val="lt1"/>
                        </a:solidFill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00AE0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lt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Criterio</a:t>
                      </a:r>
                      <a:endParaRPr b="1" sz="1100">
                        <a:solidFill>
                          <a:schemeClr val="lt1"/>
                        </a:solidFill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00AE0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lt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Descripción</a:t>
                      </a:r>
                      <a:endParaRPr b="1" sz="1100">
                        <a:solidFill>
                          <a:schemeClr val="lt1"/>
                        </a:solidFill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00AE01"/>
                    </a:solidFill>
                  </a:tcPr>
                </a:tc>
              </a:tr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1°</a:t>
                      </a:r>
                      <a:endParaRPr sz="11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11</a:t>
                      </a:r>
                      <a:endParaRPr sz="11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Cliente acogido a la ley de insolvencia y reemprendimiento LIR.</a:t>
                      </a:r>
                      <a:endParaRPr sz="11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465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2°</a:t>
                      </a:r>
                      <a:endParaRPr sz="11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8</a:t>
                      </a:r>
                      <a:endParaRPr sz="11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Cliente con Crédito hipotecario de la vivienda  o con crédito para financiamiento de estudios superiores CAE en cartera vencida.</a:t>
                      </a:r>
                      <a:endParaRPr sz="11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3°</a:t>
                      </a:r>
                      <a:endParaRPr sz="11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7</a:t>
                      </a:r>
                      <a:endParaRPr sz="11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Cliente con operación en cartera vencida.</a:t>
                      </a:r>
                      <a:endParaRPr sz="11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4°</a:t>
                      </a:r>
                      <a:endParaRPr sz="11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9</a:t>
                      </a:r>
                      <a:endParaRPr sz="11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Cliente con operación de crédito renegociado.</a:t>
                      </a:r>
                      <a:endParaRPr sz="11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5°</a:t>
                      </a:r>
                      <a:endParaRPr sz="11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10</a:t>
                      </a:r>
                      <a:endParaRPr sz="11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Cliente con curse de operación de venta bajo mora.</a:t>
                      </a:r>
                      <a:endParaRPr sz="11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6°</a:t>
                      </a:r>
                      <a:endParaRPr sz="11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13</a:t>
                      </a:r>
                      <a:endParaRPr sz="11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Clientes Factoring.</a:t>
                      </a:r>
                      <a:endParaRPr sz="11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7°</a:t>
                      </a:r>
                      <a:endParaRPr sz="11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12</a:t>
                      </a:r>
                      <a:endParaRPr sz="11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Clientes Walmart.</a:t>
                      </a:r>
                      <a:endParaRPr sz="11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29" name="Google Shape;429;p46"/>
          <p:cNvSpPr txBox="1"/>
          <p:nvPr/>
        </p:nvSpPr>
        <p:spPr>
          <a:xfrm>
            <a:off x="267800" y="4260750"/>
            <a:ext cx="8382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AE01"/>
                </a:solidFill>
                <a:latin typeface="Overpass"/>
                <a:ea typeface="Overpass"/>
                <a:cs typeface="Overpass"/>
                <a:sym typeface="Overpass"/>
              </a:rPr>
              <a:t>Excepciones </a:t>
            </a:r>
            <a:r>
              <a:rPr lang="es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(No se irradian): Créditos de financiamientos CAE no contingentes y  Créditos hipotecarios de la vivienda para rut menor a 50M.</a:t>
            </a:r>
            <a:endParaRPr sz="1100">
              <a:solidFill>
                <a:schemeClr val="dk1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430" name="Google Shape;430;p46"/>
          <p:cNvSpPr txBox="1"/>
          <p:nvPr/>
        </p:nvSpPr>
        <p:spPr>
          <a:xfrm>
            <a:off x="179275" y="964325"/>
            <a:ext cx="2304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Overpass SemiBold"/>
                <a:ea typeface="Overpass SemiBold"/>
                <a:cs typeface="Overpass SemiBold"/>
                <a:sym typeface="Overpass SemiBold"/>
              </a:rPr>
              <a:t>Documento de </a:t>
            </a:r>
            <a:r>
              <a:rPr lang="es" sz="1100">
                <a:solidFill>
                  <a:srgbClr val="00AE01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Diseño TI</a:t>
            </a:r>
            <a:endParaRPr sz="1100">
              <a:solidFill>
                <a:srgbClr val="00AE01"/>
              </a:solidFill>
              <a:latin typeface="Overpass SemiBold"/>
              <a:ea typeface="Overpass SemiBold"/>
              <a:cs typeface="Overpass SemiBold"/>
              <a:sym typeface="Overpass Semi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7"/>
          <p:cNvSpPr txBox="1"/>
          <p:nvPr>
            <p:ph type="title"/>
          </p:nvPr>
        </p:nvSpPr>
        <p:spPr>
          <a:xfrm>
            <a:off x="129750" y="516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verpass SemiBold"/>
                <a:ea typeface="Overpass SemiBold"/>
                <a:cs typeface="Overpass SemiBold"/>
                <a:sym typeface="Overpass SemiBold"/>
              </a:rPr>
              <a:t>Reglas de Entrada Cartera Deteriorada</a:t>
            </a:r>
            <a:endParaRPr>
              <a:latin typeface="Overpass SemiBold"/>
              <a:ea typeface="Overpass SemiBold"/>
              <a:cs typeface="Overpass SemiBold"/>
              <a:sym typeface="Overpass SemiBold"/>
            </a:endParaRPr>
          </a:p>
        </p:txBody>
      </p:sp>
      <p:pic>
        <p:nvPicPr>
          <p:cNvPr descr="Google Shape;197;p29" id="436" name="Google Shape;43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269" y="200090"/>
            <a:ext cx="908157" cy="1698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" id="437" name="Google Shape;437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85381" y="170344"/>
            <a:ext cx="508539" cy="22933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38" name="Google Shape;438;p47"/>
          <p:cNvGraphicFramePr/>
          <p:nvPr/>
        </p:nvGraphicFramePr>
        <p:xfrm>
          <a:off x="216625" y="13421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{496AB027-4005-48ED-9279-8D13C1627251}</a:tableStyleId>
              </a:tblPr>
              <a:tblGrid>
                <a:gridCol w="1026100"/>
                <a:gridCol w="1197475"/>
                <a:gridCol w="1395425"/>
                <a:gridCol w="1053150"/>
                <a:gridCol w="1264525"/>
                <a:gridCol w="1358500"/>
                <a:gridCol w="1138550"/>
              </a:tblGrid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lt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Cliente_Id</a:t>
                      </a:r>
                      <a:endParaRPr b="1" sz="1000">
                        <a:solidFill>
                          <a:schemeClr val="lt1"/>
                        </a:solidFill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00AE0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lt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Periodo_Id</a:t>
                      </a:r>
                      <a:endParaRPr b="1" sz="1000">
                        <a:solidFill>
                          <a:schemeClr val="lt1"/>
                        </a:solidFill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00AE0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lt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Contrato_Id</a:t>
                      </a:r>
                      <a:endParaRPr b="1" sz="1000">
                        <a:solidFill>
                          <a:schemeClr val="lt1"/>
                        </a:solidFill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00AE0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lt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num_dmor</a:t>
                      </a:r>
                      <a:endParaRPr b="1" sz="1000">
                        <a:solidFill>
                          <a:schemeClr val="lt1"/>
                        </a:solidFill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00AE0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lt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ind_deter_cli</a:t>
                      </a:r>
                      <a:endParaRPr b="1" sz="1000">
                        <a:solidFill>
                          <a:schemeClr val="lt1"/>
                        </a:solidFill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00AE0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lt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cod_motivo_deter</a:t>
                      </a:r>
                      <a:endParaRPr b="1" sz="1000">
                        <a:solidFill>
                          <a:schemeClr val="lt1"/>
                        </a:solidFill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00AE0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lt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ind_cdet</a:t>
                      </a:r>
                      <a:endParaRPr b="1" sz="1000">
                        <a:solidFill>
                          <a:schemeClr val="lt1"/>
                        </a:solidFill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00AE01"/>
                    </a:solidFill>
                  </a:tcPr>
                </a:tc>
              </a:tr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32029727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01-08-2025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D06800205079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111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</a:t>
                      </a: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7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43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32029727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01-08-2025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D06800191243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69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4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7 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32029727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01-08-2025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D06800205312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103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7</a:t>
                      </a: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32029727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01-08-2025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D06800197787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82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7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39" name="Google Shape;439;p47"/>
          <p:cNvSpPr txBox="1"/>
          <p:nvPr/>
        </p:nvSpPr>
        <p:spPr>
          <a:xfrm>
            <a:off x="179275" y="964325"/>
            <a:ext cx="3182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Overpass SemiBold"/>
                <a:ea typeface="Overpass SemiBold"/>
                <a:cs typeface="Overpass SemiBold"/>
                <a:sym typeface="Overpass SemiBold"/>
              </a:rPr>
              <a:t>Ejemplo </a:t>
            </a:r>
            <a:r>
              <a:rPr lang="es" sz="1100">
                <a:solidFill>
                  <a:srgbClr val="00AE01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D00</a:t>
            </a:r>
            <a:r>
              <a:rPr lang="es" sz="1100">
                <a:solidFill>
                  <a:schemeClr val="dk1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: Jerarquía de reglas de entrada</a:t>
            </a:r>
            <a:endParaRPr sz="1100">
              <a:solidFill>
                <a:schemeClr val="dk1"/>
              </a:solidFill>
              <a:latin typeface="Overpass SemiBold"/>
              <a:ea typeface="Overpass SemiBold"/>
              <a:cs typeface="Overpass SemiBold"/>
              <a:sym typeface="Overpass SemiBold"/>
            </a:endParaRPr>
          </a:p>
        </p:txBody>
      </p:sp>
      <p:sp>
        <p:nvSpPr>
          <p:cNvPr id="440" name="Google Shape;440;p47"/>
          <p:cNvSpPr/>
          <p:nvPr/>
        </p:nvSpPr>
        <p:spPr>
          <a:xfrm>
            <a:off x="6153300" y="1681604"/>
            <a:ext cx="1370700" cy="1345500"/>
          </a:xfrm>
          <a:prstGeom prst="roundRect">
            <a:avLst>
              <a:gd fmla="val 17556" name="adj"/>
            </a:avLst>
          </a:prstGeom>
          <a:noFill/>
          <a:ln cap="flat" cmpd="sng" w="19050">
            <a:solidFill>
              <a:srgbClr val="F400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47"/>
          <p:cNvSpPr txBox="1"/>
          <p:nvPr/>
        </p:nvSpPr>
        <p:spPr>
          <a:xfrm>
            <a:off x="216688" y="3280150"/>
            <a:ext cx="84336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Las operaciones D06800205079 y D06800205312 se deterioran por tener morosidad mayor a 90 días (</a:t>
            </a:r>
            <a:r>
              <a:rPr b="1" lang="es" sz="1100">
                <a:solidFill>
                  <a:srgbClr val="FFAC00"/>
                </a:solidFill>
                <a:latin typeface="Overpass"/>
                <a:ea typeface="Overpass"/>
                <a:cs typeface="Overpass"/>
                <a:sym typeface="Overpass"/>
              </a:rPr>
              <a:t>origen 1</a:t>
            </a:r>
            <a:r>
              <a:rPr lang="es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), mientras que las operaciones </a:t>
            </a:r>
            <a:r>
              <a:rPr lang="es" sz="10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D06800191243 y D06800197787</a:t>
            </a:r>
            <a:r>
              <a:rPr lang="es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 se deterioran por curse bajo mora (</a:t>
            </a:r>
            <a:r>
              <a:rPr b="1" lang="es" sz="1100">
                <a:solidFill>
                  <a:srgbClr val="005FFF"/>
                </a:solidFill>
                <a:latin typeface="Overpass"/>
                <a:ea typeface="Overpass"/>
                <a:cs typeface="Overpass"/>
                <a:sym typeface="Overpass"/>
              </a:rPr>
              <a:t>origen 4</a:t>
            </a:r>
            <a:r>
              <a:rPr lang="es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) y renegociación con más de 60 días de morosidad (</a:t>
            </a:r>
            <a:r>
              <a:rPr b="1" lang="es" sz="1100">
                <a:solidFill>
                  <a:srgbClr val="00AE01"/>
                </a:solidFill>
                <a:latin typeface="Overpass"/>
                <a:ea typeface="Overpass"/>
                <a:cs typeface="Overpass"/>
                <a:sym typeface="Overpass"/>
              </a:rPr>
              <a:t>origen 3</a:t>
            </a:r>
            <a:r>
              <a:rPr lang="es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), respectivamente. </a:t>
            </a:r>
            <a:endParaRPr sz="1100">
              <a:solidFill>
                <a:schemeClr val="dk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Por jerarquía, a nivel cliente, el motivo de deterioro es el </a:t>
            </a:r>
            <a:r>
              <a:rPr b="1" lang="es" sz="1100">
                <a:solidFill>
                  <a:srgbClr val="F40034"/>
                </a:solidFill>
                <a:latin typeface="Overpass"/>
                <a:ea typeface="Overpass"/>
                <a:cs typeface="Overpass"/>
                <a:sym typeface="Overpass"/>
              </a:rPr>
              <a:t>criterio 7 </a:t>
            </a:r>
            <a:r>
              <a:rPr lang="es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(operación en cartera vencida)</a:t>
            </a:r>
            <a:r>
              <a:rPr lang="es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.</a:t>
            </a:r>
            <a:endParaRPr sz="1100">
              <a:solidFill>
                <a:schemeClr val="dk1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442" name="Google Shape;442;p47"/>
          <p:cNvSpPr/>
          <p:nvPr/>
        </p:nvSpPr>
        <p:spPr>
          <a:xfrm>
            <a:off x="216625" y="1681588"/>
            <a:ext cx="5936700" cy="328500"/>
          </a:xfrm>
          <a:prstGeom prst="roundRect">
            <a:avLst>
              <a:gd fmla="val 42542" name="adj"/>
            </a:avLst>
          </a:prstGeom>
          <a:noFill/>
          <a:ln cap="flat" cmpd="sng" w="19050">
            <a:solidFill>
              <a:srgbClr val="FAA5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AA51A"/>
              </a:solidFill>
            </a:endParaRPr>
          </a:p>
        </p:txBody>
      </p:sp>
      <p:sp>
        <p:nvSpPr>
          <p:cNvPr id="443" name="Google Shape;443;p47"/>
          <p:cNvSpPr/>
          <p:nvPr/>
        </p:nvSpPr>
        <p:spPr>
          <a:xfrm>
            <a:off x="216625" y="2027751"/>
            <a:ext cx="5936700" cy="311700"/>
          </a:xfrm>
          <a:prstGeom prst="roundRect">
            <a:avLst>
              <a:gd fmla="val 42542" name="adj"/>
            </a:avLst>
          </a:prstGeom>
          <a:noFill/>
          <a:ln cap="flat" cmpd="sng" w="19050">
            <a:solidFill>
              <a:srgbClr val="005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AA51A"/>
              </a:solidFill>
            </a:endParaRPr>
          </a:p>
        </p:txBody>
      </p:sp>
      <p:sp>
        <p:nvSpPr>
          <p:cNvPr id="444" name="Google Shape;444;p47"/>
          <p:cNvSpPr/>
          <p:nvPr/>
        </p:nvSpPr>
        <p:spPr>
          <a:xfrm>
            <a:off x="216625" y="2701950"/>
            <a:ext cx="5936700" cy="311700"/>
          </a:xfrm>
          <a:prstGeom prst="roundRect">
            <a:avLst>
              <a:gd fmla="val 42542" name="adj"/>
            </a:avLst>
          </a:prstGeom>
          <a:noFill/>
          <a:ln cap="flat" cmpd="sng" w="19050">
            <a:solidFill>
              <a:srgbClr val="00AE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AA51A"/>
              </a:solidFill>
            </a:endParaRPr>
          </a:p>
        </p:txBody>
      </p:sp>
      <p:sp>
        <p:nvSpPr>
          <p:cNvPr id="445" name="Google Shape;445;p47"/>
          <p:cNvSpPr/>
          <p:nvPr/>
        </p:nvSpPr>
        <p:spPr>
          <a:xfrm>
            <a:off x="216625" y="2356438"/>
            <a:ext cx="5936700" cy="328500"/>
          </a:xfrm>
          <a:prstGeom prst="roundRect">
            <a:avLst>
              <a:gd fmla="val 42542" name="adj"/>
            </a:avLst>
          </a:prstGeom>
          <a:noFill/>
          <a:ln cap="flat" cmpd="sng" w="19050">
            <a:solidFill>
              <a:srgbClr val="FAA5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AA51A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8"/>
          <p:cNvSpPr txBox="1"/>
          <p:nvPr>
            <p:ph type="title"/>
          </p:nvPr>
        </p:nvSpPr>
        <p:spPr>
          <a:xfrm>
            <a:off x="129750" y="516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verpass SemiBold"/>
                <a:ea typeface="Overpass SemiBold"/>
                <a:cs typeface="Overpass SemiBold"/>
                <a:sym typeface="Overpass SemiBold"/>
              </a:rPr>
              <a:t>Reglas de Entrada Cartera Deteriorada</a:t>
            </a:r>
            <a:endParaRPr>
              <a:latin typeface="Overpass SemiBold"/>
              <a:ea typeface="Overpass SemiBold"/>
              <a:cs typeface="Overpass SemiBold"/>
              <a:sym typeface="Overpass SemiBold"/>
            </a:endParaRPr>
          </a:p>
        </p:txBody>
      </p:sp>
      <p:pic>
        <p:nvPicPr>
          <p:cNvPr descr="Google Shape;197;p29" id="451" name="Google Shape;451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269" y="200090"/>
            <a:ext cx="908157" cy="1698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" id="452" name="Google Shape;452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85381" y="170344"/>
            <a:ext cx="508539" cy="22933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53" name="Google Shape;453;p48"/>
          <p:cNvGraphicFramePr/>
          <p:nvPr/>
        </p:nvGraphicFramePr>
        <p:xfrm>
          <a:off x="216625" y="13421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{496AB027-4005-48ED-9279-8D13C1627251}</a:tableStyleId>
              </a:tblPr>
              <a:tblGrid>
                <a:gridCol w="1026100"/>
                <a:gridCol w="1197475"/>
                <a:gridCol w="1395425"/>
                <a:gridCol w="1053150"/>
                <a:gridCol w="1264525"/>
                <a:gridCol w="1358500"/>
                <a:gridCol w="1138550"/>
              </a:tblGrid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lt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Cliente_Id</a:t>
                      </a:r>
                      <a:endParaRPr b="1" sz="1000">
                        <a:solidFill>
                          <a:schemeClr val="lt1"/>
                        </a:solidFill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00AE0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lt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Periodo_Id</a:t>
                      </a:r>
                      <a:endParaRPr b="1" sz="1000">
                        <a:solidFill>
                          <a:schemeClr val="lt1"/>
                        </a:solidFill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00AE0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lt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Contrato_Id</a:t>
                      </a:r>
                      <a:endParaRPr b="1" sz="1000">
                        <a:solidFill>
                          <a:schemeClr val="lt1"/>
                        </a:solidFill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00AE0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lt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num_dmor</a:t>
                      </a:r>
                      <a:endParaRPr b="1" sz="1000">
                        <a:solidFill>
                          <a:schemeClr val="lt1"/>
                        </a:solidFill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00AE0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lt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ind_deter_cli</a:t>
                      </a:r>
                      <a:endParaRPr b="1" sz="1000">
                        <a:solidFill>
                          <a:schemeClr val="lt1"/>
                        </a:solidFill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00AE0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lt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cod_motivo_deter</a:t>
                      </a:r>
                      <a:endParaRPr b="1" sz="1000">
                        <a:solidFill>
                          <a:schemeClr val="lt1"/>
                        </a:solidFill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00AE0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lt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ind_cdet</a:t>
                      </a:r>
                      <a:endParaRPr b="1" sz="1000">
                        <a:solidFill>
                          <a:schemeClr val="lt1"/>
                        </a:solidFill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00AE01"/>
                    </a:solidFill>
                  </a:tcPr>
                </a:tc>
              </a:tr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2523547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01-07-2024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C06627399591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59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43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2523547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01-07-2024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D06610091517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82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2523547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01-07-2024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A24427399594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0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2523547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01-08-2024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C06627399591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0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5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7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2523547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01-08-2024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D06610295349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113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7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15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2523547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01-08-2024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A24427399594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0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5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7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</a:t>
                      </a:r>
                      <a:endParaRPr sz="10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454" name="Google Shape;454;p48"/>
          <p:cNvSpPr txBox="1"/>
          <p:nvPr/>
        </p:nvSpPr>
        <p:spPr>
          <a:xfrm>
            <a:off x="179275" y="964325"/>
            <a:ext cx="3182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Overpass SemiBold"/>
                <a:ea typeface="Overpass SemiBold"/>
                <a:cs typeface="Overpass SemiBold"/>
                <a:sym typeface="Overpass SemiBold"/>
              </a:rPr>
              <a:t>Ejemplo</a:t>
            </a:r>
            <a:r>
              <a:rPr lang="es" sz="1100">
                <a:latin typeface="Overpass SemiBold"/>
                <a:ea typeface="Overpass SemiBold"/>
                <a:cs typeface="Overpass SemiBold"/>
                <a:sym typeface="Overpass SemiBold"/>
              </a:rPr>
              <a:t> </a:t>
            </a:r>
            <a:r>
              <a:rPr lang="es" sz="1100">
                <a:solidFill>
                  <a:srgbClr val="00AE01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D00</a:t>
            </a:r>
            <a:r>
              <a:rPr lang="es" sz="1100">
                <a:solidFill>
                  <a:schemeClr val="dk1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: Jerarquía de reglas de entrada</a:t>
            </a:r>
            <a:endParaRPr sz="1100">
              <a:solidFill>
                <a:schemeClr val="dk1"/>
              </a:solidFill>
              <a:latin typeface="Overpass SemiBold"/>
              <a:ea typeface="Overpass SemiBold"/>
              <a:cs typeface="Overpass SemiBold"/>
              <a:sym typeface="Overpass SemiBold"/>
            </a:endParaRPr>
          </a:p>
        </p:txBody>
      </p:sp>
      <p:sp>
        <p:nvSpPr>
          <p:cNvPr id="455" name="Google Shape;455;p48"/>
          <p:cNvSpPr/>
          <p:nvPr/>
        </p:nvSpPr>
        <p:spPr>
          <a:xfrm>
            <a:off x="216650" y="3033000"/>
            <a:ext cx="5936700" cy="328500"/>
          </a:xfrm>
          <a:prstGeom prst="roundRect">
            <a:avLst>
              <a:gd fmla="val 42542" name="adj"/>
            </a:avLst>
          </a:prstGeom>
          <a:noFill/>
          <a:ln cap="flat" cmpd="sng" w="19050">
            <a:solidFill>
              <a:srgbClr val="FAA5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AA51A"/>
              </a:solidFill>
            </a:endParaRPr>
          </a:p>
        </p:txBody>
      </p:sp>
      <p:sp>
        <p:nvSpPr>
          <p:cNvPr id="456" name="Google Shape;456;p48"/>
          <p:cNvSpPr/>
          <p:nvPr/>
        </p:nvSpPr>
        <p:spPr>
          <a:xfrm>
            <a:off x="6148595" y="2694300"/>
            <a:ext cx="1370700" cy="1005900"/>
          </a:xfrm>
          <a:prstGeom prst="roundRect">
            <a:avLst>
              <a:gd fmla="val 17556" name="adj"/>
            </a:avLst>
          </a:prstGeom>
          <a:noFill/>
          <a:ln cap="flat" cmpd="sng" w="19050">
            <a:solidFill>
              <a:srgbClr val="F400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48"/>
          <p:cNvSpPr txBox="1"/>
          <p:nvPr/>
        </p:nvSpPr>
        <p:spPr>
          <a:xfrm>
            <a:off x="216625" y="3950650"/>
            <a:ext cx="8433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La segunda operación del cliente se deteriora por tener morosidad mayor a 90 días (</a:t>
            </a:r>
            <a:r>
              <a:rPr b="1" lang="es" sz="1100">
                <a:solidFill>
                  <a:srgbClr val="FFAC00"/>
                </a:solidFill>
                <a:latin typeface="Overpass"/>
                <a:ea typeface="Overpass"/>
                <a:cs typeface="Overpass"/>
                <a:sym typeface="Overpass"/>
              </a:rPr>
              <a:t>origen 1</a:t>
            </a:r>
            <a:r>
              <a:rPr lang="es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) e irradia a las demás </a:t>
            </a:r>
            <a:r>
              <a:rPr lang="es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operaciones</a:t>
            </a:r>
            <a:r>
              <a:rPr lang="es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 (</a:t>
            </a:r>
            <a:r>
              <a:rPr b="1" lang="es" sz="1100">
                <a:solidFill>
                  <a:srgbClr val="FFAC00"/>
                </a:solidFill>
                <a:latin typeface="Overpass"/>
                <a:ea typeface="Overpass"/>
                <a:cs typeface="Overpass"/>
                <a:sym typeface="Overpass"/>
              </a:rPr>
              <a:t>origen 5</a:t>
            </a:r>
            <a:r>
              <a:rPr lang="es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). A nivel cliente, el motivo de deterioro es el </a:t>
            </a:r>
            <a:r>
              <a:rPr b="1" lang="es" sz="1100">
                <a:solidFill>
                  <a:srgbClr val="F40034"/>
                </a:solidFill>
                <a:latin typeface="Overpass"/>
                <a:ea typeface="Overpass"/>
                <a:cs typeface="Overpass"/>
                <a:sym typeface="Overpass"/>
              </a:rPr>
              <a:t>criterio 7</a:t>
            </a:r>
            <a:r>
              <a:rPr lang="es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.</a:t>
            </a:r>
            <a:endParaRPr sz="1100">
              <a:solidFill>
                <a:schemeClr val="dk1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458" name="Google Shape;458;p48"/>
          <p:cNvSpPr/>
          <p:nvPr/>
        </p:nvSpPr>
        <p:spPr>
          <a:xfrm>
            <a:off x="4888775" y="2694300"/>
            <a:ext cx="1252200" cy="1005900"/>
          </a:xfrm>
          <a:prstGeom prst="roundRect">
            <a:avLst>
              <a:gd fmla="val 18102" name="adj"/>
            </a:avLst>
          </a:prstGeom>
          <a:noFill/>
          <a:ln cap="flat" cmpd="sng" w="19050">
            <a:solidFill>
              <a:srgbClr val="FFA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9"/>
          <p:cNvSpPr/>
          <p:nvPr/>
        </p:nvSpPr>
        <p:spPr>
          <a:xfrm>
            <a:off x="4533976" y="-132011"/>
            <a:ext cx="4651200" cy="5407500"/>
          </a:xfrm>
          <a:prstGeom prst="rect">
            <a:avLst/>
          </a:prstGeom>
          <a:solidFill>
            <a:srgbClr val="EA332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3327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EA332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Google Shape;96;p19" id="464" name="Google Shape;464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3286" y="453912"/>
            <a:ext cx="1827959" cy="341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" id="465" name="Google Shape;465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606" y="4673794"/>
            <a:ext cx="508539" cy="229336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49"/>
          <p:cNvSpPr txBox="1"/>
          <p:nvPr>
            <p:ph type="title"/>
          </p:nvPr>
        </p:nvSpPr>
        <p:spPr>
          <a:xfrm>
            <a:off x="446869" y="914314"/>
            <a:ext cx="3714300" cy="25011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DAB31"/>
              </a:buClr>
              <a:buSzPts val="4500"/>
              <a:buFont typeface="Overpass"/>
              <a:buNone/>
            </a:pPr>
            <a:r>
              <a:rPr b="1" lang="es" sz="3600">
                <a:solidFill>
                  <a:srgbClr val="1E1E1E"/>
                </a:solidFill>
                <a:latin typeface="Overpass"/>
                <a:ea typeface="Overpass"/>
                <a:cs typeface="Overpass"/>
                <a:sym typeface="Overpass"/>
              </a:rPr>
              <a:t>Nueva Implementación </a:t>
            </a:r>
            <a:r>
              <a:rPr b="1" lang="es" sz="2600">
                <a:solidFill>
                  <a:srgbClr val="EA3327"/>
                </a:solidFill>
                <a:latin typeface="Overpass"/>
                <a:ea typeface="Overpass"/>
                <a:cs typeface="Overpass"/>
                <a:sym typeface="Overpass"/>
              </a:rPr>
              <a:t>Databricks</a:t>
            </a:r>
            <a:endParaRPr b="1" sz="2600">
              <a:solidFill>
                <a:srgbClr val="EA3327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DAB31"/>
              </a:buClr>
              <a:buSzPts val="4500"/>
              <a:buFont typeface="Overpass"/>
              <a:buNone/>
            </a:pPr>
            <a:r>
              <a:t/>
            </a:r>
            <a:endParaRPr b="1" sz="2500">
              <a:solidFill>
                <a:srgbClr val="005FFF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descr="pose2.png" id="467" name="Google Shape;467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61175" y="249125"/>
            <a:ext cx="4113151" cy="6021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0"/>
          <p:cNvSpPr/>
          <p:nvPr/>
        </p:nvSpPr>
        <p:spPr>
          <a:xfrm>
            <a:off x="691050" y="3198850"/>
            <a:ext cx="7629600" cy="945600"/>
          </a:xfrm>
          <a:prstGeom prst="roundRect">
            <a:avLst>
              <a:gd fmla="val 1407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50"/>
          <p:cNvSpPr txBox="1"/>
          <p:nvPr>
            <p:ph type="title"/>
          </p:nvPr>
        </p:nvSpPr>
        <p:spPr>
          <a:xfrm>
            <a:off x="129750" y="516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verpass SemiBold"/>
                <a:ea typeface="Overpass SemiBold"/>
                <a:cs typeface="Overpass SemiBold"/>
                <a:sym typeface="Overpass SemiBold"/>
              </a:rPr>
              <a:t>Hallazgos Encontrados Nueva Implementación </a:t>
            </a:r>
            <a:r>
              <a:rPr lang="es">
                <a:solidFill>
                  <a:srgbClr val="F40034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Databricks </a:t>
            </a:r>
            <a:endParaRPr>
              <a:solidFill>
                <a:srgbClr val="F40034"/>
              </a:solidFill>
              <a:latin typeface="Overpass SemiBold"/>
              <a:ea typeface="Overpass SemiBold"/>
              <a:cs typeface="Overpass SemiBold"/>
              <a:sym typeface="Overpass SemiBold"/>
            </a:endParaRPr>
          </a:p>
        </p:txBody>
      </p:sp>
      <p:pic>
        <p:nvPicPr>
          <p:cNvPr descr="Google Shape;197;p29" id="474" name="Google Shape;474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269" y="200090"/>
            <a:ext cx="908157" cy="1698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" id="475" name="Google Shape;475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85381" y="170344"/>
            <a:ext cx="508539" cy="229336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50"/>
          <p:cNvSpPr txBox="1"/>
          <p:nvPr/>
        </p:nvSpPr>
        <p:spPr>
          <a:xfrm>
            <a:off x="238513" y="1645955"/>
            <a:ext cx="1290900" cy="5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2860FF"/>
              </a:buClr>
              <a:buSzPts val="12000"/>
              <a:buFont typeface="Overpass SemiBold"/>
              <a:buNone/>
            </a:pPr>
            <a:r>
              <a:rPr lang="es" sz="5100">
                <a:solidFill>
                  <a:srgbClr val="F40034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1</a:t>
            </a:r>
            <a:endParaRPr b="0" i="0" sz="5100" u="none" cap="none" strike="noStrike">
              <a:solidFill>
                <a:srgbClr val="F4003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50"/>
          <p:cNvSpPr txBox="1"/>
          <p:nvPr/>
        </p:nvSpPr>
        <p:spPr>
          <a:xfrm>
            <a:off x="725125" y="1456350"/>
            <a:ext cx="4453200" cy="7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3000"/>
              <a:buFont typeface="Overpass SemiBold"/>
              <a:buNone/>
            </a:pPr>
            <a:r>
              <a:rPr lang="es" sz="2000">
                <a:solidFill>
                  <a:srgbClr val="1E1E1E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Clientes LIR</a:t>
            </a:r>
            <a:r>
              <a:rPr b="0" i="0" lang="es" sz="3000" u="none" cap="none" strike="noStrike">
                <a:solidFill>
                  <a:srgbClr val="1E1E1E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85EF6"/>
              </a:buClr>
              <a:buSzPts val="3000"/>
              <a:buFont typeface="Overpass SemiBold"/>
              <a:buNone/>
            </a:pPr>
            <a:r>
              <a:rPr lang="es" sz="1500">
                <a:solidFill>
                  <a:srgbClr val="F40034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Ley de insolvencia y reemprendimiento</a:t>
            </a:r>
            <a:r>
              <a:rPr lang="es" sz="1500">
                <a:solidFill>
                  <a:srgbClr val="F40034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 </a:t>
            </a:r>
            <a:endParaRPr b="0" i="0" sz="500" u="none" cap="none" strike="noStrike">
              <a:solidFill>
                <a:srgbClr val="F4003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50"/>
          <p:cNvSpPr txBox="1"/>
          <p:nvPr/>
        </p:nvSpPr>
        <p:spPr>
          <a:xfrm>
            <a:off x="238525" y="2211775"/>
            <a:ext cx="80469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Nueva cardet en databricks incluirá el deterioro de las operaciones hipotecarias por motivo de clientes LIR. </a:t>
            </a:r>
            <a:endParaRPr sz="1100">
              <a:solidFill>
                <a:schemeClr val="dk1"/>
              </a:solidFill>
              <a:highlight>
                <a:srgbClr val="FBCFCC"/>
              </a:highlight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Se realizó una validación de clientes LIR en Databricks en base a información compartida por Normaliza, verificando que todos los clientes se encuentran marcados correctamente. </a:t>
            </a:r>
            <a:endParaRPr sz="1100">
              <a:solidFill>
                <a:schemeClr val="dk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Es necesario alinear la nueva cardet con el inventario existente de On-premise. Para ello, se deben marcar solo los nuevos clientes LIR, sin aplicar esta marca de forma retroactiva e implementar un criterio de salida de deterioro. </a:t>
            </a:r>
            <a:endParaRPr sz="1100">
              <a:solidFill>
                <a:schemeClr val="dk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Se propone que los clientes que salgan de LIR, se deben mantener 12 meses en deterioro y luego evaluar los demás criterios de salida.</a:t>
            </a:r>
            <a:endParaRPr sz="1100">
              <a:solidFill>
                <a:schemeClr val="dk1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grpSp>
        <p:nvGrpSpPr>
          <p:cNvPr id="479" name="Google Shape;479;p50"/>
          <p:cNvGrpSpPr/>
          <p:nvPr/>
        </p:nvGrpSpPr>
        <p:grpSpPr>
          <a:xfrm>
            <a:off x="335714" y="2269391"/>
            <a:ext cx="309602" cy="309602"/>
            <a:chOff x="129756" y="2703705"/>
            <a:chExt cx="452304" cy="452304"/>
          </a:xfrm>
        </p:grpSpPr>
        <p:sp>
          <p:nvSpPr>
            <p:cNvPr id="480" name="Google Shape;480;p50"/>
            <p:cNvSpPr/>
            <p:nvPr/>
          </p:nvSpPr>
          <p:spPr>
            <a:xfrm>
              <a:off x="129756" y="2703705"/>
              <a:ext cx="452304" cy="452304"/>
            </a:xfrm>
            <a:custGeom>
              <a:rect b="b" l="l" r="r" t="t"/>
              <a:pathLst>
                <a:path extrusionOk="0" h="21600" w="21600">
                  <a:moveTo>
                    <a:pt x="14264" y="6712"/>
                  </a:moveTo>
                  <a:cubicBezTo>
                    <a:pt x="14750" y="6712"/>
                    <a:pt x="15236" y="6899"/>
                    <a:pt x="15606" y="7269"/>
                  </a:cubicBezTo>
                  <a:cubicBezTo>
                    <a:pt x="16348" y="8011"/>
                    <a:pt x="16348" y="9213"/>
                    <a:pt x="15609" y="9956"/>
                  </a:cubicBezTo>
                  <a:lnTo>
                    <a:pt x="11238" y="14323"/>
                  </a:lnTo>
                  <a:cubicBezTo>
                    <a:pt x="10881" y="14681"/>
                    <a:pt x="10398" y="14883"/>
                    <a:pt x="9896" y="14883"/>
                  </a:cubicBezTo>
                  <a:lnTo>
                    <a:pt x="9879" y="14883"/>
                  </a:lnTo>
                  <a:cubicBezTo>
                    <a:pt x="9874" y="14883"/>
                    <a:pt x="9870" y="14883"/>
                    <a:pt x="9866" y="14883"/>
                  </a:cubicBezTo>
                  <a:cubicBezTo>
                    <a:pt x="9371" y="14883"/>
                    <a:pt x="8894" y="14685"/>
                    <a:pt x="8542" y="14333"/>
                  </a:cubicBezTo>
                  <a:lnTo>
                    <a:pt x="5991" y="11799"/>
                  </a:lnTo>
                  <a:cubicBezTo>
                    <a:pt x="5190" y="11069"/>
                    <a:pt x="5160" y="9817"/>
                    <a:pt x="5926" y="9052"/>
                  </a:cubicBezTo>
                  <a:cubicBezTo>
                    <a:pt x="6298" y="8679"/>
                    <a:pt x="6783" y="8496"/>
                    <a:pt x="7267" y="8496"/>
                  </a:cubicBezTo>
                  <a:cubicBezTo>
                    <a:pt x="7782" y="8496"/>
                    <a:pt x="8295" y="8703"/>
                    <a:pt x="8670" y="9115"/>
                  </a:cubicBezTo>
                  <a:lnTo>
                    <a:pt x="9875" y="10317"/>
                  </a:lnTo>
                  <a:lnTo>
                    <a:pt x="12923" y="7269"/>
                  </a:lnTo>
                  <a:cubicBezTo>
                    <a:pt x="13293" y="6899"/>
                    <a:pt x="13778" y="6712"/>
                    <a:pt x="14264" y="6712"/>
                  </a:cubicBezTo>
                  <a:close/>
                  <a:moveTo>
                    <a:pt x="10800" y="0"/>
                  </a:moveTo>
                  <a:cubicBezTo>
                    <a:pt x="7951" y="0"/>
                    <a:pt x="5251" y="1133"/>
                    <a:pt x="3192" y="3192"/>
                  </a:cubicBezTo>
                  <a:cubicBezTo>
                    <a:pt x="1134" y="5251"/>
                    <a:pt x="0" y="7954"/>
                    <a:pt x="0" y="10800"/>
                  </a:cubicBezTo>
                  <a:cubicBezTo>
                    <a:pt x="0" y="13645"/>
                    <a:pt x="1134" y="16348"/>
                    <a:pt x="3192" y="18407"/>
                  </a:cubicBezTo>
                  <a:cubicBezTo>
                    <a:pt x="5251" y="20466"/>
                    <a:pt x="7951" y="21600"/>
                    <a:pt x="10800" y="21600"/>
                  </a:cubicBezTo>
                  <a:cubicBezTo>
                    <a:pt x="13645" y="21600"/>
                    <a:pt x="16345" y="20466"/>
                    <a:pt x="18403" y="18407"/>
                  </a:cubicBezTo>
                  <a:cubicBezTo>
                    <a:pt x="20462" y="16348"/>
                    <a:pt x="21600" y="13645"/>
                    <a:pt x="21600" y="10800"/>
                  </a:cubicBezTo>
                  <a:cubicBezTo>
                    <a:pt x="21600" y="7954"/>
                    <a:pt x="20462" y="5251"/>
                    <a:pt x="18403" y="3192"/>
                  </a:cubicBezTo>
                  <a:cubicBezTo>
                    <a:pt x="16345" y="1133"/>
                    <a:pt x="13645" y="0"/>
                    <a:pt x="10800" y="0"/>
                  </a:cubicBezTo>
                  <a:close/>
                </a:path>
              </a:pathLst>
            </a:custGeom>
            <a:solidFill>
              <a:srgbClr val="00AE0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5D74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50"/>
            <p:cNvSpPr/>
            <p:nvPr/>
          </p:nvSpPr>
          <p:spPr>
            <a:xfrm>
              <a:off x="269292" y="2870835"/>
              <a:ext cx="172419" cy="118044"/>
            </a:xfrm>
            <a:custGeom>
              <a:rect b="b" l="l" r="r" t="t"/>
              <a:pathLst>
                <a:path extrusionOk="0" h="21600" w="20874">
                  <a:moveTo>
                    <a:pt x="19275" y="0"/>
                  </a:moveTo>
                  <a:cubicBezTo>
                    <a:pt x="19272" y="0"/>
                    <a:pt x="19269" y="0"/>
                    <a:pt x="19264" y="0"/>
                  </a:cubicBezTo>
                  <a:cubicBezTo>
                    <a:pt x="18838" y="0"/>
                    <a:pt x="18434" y="245"/>
                    <a:pt x="18136" y="700"/>
                  </a:cubicBezTo>
                  <a:lnTo>
                    <a:pt x="9279" y="14084"/>
                  </a:lnTo>
                  <a:cubicBezTo>
                    <a:pt x="8967" y="14565"/>
                    <a:pt x="8558" y="14805"/>
                    <a:pt x="8146" y="14805"/>
                  </a:cubicBezTo>
                  <a:cubicBezTo>
                    <a:pt x="7736" y="14805"/>
                    <a:pt x="7324" y="14565"/>
                    <a:pt x="7012" y="14084"/>
                  </a:cubicBezTo>
                  <a:cubicBezTo>
                    <a:pt x="7003" y="14084"/>
                    <a:pt x="7003" y="14084"/>
                    <a:pt x="6995" y="14071"/>
                  </a:cubicBezTo>
                  <a:cubicBezTo>
                    <a:pt x="6969" y="14032"/>
                    <a:pt x="6935" y="13981"/>
                    <a:pt x="6901" y="13942"/>
                  </a:cubicBezTo>
                  <a:lnTo>
                    <a:pt x="2821" y="7774"/>
                  </a:lnTo>
                  <a:cubicBezTo>
                    <a:pt x="2500" y="7207"/>
                    <a:pt x="2048" y="6919"/>
                    <a:pt x="1593" y="6919"/>
                  </a:cubicBezTo>
                  <a:cubicBezTo>
                    <a:pt x="1187" y="6919"/>
                    <a:pt x="778" y="7156"/>
                    <a:pt x="468" y="7632"/>
                  </a:cubicBezTo>
                  <a:cubicBezTo>
                    <a:pt x="-191" y="8629"/>
                    <a:pt x="-148" y="10270"/>
                    <a:pt x="562" y="11189"/>
                  </a:cubicBezTo>
                  <a:lnTo>
                    <a:pt x="7029" y="20913"/>
                  </a:lnTo>
                  <a:cubicBezTo>
                    <a:pt x="7322" y="21355"/>
                    <a:pt x="7711" y="21600"/>
                    <a:pt x="8120" y="21600"/>
                  </a:cubicBezTo>
                  <a:cubicBezTo>
                    <a:pt x="8128" y="21600"/>
                    <a:pt x="8140" y="21600"/>
                    <a:pt x="8151" y="21600"/>
                  </a:cubicBezTo>
                  <a:lnTo>
                    <a:pt x="8168" y="21600"/>
                  </a:lnTo>
                  <a:cubicBezTo>
                    <a:pt x="8603" y="21600"/>
                    <a:pt x="9015" y="21342"/>
                    <a:pt x="9330" y="20874"/>
                  </a:cubicBezTo>
                  <a:lnTo>
                    <a:pt x="20403" y="4140"/>
                  </a:lnTo>
                  <a:cubicBezTo>
                    <a:pt x="21409" y="2603"/>
                    <a:pt x="20696" y="0"/>
                    <a:pt x="19275" y="0"/>
                  </a:cubicBezTo>
                  <a:close/>
                </a:path>
              </a:pathLst>
            </a:custGeom>
            <a:solidFill>
              <a:srgbClr val="00AE0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5D74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2" name="Google Shape;482;p50"/>
          <p:cNvGrpSpPr/>
          <p:nvPr/>
        </p:nvGrpSpPr>
        <p:grpSpPr>
          <a:xfrm>
            <a:off x="335714" y="2652853"/>
            <a:ext cx="309602" cy="309602"/>
            <a:chOff x="129756" y="2703705"/>
            <a:chExt cx="452304" cy="452304"/>
          </a:xfrm>
        </p:grpSpPr>
        <p:sp>
          <p:nvSpPr>
            <p:cNvPr id="483" name="Google Shape;483;p50"/>
            <p:cNvSpPr/>
            <p:nvPr/>
          </p:nvSpPr>
          <p:spPr>
            <a:xfrm>
              <a:off x="129756" y="2703705"/>
              <a:ext cx="452304" cy="452304"/>
            </a:xfrm>
            <a:custGeom>
              <a:rect b="b" l="l" r="r" t="t"/>
              <a:pathLst>
                <a:path extrusionOk="0" h="21600" w="21600">
                  <a:moveTo>
                    <a:pt x="14264" y="6712"/>
                  </a:moveTo>
                  <a:cubicBezTo>
                    <a:pt x="14750" y="6712"/>
                    <a:pt x="15236" y="6899"/>
                    <a:pt x="15606" y="7269"/>
                  </a:cubicBezTo>
                  <a:cubicBezTo>
                    <a:pt x="16348" y="8011"/>
                    <a:pt x="16348" y="9213"/>
                    <a:pt x="15609" y="9956"/>
                  </a:cubicBezTo>
                  <a:lnTo>
                    <a:pt x="11238" y="14323"/>
                  </a:lnTo>
                  <a:cubicBezTo>
                    <a:pt x="10881" y="14681"/>
                    <a:pt x="10398" y="14883"/>
                    <a:pt x="9896" y="14883"/>
                  </a:cubicBezTo>
                  <a:lnTo>
                    <a:pt x="9879" y="14883"/>
                  </a:lnTo>
                  <a:cubicBezTo>
                    <a:pt x="9874" y="14883"/>
                    <a:pt x="9870" y="14883"/>
                    <a:pt x="9866" y="14883"/>
                  </a:cubicBezTo>
                  <a:cubicBezTo>
                    <a:pt x="9371" y="14883"/>
                    <a:pt x="8894" y="14685"/>
                    <a:pt x="8542" y="14333"/>
                  </a:cubicBezTo>
                  <a:lnTo>
                    <a:pt x="5991" y="11799"/>
                  </a:lnTo>
                  <a:cubicBezTo>
                    <a:pt x="5190" y="11069"/>
                    <a:pt x="5160" y="9817"/>
                    <a:pt x="5926" y="9052"/>
                  </a:cubicBezTo>
                  <a:cubicBezTo>
                    <a:pt x="6298" y="8679"/>
                    <a:pt x="6783" y="8496"/>
                    <a:pt x="7267" y="8496"/>
                  </a:cubicBezTo>
                  <a:cubicBezTo>
                    <a:pt x="7782" y="8496"/>
                    <a:pt x="8295" y="8703"/>
                    <a:pt x="8670" y="9115"/>
                  </a:cubicBezTo>
                  <a:lnTo>
                    <a:pt x="9875" y="10317"/>
                  </a:lnTo>
                  <a:lnTo>
                    <a:pt x="12923" y="7269"/>
                  </a:lnTo>
                  <a:cubicBezTo>
                    <a:pt x="13293" y="6899"/>
                    <a:pt x="13778" y="6712"/>
                    <a:pt x="14264" y="6712"/>
                  </a:cubicBezTo>
                  <a:close/>
                  <a:moveTo>
                    <a:pt x="10800" y="0"/>
                  </a:moveTo>
                  <a:cubicBezTo>
                    <a:pt x="7951" y="0"/>
                    <a:pt x="5251" y="1133"/>
                    <a:pt x="3192" y="3192"/>
                  </a:cubicBezTo>
                  <a:cubicBezTo>
                    <a:pt x="1134" y="5251"/>
                    <a:pt x="0" y="7954"/>
                    <a:pt x="0" y="10800"/>
                  </a:cubicBezTo>
                  <a:cubicBezTo>
                    <a:pt x="0" y="13645"/>
                    <a:pt x="1134" y="16348"/>
                    <a:pt x="3192" y="18407"/>
                  </a:cubicBezTo>
                  <a:cubicBezTo>
                    <a:pt x="5251" y="20466"/>
                    <a:pt x="7951" y="21600"/>
                    <a:pt x="10800" y="21600"/>
                  </a:cubicBezTo>
                  <a:cubicBezTo>
                    <a:pt x="13645" y="21600"/>
                    <a:pt x="16345" y="20466"/>
                    <a:pt x="18403" y="18407"/>
                  </a:cubicBezTo>
                  <a:cubicBezTo>
                    <a:pt x="20462" y="16348"/>
                    <a:pt x="21600" y="13645"/>
                    <a:pt x="21600" y="10800"/>
                  </a:cubicBezTo>
                  <a:cubicBezTo>
                    <a:pt x="21600" y="7954"/>
                    <a:pt x="20462" y="5251"/>
                    <a:pt x="18403" y="3192"/>
                  </a:cubicBezTo>
                  <a:cubicBezTo>
                    <a:pt x="16345" y="1133"/>
                    <a:pt x="13645" y="0"/>
                    <a:pt x="10800" y="0"/>
                  </a:cubicBezTo>
                  <a:close/>
                </a:path>
              </a:pathLst>
            </a:custGeom>
            <a:solidFill>
              <a:srgbClr val="00AE0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5D74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50"/>
            <p:cNvSpPr/>
            <p:nvPr/>
          </p:nvSpPr>
          <p:spPr>
            <a:xfrm>
              <a:off x="269292" y="2870835"/>
              <a:ext cx="172419" cy="118044"/>
            </a:xfrm>
            <a:custGeom>
              <a:rect b="b" l="l" r="r" t="t"/>
              <a:pathLst>
                <a:path extrusionOk="0" h="21600" w="20874">
                  <a:moveTo>
                    <a:pt x="19275" y="0"/>
                  </a:moveTo>
                  <a:cubicBezTo>
                    <a:pt x="19272" y="0"/>
                    <a:pt x="19269" y="0"/>
                    <a:pt x="19264" y="0"/>
                  </a:cubicBezTo>
                  <a:cubicBezTo>
                    <a:pt x="18838" y="0"/>
                    <a:pt x="18434" y="245"/>
                    <a:pt x="18136" y="700"/>
                  </a:cubicBezTo>
                  <a:lnTo>
                    <a:pt x="9279" y="14084"/>
                  </a:lnTo>
                  <a:cubicBezTo>
                    <a:pt x="8967" y="14565"/>
                    <a:pt x="8558" y="14805"/>
                    <a:pt x="8146" y="14805"/>
                  </a:cubicBezTo>
                  <a:cubicBezTo>
                    <a:pt x="7736" y="14805"/>
                    <a:pt x="7324" y="14565"/>
                    <a:pt x="7012" y="14084"/>
                  </a:cubicBezTo>
                  <a:cubicBezTo>
                    <a:pt x="7003" y="14084"/>
                    <a:pt x="7003" y="14084"/>
                    <a:pt x="6995" y="14071"/>
                  </a:cubicBezTo>
                  <a:cubicBezTo>
                    <a:pt x="6969" y="14032"/>
                    <a:pt x="6935" y="13981"/>
                    <a:pt x="6901" y="13942"/>
                  </a:cubicBezTo>
                  <a:lnTo>
                    <a:pt x="2821" y="7774"/>
                  </a:lnTo>
                  <a:cubicBezTo>
                    <a:pt x="2500" y="7207"/>
                    <a:pt x="2048" y="6919"/>
                    <a:pt x="1593" y="6919"/>
                  </a:cubicBezTo>
                  <a:cubicBezTo>
                    <a:pt x="1187" y="6919"/>
                    <a:pt x="778" y="7156"/>
                    <a:pt x="468" y="7632"/>
                  </a:cubicBezTo>
                  <a:cubicBezTo>
                    <a:pt x="-191" y="8629"/>
                    <a:pt x="-148" y="10270"/>
                    <a:pt x="562" y="11189"/>
                  </a:cubicBezTo>
                  <a:lnTo>
                    <a:pt x="7029" y="20913"/>
                  </a:lnTo>
                  <a:cubicBezTo>
                    <a:pt x="7322" y="21355"/>
                    <a:pt x="7711" y="21600"/>
                    <a:pt x="8120" y="21600"/>
                  </a:cubicBezTo>
                  <a:cubicBezTo>
                    <a:pt x="8128" y="21600"/>
                    <a:pt x="8140" y="21600"/>
                    <a:pt x="8151" y="21600"/>
                  </a:cubicBezTo>
                  <a:lnTo>
                    <a:pt x="8168" y="21600"/>
                  </a:lnTo>
                  <a:cubicBezTo>
                    <a:pt x="8603" y="21600"/>
                    <a:pt x="9015" y="21342"/>
                    <a:pt x="9330" y="20874"/>
                  </a:cubicBezTo>
                  <a:lnTo>
                    <a:pt x="20403" y="4140"/>
                  </a:lnTo>
                  <a:cubicBezTo>
                    <a:pt x="21409" y="2603"/>
                    <a:pt x="20696" y="0"/>
                    <a:pt x="19275" y="0"/>
                  </a:cubicBezTo>
                  <a:close/>
                </a:path>
              </a:pathLst>
            </a:custGeom>
            <a:solidFill>
              <a:srgbClr val="00AE0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5D74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5" name="Google Shape;485;p50"/>
          <p:cNvGrpSpPr/>
          <p:nvPr/>
        </p:nvGrpSpPr>
        <p:grpSpPr>
          <a:xfrm>
            <a:off x="326731" y="3198847"/>
            <a:ext cx="327580" cy="327580"/>
            <a:chOff x="2896286" y="2428823"/>
            <a:chExt cx="471474" cy="471474"/>
          </a:xfrm>
        </p:grpSpPr>
        <p:sp>
          <p:nvSpPr>
            <p:cNvPr id="486" name="Google Shape;486;p50"/>
            <p:cNvSpPr/>
            <p:nvPr/>
          </p:nvSpPr>
          <p:spPr>
            <a:xfrm>
              <a:off x="3009698" y="2539647"/>
              <a:ext cx="245916" cy="247212"/>
            </a:xfrm>
            <a:custGeom>
              <a:rect b="b" l="l" r="r" t="t"/>
              <a:pathLst>
                <a:path extrusionOk="0" h="21600" w="21600">
                  <a:moveTo>
                    <a:pt x="10743" y="4902"/>
                  </a:moveTo>
                  <a:cubicBezTo>
                    <a:pt x="14100" y="4902"/>
                    <a:pt x="16786" y="7573"/>
                    <a:pt x="16786" y="10913"/>
                  </a:cubicBezTo>
                  <a:cubicBezTo>
                    <a:pt x="16786" y="14253"/>
                    <a:pt x="14100" y="16924"/>
                    <a:pt x="10743" y="16924"/>
                  </a:cubicBezTo>
                  <a:cubicBezTo>
                    <a:pt x="7386" y="16924"/>
                    <a:pt x="4700" y="14253"/>
                    <a:pt x="4700" y="10913"/>
                  </a:cubicBezTo>
                  <a:cubicBezTo>
                    <a:pt x="4700" y="7573"/>
                    <a:pt x="7386" y="4902"/>
                    <a:pt x="10743" y="4902"/>
                  </a:cubicBezTo>
                  <a:close/>
                  <a:moveTo>
                    <a:pt x="9624" y="0"/>
                  </a:moveTo>
                  <a:lnTo>
                    <a:pt x="9624" y="1562"/>
                  </a:lnTo>
                  <a:cubicBezTo>
                    <a:pt x="9624" y="2117"/>
                    <a:pt x="9176" y="2562"/>
                    <a:pt x="8615" y="2675"/>
                  </a:cubicBezTo>
                  <a:cubicBezTo>
                    <a:pt x="7944" y="2785"/>
                    <a:pt x="7162" y="3230"/>
                    <a:pt x="6601" y="3566"/>
                  </a:cubicBezTo>
                  <a:cubicBezTo>
                    <a:pt x="6444" y="3644"/>
                    <a:pt x="6256" y="3679"/>
                    <a:pt x="6061" y="3679"/>
                  </a:cubicBezTo>
                  <a:cubicBezTo>
                    <a:pt x="5706" y="3679"/>
                    <a:pt x="5325" y="3559"/>
                    <a:pt x="5034" y="3343"/>
                  </a:cubicBezTo>
                  <a:lnTo>
                    <a:pt x="3915" y="2230"/>
                  </a:lnTo>
                  <a:lnTo>
                    <a:pt x="2238" y="3898"/>
                  </a:lnTo>
                  <a:lnTo>
                    <a:pt x="3357" y="5011"/>
                  </a:lnTo>
                  <a:cubicBezTo>
                    <a:pt x="3805" y="5457"/>
                    <a:pt x="3805" y="6015"/>
                    <a:pt x="3467" y="6570"/>
                  </a:cubicBezTo>
                  <a:cubicBezTo>
                    <a:pt x="3020" y="7238"/>
                    <a:pt x="2796" y="8019"/>
                    <a:pt x="2686" y="8687"/>
                  </a:cubicBezTo>
                  <a:cubicBezTo>
                    <a:pt x="2462" y="9241"/>
                    <a:pt x="2124" y="9577"/>
                    <a:pt x="1567" y="9577"/>
                  </a:cubicBezTo>
                  <a:lnTo>
                    <a:pt x="0" y="9577"/>
                  </a:lnTo>
                  <a:lnTo>
                    <a:pt x="0" y="12026"/>
                  </a:lnTo>
                  <a:lnTo>
                    <a:pt x="1567" y="12026"/>
                  </a:lnTo>
                  <a:cubicBezTo>
                    <a:pt x="2124" y="12026"/>
                    <a:pt x="2462" y="12362"/>
                    <a:pt x="2686" y="12917"/>
                  </a:cubicBezTo>
                  <a:cubicBezTo>
                    <a:pt x="2796" y="13698"/>
                    <a:pt x="3244" y="14475"/>
                    <a:pt x="3467" y="15034"/>
                  </a:cubicBezTo>
                  <a:cubicBezTo>
                    <a:pt x="3805" y="15479"/>
                    <a:pt x="3581" y="16147"/>
                    <a:pt x="3357" y="16592"/>
                  </a:cubicBezTo>
                  <a:lnTo>
                    <a:pt x="2238" y="17705"/>
                  </a:lnTo>
                  <a:lnTo>
                    <a:pt x="3915" y="19374"/>
                  </a:lnTo>
                  <a:lnTo>
                    <a:pt x="5034" y="18260"/>
                  </a:lnTo>
                  <a:cubicBezTo>
                    <a:pt x="5276" y="18024"/>
                    <a:pt x="5546" y="17910"/>
                    <a:pt x="5833" y="17910"/>
                  </a:cubicBezTo>
                  <a:cubicBezTo>
                    <a:pt x="6082" y="17910"/>
                    <a:pt x="6341" y="17995"/>
                    <a:pt x="6601" y="18151"/>
                  </a:cubicBezTo>
                  <a:cubicBezTo>
                    <a:pt x="7272" y="18483"/>
                    <a:pt x="7944" y="18819"/>
                    <a:pt x="8615" y="18928"/>
                  </a:cubicBezTo>
                  <a:cubicBezTo>
                    <a:pt x="9176" y="19151"/>
                    <a:pt x="9624" y="19487"/>
                    <a:pt x="9624" y="20041"/>
                  </a:cubicBezTo>
                  <a:lnTo>
                    <a:pt x="9624" y="21600"/>
                  </a:lnTo>
                  <a:lnTo>
                    <a:pt x="11976" y="21600"/>
                  </a:lnTo>
                  <a:lnTo>
                    <a:pt x="11976" y="20264"/>
                  </a:lnTo>
                  <a:cubicBezTo>
                    <a:pt x="11976" y="19709"/>
                    <a:pt x="12424" y="19264"/>
                    <a:pt x="12981" y="19151"/>
                  </a:cubicBezTo>
                  <a:cubicBezTo>
                    <a:pt x="13653" y="18928"/>
                    <a:pt x="14548" y="18596"/>
                    <a:pt x="15109" y="18260"/>
                  </a:cubicBezTo>
                  <a:cubicBezTo>
                    <a:pt x="15273" y="18140"/>
                    <a:pt x="15468" y="18091"/>
                    <a:pt x="15664" y="18091"/>
                  </a:cubicBezTo>
                  <a:cubicBezTo>
                    <a:pt x="16005" y="18091"/>
                    <a:pt x="16349" y="18232"/>
                    <a:pt x="16562" y="18373"/>
                  </a:cubicBezTo>
                  <a:lnTo>
                    <a:pt x="17795" y="19487"/>
                  </a:lnTo>
                  <a:lnTo>
                    <a:pt x="19362" y="17815"/>
                  </a:lnTo>
                  <a:lnTo>
                    <a:pt x="18243" y="16702"/>
                  </a:lnTo>
                  <a:cubicBezTo>
                    <a:pt x="17905" y="16370"/>
                    <a:pt x="17905" y="15811"/>
                    <a:pt x="18129" y="15143"/>
                  </a:cubicBezTo>
                  <a:cubicBezTo>
                    <a:pt x="18577" y="14475"/>
                    <a:pt x="18801" y="13807"/>
                    <a:pt x="19024" y="13140"/>
                  </a:cubicBezTo>
                  <a:cubicBezTo>
                    <a:pt x="19138" y="12585"/>
                    <a:pt x="19586" y="12136"/>
                    <a:pt x="20143" y="12136"/>
                  </a:cubicBezTo>
                  <a:lnTo>
                    <a:pt x="21600" y="12136"/>
                  </a:lnTo>
                  <a:lnTo>
                    <a:pt x="21600" y="9800"/>
                  </a:lnTo>
                  <a:lnTo>
                    <a:pt x="20143" y="9800"/>
                  </a:lnTo>
                  <a:cubicBezTo>
                    <a:pt x="19586" y="9577"/>
                    <a:pt x="19138" y="9241"/>
                    <a:pt x="19024" y="8687"/>
                  </a:cubicBezTo>
                  <a:cubicBezTo>
                    <a:pt x="18801" y="8019"/>
                    <a:pt x="18467" y="7128"/>
                    <a:pt x="18129" y="6570"/>
                  </a:cubicBezTo>
                  <a:cubicBezTo>
                    <a:pt x="17905" y="6124"/>
                    <a:pt x="18019" y="5457"/>
                    <a:pt x="18243" y="5011"/>
                  </a:cubicBezTo>
                  <a:lnTo>
                    <a:pt x="19362" y="3898"/>
                  </a:lnTo>
                  <a:lnTo>
                    <a:pt x="17795" y="2230"/>
                  </a:lnTo>
                  <a:lnTo>
                    <a:pt x="16562" y="3343"/>
                  </a:lnTo>
                  <a:cubicBezTo>
                    <a:pt x="16367" y="3601"/>
                    <a:pt x="16093" y="3711"/>
                    <a:pt x="15788" y="3711"/>
                  </a:cubicBezTo>
                  <a:cubicBezTo>
                    <a:pt x="15571" y="3711"/>
                    <a:pt x="15340" y="3658"/>
                    <a:pt x="15109" y="3566"/>
                  </a:cubicBezTo>
                  <a:cubicBezTo>
                    <a:pt x="14324" y="3121"/>
                    <a:pt x="13653" y="2785"/>
                    <a:pt x="12981" y="2675"/>
                  </a:cubicBezTo>
                  <a:cubicBezTo>
                    <a:pt x="12424" y="2562"/>
                    <a:pt x="11976" y="2117"/>
                    <a:pt x="11976" y="1562"/>
                  </a:cubicBezTo>
                  <a:lnTo>
                    <a:pt x="11976" y="0"/>
                  </a:lnTo>
                  <a:close/>
                </a:path>
              </a:pathLst>
            </a:custGeom>
            <a:solidFill>
              <a:srgbClr val="005FFF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50"/>
            <p:cNvSpPr/>
            <p:nvPr/>
          </p:nvSpPr>
          <p:spPr>
            <a:xfrm>
              <a:off x="2896286" y="2428823"/>
              <a:ext cx="471474" cy="471474"/>
            </a:xfrm>
            <a:custGeom>
              <a:rect b="b" l="l" r="r" t="t"/>
              <a:pathLst>
                <a:path extrusionOk="0" h="21600" w="21600">
                  <a:moveTo>
                    <a:pt x="12084" y="3793"/>
                  </a:moveTo>
                  <a:cubicBezTo>
                    <a:pt x="12494" y="3793"/>
                    <a:pt x="12785" y="4086"/>
                    <a:pt x="12785" y="4436"/>
                  </a:cubicBezTo>
                  <a:lnTo>
                    <a:pt x="12785" y="5370"/>
                  </a:lnTo>
                  <a:cubicBezTo>
                    <a:pt x="12961" y="5487"/>
                    <a:pt x="13135" y="5546"/>
                    <a:pt x="13252" y="5604"/>
                  </a:cubicBezTo>
                  <a:lnTo>
                    <a:pt x="13952" y="4961"/>
                  </a:lnTo>
                  <a:cubicBezTo>
                    <a:pt x="14041" y="4844"/>
                    <a:pt x="14200" y="4787"/>
                    <a:pt x="14369" y="4787"/>
                  </a:cubicBezTo>
                  <a:cubicBezTo>
                    <a:pt x="14536" y="4787"/>
                    <a:pt x="14712" y="4844"/>
                    <a:pt x="14829" y="4961"/>
                  </a:cubicBezTo>
                  <a:lnTo>
                    <a:pt x="16637" y="6771"/>
                  </a:lnTo>
                  <a:cubicBezTo>
                    <a:pt x="16873" y="7005"/>
                    <a:pt x="16873" y="7414"/>
                    <a:pt x="16637" y="7648"/>
                  </a:cubicBezTo>
                  <a:lnTo>
                    <a:pt x="15996" y="8289"/>
                  </a:lnTo>
                  <a:cubicBezTo>
                    <a:pt x="16054" y="8465"/>
                    <a:pt x="16113" y="8699"/>
                    <a:pt x="16170" y="8815"/>
                  </a:cubicBezTo>
                  <a:lnTo>
                    <a:pt x="17164" y="8815"/>
                  </a:lnTo>
                  <a:cubicBezTo>
                    <a:pt x="17514" y="8815"/>
                    <a:pt x="17807" y="9106"/>
                    <a:pt x="17807" y="9456"/>
                  </a:cubicBezTo>
                  <a:lnTo>
                    <a:pt x="17807" y="12027"/>
                  </a:lnTo>
                  <a:cubicBezTo>
                    <a:pt x="17807" y="12377"/>
                    <a:pt x="17514" y="12668"/>
                    <a:pt x="17164" y="12668"/>
                  </a:cubicBezTo>
                  <a:lnTo>
                    <a:pt x="16170" y="12668"/>
                  </a:lnTo>
                  <a:cubicBezTo>
                    <a:pt x="16113" y="12901"/>
                    <a:pt x="16054" y="13018"/>
                    <a:pt x="15996" y="13194"/>
                  </a:cubicBezTo>
                  <a:lnTo>
                    <a:pt x="16637" y="13835"/>
                  </a:lnTo>
                  <a:cubicBezTo>
                    <a:pt x="16873" y="14069"/>
                    <a:pt x="16873" y="14478"/>
                    <a:pt x="16637" y="14712"/>
                  </a:cubicBezTo>
                  <a:lnTo>
                    <a:pt x="14829" y="16521"/>
                  </a:lnTo>
                  <a:cubicBezTo>
                    <a:pt x="14712" y="16637"/>
                    <a:pt x="14536" y="16697"/>
                    <a:pt x="14369" y="16697"/>
                  </a:cubicBezTo>
                  <a:cubicBezTo>
                    <a:pt x="14200" y="16697"/>
                    <a:pt x="14041" y="16637"/>
                    <a:pt x="13952" y="16521"/>
                  </a:cubicBezTo>
                  <a:lnTo>
                    <a:pt x="13252" y="15879"/>
                  </a:lnTo>
                  <a:cubicBezTo>
                    <a:pt x="13135" y="15937"/>
                    <a:pt x="12901" y="16054"/>
                    <a:pt x="12785" y="16113"/>
                  </a:cubicBezTo>
                  <a:lnTo>
                    <a:pt x="12785" y="17047"/>
                  </a:lnTo>
                  <a:cubicBezTo>
                    <a:pt x="12785" y="17397"/>
                    <a:pt x="12494" y="17690"/>
                    <a:pt x="12084" y="17690"/>
                  </a:cubicBezTo>
                  <a:lnTo>
                    <a:pt x="9573" y="17690"/>
                  </a:lnTo>
                  <a:cubicBezTo>
                    <a:pt x="9166" y="17690"/>
                    <a:pt x="8873" y="17397"/>
                    <a:pt x="8873" y="17047"/>
                  </a:cubicBezTo>
                  <a:lnTo>
                    <a:pt x="8873" y="16113"/>
                  </a:lnTo>
                  <a:cubicBezTo>
                    <a:pt x="8699" y="16054"/>
                    <a:pt x="8523" y="15937"/>
                    <a:pt x="8406" y="15879"/>
                  </a:cubicBezTo>
                  <a:lnTo>
                    <a:pt x="7705" y="16521"/>
                  </a:lnTo>
                  <a:cubicBezTo>
                    <a:pt x="7618" y="16637"/>
                    <a:pt x="7457" y="16697"/>
                    <a:pt x="7290" y="16697"/>
                  </a:cubicBezTo>
                  <a:cubicBezTo>
                    <a:pt x="7122" y="16697"/>
                    <a:pt x="6947" y="16637"/>
                    <a:pt x="6831" y="16521"/>
                  </a:cubicBezTo>
                  <a:lnTo>
                    <a:pt x="5020" y="14712"/>
                  </a:lnTo>
                  <a:cubicBezTo>
                    <a:pt x="4787" y="14478"/>
                    <a:pt x="4787" y="14069"/>
                    <a:pt x="5020" y="13835"/>
                  </a:cubicBezTo>
                  <a:lnTo>
                    <a:pt x="5663" y="13194"/>
                  </a:lnTo>
                  <a:cubicBezTo>
                    <a:pt x="5604" y="13018"/>
                    <a:pt x="5546" y="12844"/>
                    <a:pt x="5487" y="12668"/>
                  </a:cubicBezTo>
                  <a:lnTo>
                    <a:pt x="4494" y="12668"/>
                  </a:lnTo>
                  <a:cubicBezTo>
                    <a:pt x="4144" y="12668"/>
                    <a:pt x="3853" y="12377"/>
                    <a:pt x="3853" y="12027"/>
                  </a:cubicBezTo>
                  <a:lnTo>
                    <a:pt x="3853" y="9456"/>
                  </a:lnTo>
                  <a:cubicBezTo>
                    <a:pt x="3853" y="9106"/>
                    <a:pt x="4144" y="8815"/>
                    <a:pt x="4494" y="8815"/>
                  </a:cubicBezTo>
                  <a:lnTo>
                    <a:pt x="5487" y="8815"/>
                  </a:lnTo>
                  <a:cubicBezTo>
                    <a:pt x="5546" y="8582"/>
                    <a:pt x="5604" y="8465"/>
                    <a:pt x="5663" y="8289"/>
                  </a:cubicBezTo>
                  <a:lnTo>
                    <a:pt x="5020" y="7648"/>
                  </a:lnTo>
                  <a:cubicBezTo>
                    <a:pt x="4787" y="7414"/>
                    <a:pt x="4787" y="7005"/>
                    <a:pt x="5020" y="6771"/>
                  </a:cubicBezTo>
                  <a:lnTo>
                    <a:pt x="6831" y="4961"/>
                  </a:lnTo>
                  <a:cubicBezTo>
                    <a:pt x="6947" y="4844"/>
                    <a:pt x="7122" y="4787"/>
                    <a:pt x="7290" y="4787"/>
                  </a:cubicBezTo>
                  <a:cubicBezTo>
                    <a:pt x="7457" y="4787"/>
                    <a:pt x="7618" y="4844"/>
                    <a:pt x="7705" y="4961"/>
                  </a:cubicBezTo>
                  <a:lnTo>
                    <a:pt x="8406" y="5604"/>
                  </a:lnTo>
                  <a:cubicBezTo>
                    <a:pt x="8523" y="5546"/>
                    <a:pt x="8756" y="5487"/>
                    <a:pt x="8873" y="5370"/>
                  </a:cubicBezTo>
                  <a:lnTo>
                    <a:pt x="8873" y="4436"/>
                  </a:lnTo>
                  <a:cubicBezTo>
                    <a:pt x="8873" y="4086"/>
                    <a:pt x="9166" y="3793"/>
                    <a:pt x="9573" y="3793"/>
                  </a:cubicBezTo>
                  <a:close/>
                  <a:moveTo>
                    <a:pt x="10800" y="0"/>
                  </a:moveTo>
                  <a:cubicBezTo>
                    <a:pt x="4903" y="0"/>
                    <a:pt x="0" y="4903"/>
                    <a:pt x="0" y="10800"/>
                  </a:cubicBezTo>
                  <a:cubicBezTo>
                    <a:pt x="0" y="12668"/>
                    <a:pt x="524" y="14595"/>
                    <a:pt x="1518" y="16287"/>
                  </a:cubicBezTo>
                  <a:lnTo>
                    <a:pt x="57" y="20725"/>
                  </a:lnTo>
                  <a:cubicBezTo>
                    <a:pt x="0" y="20959"/>
                    <a:pt x="57" y="21250"/>
                    <a:pt x="233" y="21367"/>
                  </a:cubicBezTo>
                  <a:cubicBezTo>
                    <a:pt x="321" y="21498"/>
                    <a:pt x="506" y="21565"/>
                    <a:pt x="693" y="21565"/>
                  </a:cubicBezTo>
                  <a:cubicBezTo>
                    <a:pt x="754" y="21565"/>
                    <a:pt x="817" y="21557"/>
                    <a:pt x="875" y="21543"/>
                  </a:cubicBezTo>
                  <a:lnTo>
                    <a:pt x="5313" y="20082"/>
                  </a:lnTo>
                  <a:cubicBezTo>
                    <a:pt x="7005" y="21076"/>
                    <a:pt x="8873" y="21600"/>
                    <a:pt x="10800" y="21600"/>
                  </a:cubicBezTo>
                  <a:cubicBezTo>
                    <a:pt x="16697" y="21600"/>
                    <a:pt x="21600" y="16697"/>
                    <a:pt x="21600" y="10800"/>
                  </a:cubicBezTo>
                  <a:cubicBezTo>
                    <a:pt x="21600" y="4787"/>
                    <a:pt x="16697" y="0"/>
                    <a:pt x="10800" y="0"/>
                  </a:cubicBezTo>
                  <a:close/>
                </a:path>
              </a:pathLst>
            </a:custGeom>
            <a:solidFill>
              <a:srgbClr val="005FFF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50"/>
            <p:cNvSpPr/>
            <p:nvPr/>
          </p:nvSpPr>
          <p:spPr>
            <a:xfrm>
              <a:off x="3089945" y="2622481"/>
              <a:ext cx="82836" cy="82836"/>
            </a:xfrm>
            <a:custGeom>
              <a:rect b="b" l="l" r="r" t="t"/>
              <a:pathLst>
                <a:path extrusionOk="0" h="21600" w="21600">
                  <a:moveTo>
                    <a:pt x="10969" y="0"/>
                  </a:moveTo>
                  <a:cubicBezTo>
                    <a:pt x="4989" y="0"/>
                    <a:pt x="0" y="4989"/>
                    <a:pt x="0" y="10969"/>
                  </a:cubicBezTo>
                  <a:cubicBezTo>
                    <a:pt x="0" y="16622"/>
                    <a:pt x="4989" y="21600"/>
                    <a:pt x="10969" y="21600"/>
                  </a:cubicBezTo>
                  <a:cubicBezTo>
                    <a:pt x="16622" y="21600"/>
                    <a:pt x="21600" y="16622"/>
                    <a:pt x="21600" y="10969"/>
                  </a:cubicBezTo>
                  <a:cubicBezTo>
                    <a:pt x="21600" y="4651"/>
                    <a:pt x="16622" y="0"/>
                    <a:pt x="10969" y="0"/>
                  </a:cubicBezTo>
                  <a:close/>
                </a:path>
              </a:pathLst>
            </a:custGeom>
            <a:solidFill>
              <a:srgbClr val="005FFF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1"/>
          <p:cNvSpPr/>
          <p:nvPr/>
        </p:nvSpPr>
        <p:spPr>
          <a:xfrm>
            <a:off x="724125" y="4123375"/>
            <a:ext cx="7934400" cy="639000"/>
          </a:xfrm>
          <a:prstGeom prst="roundRect">
            <a:avLst>
              <a:gd fmla="val 26898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51"/>
          <p:cNvSpPr txBox="1"/>
          <p:nvPr>
            <p:ph type="title"/>
          </p:nvPr>
        </p:nvSpPr>
        <p:spPr>
          <a:xfrm>
            <a:off x="129750" y="516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verpass SemiBold"/>
                <a:ea typeface="Overpass SemiBold"/>
                <a:cs typeface="Overpass SemiBold"/>
                <a:sym typeface="Overpass SemiBold"/>
              </a:rPr>
              <a:t>Hallazgos Encontrados Nueva Implementación </a:t>
            </a:r>
            <a:r>
              <a:rPr lang="es">
                <a:solidFill>
                  <a:srgbClr val="F40034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Databricks </a:t>
            </a:r>
            <a:endParaRPr>
              <a:solidFill>
                <a:srgbClr val="F40034"/>
              </a:solidFill>
              <a:latin typeface="Overpass SemiBold"/>
              <a:ea typeface="Overpass SemiBold"/>
              <a:cs typeface="Overpass SemiBold"/>
              <a:sym typeface="Overpass SemiBold"/>
            </a:endParaRPr>
          </a:p>
        </p:txBody>
      </p:sp>
      <p:pic>
        <p:nvPicPr>
          <p:cNvPr descr="Google Shape;197;p29" id="495" name="Google Shape;495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269" y="200090"/>
            <a:ext cx="908157" cy="1698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" id="496" name="Google Shape;496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85381" y="170344"/>
            <a:ext cx="508539" cy="229336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51"/>
          <p:cNvSpPr txBox="1"/>
          <p:nvPr/>
        </p:nvSpPr>
        <p:spPr>
          <a:xfrm>
            <a:off x="238525" y="2236063"/>
            <a:ext cx="4086600" cy="18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En revisión de las operaciones renegociadas (con indicador cod_oren 'S'), se detectaron casos deteriorados de operaciones renegociadas con menos de 60 días de morosidad en el mes anterior. </a:t>
            </a:r>
            <a:endParaRPr sz="1100">
              <a:solidFill>
                <a:schemeClr val="dk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cxnSp>
        <p:nvCxnSpPr>
          <p:cNvPr id="498" name="Google Shape;498;p51"/>
          <p:cNvCxnSpPr/>
          <p:nvPr/>
        </p:nvCxnSpPr>
        <p:spPr>
          <a:xfrm flipH="1">
            <a:off x="4382700" y="1773700"/>
            <a:ext cx="14700" cy="1656000"/>
          </a:xfrm>
          <a:prstGeom prst="straightConnector1">
            <a:avLst/>
          </a:prstGeom>
          <a:noFill/>
          <a:ln cap="flat" cmpd="sng" w="9525">
            <a:solidFill>
              <a:srgbClr val="EA332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99" name="Google Shape;499;p51"/>
          <p:cNvGrpSpPr/>
          <p:nvPr/>
        </p:nvGrpSpPr>
        <p:grpSpPr>
          <a:xfrm>
            <a:off x="325071" y="2338214"/>
            <a:ext cx="309594" cy="277182"/>
            <a:chOff x="4666846" y="2433161"/>
            <a:chExt cx="309594" cy="277182"/>
          </a:xfrm>
        </p:grpSpPr>
        <p:sp>
          <p:nvSpPr>
            <p:cNvPr id="500" name="Google Shape;500;p51"/>
            <p:cNvSpPr/>
            <p:nvPr/>
          </p:nvSpPr>
          <p:spPr>
            <a:xfrm>
              <a:off x="4812568" y="2500733"/>
              <a:ext cx="18144" cy="87426"/>
            </a:xfrm>
            <a:custGeom>
              <a:rect b="b" l="l" r="r" t="t"/>
              <a:pathLst>
                <a:path extrusionOk="0" h="21600" w="21600">
                  <a:moveTo>
                    <a:pt x="10819" y="0"/>
                  </a:moveTo>
                  <a:cubicBezTo>
                    <a:pt x="4836" y="0"/>
                    <a:pt x="0" y="967"/>
                    <a:pt x="0" y="2164"/>
                  </a:cubicBezTo>
                  <a:lnTo>
                    <a:pt x="0" y="19447"/>
                  </a:lnTo>
                  <a:cubicBezTo>
                    <a:pt x="0" y="20633"/>
                    <a:pt x="4836" y="21600"/>
                    <a:pt x="10819" y="21600"/>
                  </a:cubicBezTo>
                  <a:cubicBezTo>
                    <a:pt x="16764" y="21600"/>
                    <a:pt x="21600" y="20633"/>
                    <a:pt x="21600" y="19447"/>
                  </a:cubicBezTo>
                  <a:lnTo>
                    <a:pt x="21600" y="2164"/>
                  </a:lnTo>
                  <a:cubicBezTo>
                    <a:pt x="21600" y="967"/>
                    <a:pt x="16764" y="0"/>
                    <a:pt x="10819" y="0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5D74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51"/>
            <p:cNvSpPr/>
            <p:nvPr/>
          </p:nvSpPr>
          <p:spPr>
            <a:xfrm>
              <a:off x="4666846" y="2433161"/>
              <a:ext cx="309594" cy="277182"/>
            </a:xfrm>
            <a:custGeom>
              <a:rect b="b" l="l" r="r" t="t"/>
              <a:pathLst>
                <a:path extrusionOk="0" h="21600" w="20169">
                  <a:moveTo>
                    <a:pt x="10084" y="3905"/>
                  </a:moveTo>
                  <a:cubicBezTo>
                    <a:pt x="11062" y="3905"/>
                    <a:pt x="11856" y="4818"/>
                    <a:pt x="11856" y="5948"/>
                  </a:cubicBezTo>
                  <a:lnTo>
                    <a:pt x="11856" y="11393"/>
                  </a:lnTo>
                  <a:cubicBezTo>
                    <a:pt x="11856" y="12518"/>
                    <a:pt x="11062" y="13433"/>
                    <a:pt x="10084" y="13433"/>
                  </a:cubicBezTo>
                  <a:cubicBezTo>
                    <a:pt x="9105" y="13433"/>
                    <a:pt x="8311" y="12518"/>
                    <a:pt x="8311" y="11393"/>
                  </a:cubicBezTo>
                  <a:lnTo>
                    <a:pt x="8311" y="5948"/>
                  </a:lnTo>
                  <a:cubicBezTo>
                    <a:pt x="8311" y="4818"/>
                    <a:pt x="9105" y="3905"/>
                    <a:pt x="10084" y="3905"/>
                  </a:cubicBezTo>
                  <a:close/>
                  <a:moveTo>
                    <a:pt x="10084" y="14795"/>
                  </a:moveTo>
                  <a:cubicBezTo>
                    <a:pt x="10313" y="14795"/>
                    <a:pt x="10543" y="14846"/>
                    <a:pt x="10763" y="14951"/>
                  </a:cubicBezTo>
                  <a:cubicBezTo>
                    <a:pt x="11424" y="15266"/>
                    <a:pt x="11856" y="16010"/>
                    <a:pt x="11856" y="16838"/>
                  </a:cubicBezTo>
                  <a:cubicBezTo>
                    <a:pt x="11856" y="17963"/>
                    <a:pt x="11062" y="18878"/>
                    <a:pt x="10084" y="18878"/>
                  </a:cubicBezTo>
                  <a:cubicBezTo>
                    <a:pt x="9367" y="18878"/>
                    <a:pt x="8721" y="18380"/>
                    <a:pt x="8447" y="17618"/>
                  </a:cubicBezTo>
                  <a:cubicBezTo>
                    <a:pt x="8172" y="16856"/>
                    <a:pt x="8323" y="15978"/>
                    <a:pt x="8831" y="15393"/>
                  </a:cubicBezTo>
                  <a:cubicBezTo>
                    <a:pt x="9170" y="15002"/>
                    <a:pt x="9624" y="14795"/>
                    <a:pt x="10084" y="14795"/>
                  </a:cubicBezTo>
                  <a:close/>
                  <a:moveTo>
                    <a:pt x="10083" y="0"/>
                  </a:moveTo>
                  <a:cubicBezTo>
                    <a:pt x="9071" y="0"/>
                    <a:pt x="8060" y="586"/>
                    <a:pt x="7497" y="1759"/>
                  </a:cubicBezTo>
                  <a:lnTo>
                    <a:pt x="372" y="16551"/>
                  </a:lnTo>
                  <a:cubicBezTo>
                    <a:pt x="-715" y="18820"/>
                    <a:pt x="706" y="21600"/>
                    <a:pt x="2956" y="21600"/>
                  </a:cubicBezTo>
                  <a:lnTo>
                    <a:pt x="17211" y="21600"/>
                  </a:lnTo>
                  <a:cubicBezTo>
                    <a:pt x="19461" y="21600"/>
                    <a:pt x="20885" y="18824"/>
                    <a:pt x="19794" y="16551"/>
                  </a:cubicBezTo>
                  <a:lnTo>
                    <a:pt x="12669" y="1759"/>
                  </a:lnTo>
                  <a:cubicBezTo>
                    <a:pt x="12106" y="586"/>
                    <a:pt x="11095" y="0"/>
                    <a:pt x="10083" y="0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5D74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51"/>
            <p:cNvSpPr/>
            <p:nvPr/>
          </p:nvSpPr>
          <p:spPr>
            <a:xfrm>
              <a:off x="4812568" y="2640487"/>
              <a:ext cx="18144" cy="17496"/>
            </a:xfrm>
            <a:custGeom>
              <a:rect b="b" l="l" r="r" t="t"/>
              <a:pathLst>
                <a:path extrusionOk="0" h="21600" w="21600">
                  <a:moveTo>
                    <a:pt x="10819" y="0"/>
                  </a:moveTo>
                  <a:cubicBezTo>
                    <a:pt x="4836" y="0"/>
                    <a:pt x="0" y="4821"/>
                    <a:pt x="0" y="10829"/>
                  </a:cubicBezTo>
                  <a:cubicBezTo>
                    <a:pt x="0" y="16760"/>
                    <a:pt x="4836" y="21600"/>
                    <a:pt x="10819" y="21600"/>
                  </a:cubicBezTo>
                  <a:cubicBezTo>
                    <a:pt x="16764" y="21600"/>
                    <a:pt x="21600" y="16760"/>
                    <a:pt x="21600" y="10829"/>
                  </a:cubicBezTo>
                  <a:cubicBezTo>
                    <a:pt x="21600" y="4821"/>
                    <a:pt x="16764" y="0"/>
                    <a:pt x="10819" y="0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5D74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3" name="Google Shape;503;p51"/>
          <p:cNvSpPr txBox="1"/>
          <p:nvPr/>
        </p:nvSpPr>
        <p:spPr>
          <a:xfrm>
            <a:off x="238513" y="1645955"/>
            <a:ext cx="1290900" cy="5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2860FF"/>
              </a:buClr>
              <a:buSzPts val="12000"/>
              <a:buFont typeface="Overpass SemiBold"/>
              <a:buNone/>
            </a:pPr>
            <a:r>
              <a:rPr lang="es" sz="5100">
                <a:solidFill>
                  <a:srgbClr val="F40034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2</a:t>
            </a:r>
            <a:endParaRPr b="0" i="0" sz="5100" u="none" cap="none" strike="noStrike">
              <a:solidFill>
                <a:srgbClr val="F4003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51"/>
          <p:cNvSpPr txBox="1"/>
          <p:nvPr/>
        </p:nvSpPr>
        <p:spPr>
          <a:xfrm>
            <a:off x="725125" y="1456354"/>
            <a:ext cx="3600000" cy="7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3000"/>
              <a:buFont typeface="Overpass SemiBold"/>
              <a:buNone/>
            </a:pPr>
            <a:r>
              <a:rPr lang="es" sz="2000">
                <a:solidFill>
                  <a:srgbClr val="1E1E1E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Renegociados</a:t>
            </a:r>
            <a:r>
              <a:rPr b="0" i="0" lang="es" sz="3000" u="none" cap="none" strike="noStrike">
                <a:solidFill>
                  <a:srgbClr val="1E1E1E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85EF6"/>
              </a:buClr>
              <a:buSzPts val="3000"/>
              <a:buFont typeface="Overpass SemiBold"/>
              <a:buNone/>
            </a:pPr>
            <a:r>
              <a:rPr lang="es" sz="1500">
                <a:solidFill>
                  <a:srgbClr val="F40034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Con menos de 60 días mora</a:t>
            </a:r>
            <a:endParaRPr b="0" i="0" sz="500" u="none" cap="none" strike="noStrike">
              <a:solidFill>
                <a:srgbClr val="F4003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5" name="Google Shape;505;p51"/>
          <p:cNvGrpSpPr/>
          <p:nvPr/>
        </p:nvGrpSpPr>
        <p:grpSpPr>
          <a:xfrm>
            <a:off x="316093" y="4186297"/>
            <a:ext cx="327580" cy="327580"/>
            <a:chOff x="2896286" y="2428823"/>
            <a:chExt cx="471474" cy="471474"/>
          </a:xfrm>
        </p:grpSpPr>
        <p:sp>
          <p:nvSpPr>
            <p:cNvPr id="506" name="Google Shape;506;p51"/>
            <p:cNvSpPr/>
            <p:nvPr/>
          </p:nvSpPr>
          <p:spPr>
            <a:xfrm>
              <a:off x="3009698" y="2539647"/>
              <a:ext cx="245916" cy="247212"/>
            </a:xfrm>
            <a:custGeom>
              <a:rect b="b" l="l" r="r" t="t"/>
              <a:pathLst>
                <a:path extrusionOk="0" h="21600" w="21600">
                  <a:moveTo>
                    <a:pt x="10743" y="4902"/>
                  </a:moveTo>
                  <a:cubicBezTo>
                    <a:pt x="14100" y="4902"/>
                    <a:pt x="16786" y="7573"/>
                    <a:pt x="16786" y="10913"/>
                  </a:cubicBezTo>
                  <a:cubicBezTo>
                    <a:pt x="16786" y="14253"/>
                    <a:pt x="14100" y="16924"/>
                    <a:pt x="10743" y="16924"/>
                  </a:cubicBezTo>
                  <a:cubicBezTo>
                    <a:pt x="7386" y="16924"/>
                    <a:pt x="4700" y="14253"/>
                    <a:pt x="4700" y="10913"/>
                  </a:cubicBezTo>
                  <a:cubicBezTo>
                    <a:pt x="4700" y="7573"/>
                    <a:pt x="7386" y="4902"/>
                    <a:pt x="10743" y="4902"/>
                  </a:cubicBezTo>
                  <a:close/>
                  <a:moveTo>
                    <a:pt x="9624" y="0"/>
                  </a:moveTo>
                  <a:lnTo>
                    <a:pt x="9624" y="1562"/>
                  </a:lnTo>
                  <a:cubicBezTo>
                    <a:pt x="9624" y="2117"/>
                    <a:pt x="9176" y="2562"/>
                    <a:pt x="8615" y="2675"/>
                  </a:cubicBezTo>
                  <a:cubicBezTo>
                    <a:pt x="7944" y="2785"/>
                    <a:pt x="7162" y="3230"/>
                    <a:pt x="6601" y="3566"/>
                  </a:cubicBezTo>
                  <a:cubicBezTo>
                    <a:pt x="6444" y="3644"/>
                    <a:pt x="6256" y="3679"/>
                    <a:pt x="6061" y="3679"/>
                  </a:cubicBezTo>
                  <a:cubicBezTo>
                    <a:pt x="5706" y="3679"/>
                    <a:pt x="5325" y="3559"/>
                    <a:pt x="5034" y="3343"/>
                  </a:cubicBezTo>
                  <a:lnTo>
                    <a:pt x="3915" y="2230"/>
                  </a:lnTo>
                  <a:lnTo>
                    <a:pt x="2238" y="3898"/>
                  </a:lnTo>
                  <a:lnTo>
                    <a:pt x="3357" y="5011"/>
                  </a:lnTo>
                  <a:cubicBezTo>
                    <a:pt x="3805" y="5457"/>
                    <a:pt x="3805" y="6015"/>
                    <a:pt x="3467" y="6570"/>
                  </a:cubicBezTo>
                  <a:cubicBezTo>
                    <a:pt x="3020" y="7238"/>
                    <a:pt x="2796" y="8019"/>
                    <a:pt x="2686" y="8687"/>
                  </a:cubicBezTo>
                  <a:cubicBezTo>
                    <a:pt x="2462" y="9241"/>
                    <a:pt x="2124" y="9577"/>
                    <a:pt x="1567" y="9577"/>
                  </a:cubicBezTo>
                  <a:lnTo>
                    <a:pt x="0" y="9577"/>
                  </a:lnTo>
                  <a:lnTo>
                    <a:pt x="0" y="12026"/>
                  </a:lnTo>
                  <a:lnTo>
                    <a:pt x="1567" y="12026"/>
                  </a:lnTo>
                  <a:cubicBezTo>
                    <a:pt x="2124" y="12026"/>
                    <a:pt x="2462" y="12362"/>
                    <a:pt x="2686" y="12917"/>
                  </a:cubicBezTo>
                  <a:cubicBezTo>
                    <a:pt x="2796" y="13698"/>
                    <a:pt x="3244" y="14475"/>
                    <a:pt x="3467" y="15034"/>
                  </a:cubicBezTo>
                  <a:cubicBezTo>
                    <a:pt x="3805" y="15479"/>
                    <a:pt x="3581" y="16147"/>
                    <a:pt x="3357" y="16592"/>
                  </a:cubicBezTo>
                  <a:lnTo>
                    <a:pt x="2238" y="17705"/>
                  </a:lnTo>
                  <a:lnTo>
                    <a:pt x="3915" y="19374"/>
                  </a:lnTo>
                  <a:lnTo>
                    <a:pt x="5034" y="18260"/>
                  </a:lnTo>
                  <a:cubicBezTo>
                    <a:pt x="5276" y="18024"/>
                    <a:pt x="5546" y="17910"/>
                    <a:pt x="5833" y="17910"/>
                  </a:cubicBezTo>
                  <a:cubicBezTo>
                    <a:pt x="6082" y="17910"/>
                    <a:pt x="6341" y="17995"/>
                    <a:pt x="6601" y="18151"/>
                  </a:cubicBezTo>
                  <a:cubicBezTo>
                    <a:pt x="7272" y="18483"/>
                    <a:pt x="7944" y="18819"/>
                    <a:pt x="8615" y="18928"/>
                  </a:cubicBezTo>
                  <a:cubicBezTo>
                    <a:pt x="9176" y="19151"/>
                    <a:pt x="9624" y="19487"/>
                    <a:pt x="9624" y="20041"/>
                  </a:cubicBezTo>
                  <a:lnTo>
                    <a:pt x="9624" y="21600"/>
                  </a:lnTo>
                  <a:lnTo>
                    <a:pt x="11976" y="21600"/>
                  </a:lnTo>
                  <a:lnTo>
                    <a:pt x="11976" y="20264"/>
                  </a:lnTo>
                  <a:cubicBezTo>
                    <a:pt x="11976" y="19709"/>
                    <a:pt x="12424" y="19264"/>
                    <a:pt x="12981" y="19151"/>
                  </a:cubicBezTo>
                  <a:cubicBezTo>
                    <a:pt x="13653" y="18928"/>
                    <a:pt x="14548" y="18596"/>
                    <a:pt x="15109" y="18260"/>
                  </a:cubicBezTo>
                  <a:cubicBezTo>
                    <a:pt x="15273" y="18140"/>
                    <a:pt x="15468" y="18091"/>
                    <a:pt x="15664" y="18091"/>
                  </a:cubicBezTo>
                  <a:cubicBezTo>
                    <a:pt x="16005" y="18091"/>
                    <a:pt x="16349" y="18232"/>
                    <a:pt x="16562" y="18373"/>
                  </a:cubicBezTo>
                  <a:lnTo>
                    <a:pt x="17795" y="19487"/>
                  </a:lnTo>
                  <a:lnTo>
                    <a:pt x="19362" y="17815"/>
                  </a:lnTo>
                  <a:lnTo>
                    <a:pt x="18243" y="16702"/>
                  </a:lnTo>
                  <a:cubicBezTo>
                    <a:pt x="17905" y="16370"/>
                    <a:pt x="17905" y="15811"/>
                    <a:pt x="18129" y="15143"/>
                  </a:cubicBezTo>
                  <a:cubicBezTo>
                    <a:pt x="18577" y="14475"/>
                    <a:pt x="18801" y="13807"/>
                    <a:pt x="19024" y="13140"/>
                  </a:cubicBezTo>
                  <a:cubicBezTo>
                    <a:pt x="19138" y="12585"/>
                    <a:pt x="19586" y="12136"/>
                    <a:pt x="20143" y="12136"/>
                  </a:cubicBezTo>
                  <a:lnTo>
                    <a:pt x="21600" y="12136"/>
                  </a:lnTo>
                  <a:lnTo>
                    <a:pt x="21600" y="9800"/>
                  </a:lnTo>
                  <a:lnTo>
                    <a:pt x="20143" y="9800"/>
                  </a:lnTo>
                  <a:cubicBezTo>
                    <a:pt x="19586" y="9577"/>
                    <a:pt x="19138" y="9241"/>
                    <a:pt x="19024" y="8687"/>
                  </a:cubicBezTo>
                  <a:cubicBezTo>
                    <a:pt x="18801" y="8019"/>
                    <a:pt x="18467" y="7128"/>
                    <a:pt x="18129" y="6570"/>
                  </a:cubicBezTo>
                  <a:cubicBezTo>
                    <a:pt x="17905" y="6124"/>
                    <a:pt x="18019" y="5457"/>
                    <a:pt x="18243" y="5011"/>
                  </a:cubicBezTo>
                  <a:lnTo>
                    <a:pt x="19362" y="3898"/>
                  </a:lnTo>
                  <a:lnTo>
                    <a:pt x="17795" y="2230"/>
                  </a:lnTo>
                  <a:lnTo>
                    <a:pt x="16562" y="3343"/>
                  </a:lnTo>
                  <a:cubicBezTo>
                    <a:pt x="16367" y="3601"/>
                    <a:pt x="16093" y="3711"/>
                    <a:pt x="15788" y="3711"/>
                  </a:cubicBezTo>
                  <a:cubicBezTo>
                    <a:pt x="15571" y="3711"/>
                    <a:pt x="15340" y="3658"/>
                    <a:pt x="15109" y="3566"/>
                  </a:cubicBezTo>
                  <a:cubicBezTo>
                    <a:pt x="14324" y="3121"/>
                    <a:pt x="13653" y="2785"/>
                    <a:pt x="12981" y="2675"/>
                  </a:cubicBezTo>
                  <a:cubicBezTo>
                    <a:pt x="12424" y="2562"/>
                    <a:pt x="11976" y="2117"/>
                    <a:pt x="11976" y="1562"/>
                  </a:cubicBezTo>
                  <a:lnTo>
                    <a:pt x="11976" y="0"/>
                  </a:lnTo>
                  <a:close/>
                </a:path>
              </a:pathLst>
            </a:custGeom>
            <a:solidFill>
              <a:srgbClr val="005FFF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51"/>
            <p:cNvSpPr/>
            <p:nvPr/>
          </p:nvSpPr>
          <p:spPr>
            <a:xfrm>
              <a:off x="2896286" y="2428823"/>
              <a:ext cx="471474" cy="471474"/>
            </a:xfrm>
            <a:custGeom>
              <a:rect b="b" l="l" r="r" t="t"/>
              <a:pathLst>
                <a:path extrusionOk="0" h="21600" w="21600">
                  <a:moveTo>
                    <a:pt x="12084" y="3793"/>
                  </a:moveTo>
                  <a:cubicBezTo>
                    <a:pt x="12494" y="3793"/>
                    <a:pt x="12785" y="4086"/>
                    <a:pt x="12785" y="4436"/>
                  </a:cubicBezTo>
                  <a:lnTo>
                    <a:pt x="12785" y="5370"/>
                  </a:lnTo>
                  <a:cubicBezTo>
                    <a:pt x="12961" y="5487"/>
                    <a:pt x="13135" y="5546"/>
                    <a:pt x="13252" y="5604"/>
                  </a:cubicBezTo>
                  <a:lnTo>
                    <a:pt x="13952" y="4961"/>
                  </a:lnTo>
                  <a:cubicBezTo>
                    <a:pt x="14041" y="4844"/>
                    <a:pt x="14200" y="4787"/>
                    <a:pt x="14369" y="4787"/>
                  </a:cubicBezTo>
                  <a:cubicBezTo>
                    <a:pt x="14536" y="4787"/>
                    <a:pt x="14712" y="4844"/>
                    <a:pt x="14829" y="4961"/>
                  </a:cubicBezTo>
                  <a:lnTo>
                    <a:pt x="16637" y="6771"/>
                  </a:lnTo>
                  <a:cubicBezTo>
                    <a:pt x="16873" y="7005"/>
                    <a:pt x="16873" y="7414"/>
                    <a:pt x="16637" y="7648"/>
                  </a:cubicBezTo>
                  <a:lnTo>
                    <a:pt x="15996" y="8289"/>
                  </a:lnTo>
                  <a:cubicBezTo>
                    <a:pt x="16054" y="8465"/>
                    <a:pt x="16113" y="8699"/>
                    <a:pt x="16170" y="8815"/>
                  </a:cubicBezTo>
                  <a:lnTo>
                    <a:pt x="17164" y="8815"/>
                  </a:lnTo>
                  <a:cubicBezTo>
                    <a:pt x="17514" y="8815"/>
                    <a:pt x="17807" y="9106"/>
                    <a:pt x="17807" y="9456"/>
                  </a:cubicBezTo>
                  <a:lnTo>
                    <a:pt x="17807" y="12027"/>
                  </a:lnTo>
                  <a:cubicBezTo>
                    <a:pt x="17807" y="12377"/>
                    <a:pt x="17514" y="12668"/>
                    <a:pt x="17164" y="12668"/>
                  </a:cubicBezTo>
                  <a:lnTo>
                    <a:pt x="16170" y="12668"/>
                  </a:lnTo>
                  <a:cubicBezTo>
                    <a:pt x="16113" y="12901"/>
                    <a:pt x="16054" y="13018"/>
                    <a:pt x="15996" y="13194"/>
                  </a:cubicBezTo>
                  <a:lnTo>
                    <a:pt x="16637" y="13835"/>
                  </a:lnTo>
                  <a:cubicBezTo>
                    <a:pt x="16873" y="14069"/>
                    <a:pt x="16873" y="14478"/>
                    <a:pt x="16637" y="14712"/>
                  </a:cubicBezTo>
                  <a:lnTo>
                    <a:pt x="14829" y="16521"/>
                  </a:lnTo>
                  <a:cubicBezTo>
                    <a:pt x="14712" y="16637"/>
                    <a:pt x="14536" y="16697"/>
                    <a:pt x="14369" y="16697"/>
                  </a:cubicBezTo>
                  <a:cubicBezTo>
                    <a:pt x="14200" y="16697"/>
                    <a:pt x="14041" y="16637"/>
                    <a:pt x="13952" y="16521"/>
                  </a:cubicBezTo>
                  <a:lnTo>
                    <a:pt x="13252" y="15879"/>
                  </a:lnTo>
                  <a:cubicBezTo>
                    <a:pt x="13135" y="15937"/>
                    <a:pt x="12901" y="16054"/>
                    <a:pt x="12785" y="16113"/>
                  </a:cubicBezTo>
                  <a:lnTo>
                    <a:pt x="12785" y="17047"/>
                  </a:lnTo>
                  <a:cubicBezTo>
                    <a:pt x="12785" y="17397"/>
                    <a:pt x="12494" y="17690"/>
                    <a:pt x="12084" y="17690"/>
                  </a:cubicBezTo>
                  <a:lnTo>
                    <a:pt x="9573" y="17690"/>
                  </a:lnTo>
                  <a:cubicBezTo>
                    <a:pt x="9166" y="17690"/>
                    <a:pt x="8873" y="17397"/>
                    <a:pt x="8873" y="17047"/>
                  </a:cubicBezTo>
                  <a:lnTo>
                    <a:pt x="8873" y="16113"/>
                  </a:lnTo>
                  <a:cubicBezTo>
                    <a:pt x="8699" y="16054"/>
                    <a:pt x="8523" y="15937"/>
                    <a:pt x="8406" y="15879"/>
                  </a:cubicBezTo>
                  <a:lnTo>
                    <a:pt x="7705" y="16521"/>
                  </a:lnTo>
                  <a:cubicBezTo>
                    <a:pt x="7618" y="16637"/>
                    <a:pt x="7457" y="16697"/>
                    <a:pt x="7290" y="16697"/>
                  </a:cubicBezTo>
                  <a:cubicBezTo>
                    <a:pt x="7122" y="16697"/>
                    <a:pt x="6947" y="16637"/>
                    <a:pt x="6831" y="16521"/>
                  </a:cubicBezTo>
                  <a:lnTo>
                    <a:pt x="5020" y="14712"/>
                  </a:lnTo>
                  <a:cubicBezTo>
                    <a:pt x="4787" y="14478"/>
                    <a:pt x="4787" y="14069"/>
                    <a:pt x="5020" y="13835"/>
                  </a:cubicBezTo>
                  <a:lnTo>
                    <a:pt x="5663" y="13194"/>
                  </a:lnTo>
                  <a:cubicBezTo>
                    <a:pt x="5604" y="13018"/>
                    <a:pt x="5546" y="12844"/>
                    <a:pt x="5487" y="12668"/>
                  </a:cubicBezTo>
                  <a:lnTo>
                    <a:pt x="4494" y="12668"/>
                  </a:lnTo>
                  <a:cubicBezTo>
                    <a:pt x="4144" y="12668"/>
                    <a:pt x="3853" y="12377"/>
                    <a:pt x="3853" y="12027"/>
                  </a:cubicBezTo>
                  <a:lnTo>
                    <a:pt x="3853" y="9456"/>
                  </a:lnTo>
                  <a:cubicBezTo>
                    <a:pt x="3853" y="9106"/>
                    <a:pt x="4144" y="8815"/>
                    <a:pt x="4494" y="8815"/>
                  </a:cubicBezTo>
                  <a:lnTo>
                    <a:pt x="5487" y="8815"/>
                  </a:lnTo>
                  <a:cubicBezTo>
                    <a:pt x="5546" y="8582"/>
                    <a:pt x="5604" y="8465"/>
                    <a:pt x="5663" y="8289"/>
                  </a:cubicBezTo>
                  <a:lnTo>
                    <a:pt x="5020" y="7648"/>
                  </a:lnTo>
                  <a:cubicBezTo>
                    <a:pt x="4787" y="7414"/>
                    <a:pt x="4787" y="7005"/>
                    <a:pt x="5020" y="6771"/>
                  </a:cubicBezTo>
                  <a:lnTo>
                    <a:pt x="6831" y="4961"/>
                  </a:lnTo>
                  <a:cubicBezTo>
                    <a:pt x="6947" y="4844"/>
                    <a:pt x="7122" y="4787"/>
                    <a:pt x="7290" y="4787"/>
                  </a:cubicBezTo>
                  <a:cubicBezTo>
                    <a:pt x="7457" y="4787"/>
                    <a:pt x="7618" y="4844"/>
                    <a:pt x="7705" y="4961"/>
                  </a:cubicBezTo>
                  <a:lnTo>
                    <a:pt x="8406" y="5604"/>
                  </a:lnTo>
                  <a:cubicBezTo>
                    <a:pt x="8523" y="5546"/>
                    <a:pt x="8756" y="5487"/>
                    <a:pt x="8873" y="5370"/>
                  </a:cubicBezTo>
                  <a:lnTo>
                    <a:pt x="8873" y="4436"/>
                  </a:lnTo>
                  <a:cubicBezTo>
                    <a:pt x="8873" y="4086"/>
                    <a:pt x="9166" y="3793"/>
                    <a:pt x="9573" y="3793"/>
                  </a:cubicBezTo>
                  <a:close/>
                  <a:moveTo>
                    <a:pt x="10800" y="0"/>
                  </a:moveTo>
                  <a:cubicBezTo>
                    <a:pt x="4903" y="0"/>
                    <a:pt x="0" y="4903"/>
                    <a:pt x="0" y="10800"/>
                  </a:cubicBezTo>
                  <a:cubicBezTo>
                    <a:pt x="0" y="12668"/>
                    <a:pt x="524" y="14595"/>
                    <a:pt x="1518" y="16287"/>
                  </a:cubicBezTo>
                  <a:lnTo>
                    <a:pt x="57" y="20725"/>
                  </a:lnTo>
                  <a:cubicBezTo>
                    <a:pt x="0" y="20959"/>
                    <a:pt x="57" y="21250"/>
                    <a:pt x="233" y="21367"/>
                  </a:cubicBezTo>
                  <a:cubicBezTo>
                    <a:pt x="321" y="21498"/>
                    <a:pt x="506" y="21565"/>
                    <a:pt x="693" y="21565"/>
                  </a:cubicBezTo>
                  <a:cubicBezTo>
                    <a:pt x="754" y="21565"/>
                    <a:pt x="817" y="21557"/>
                    <a:pt x="875" y="21543"/>
                  </a:cubicBezTo>
                  <a:lnTo>
                    <a:pt x="5313" y="20082"/>
                  </a:lnTo>
                  <a:cubicBezTo>
                    <a:pt x="7005" y="21076"/>
                    <a:pt x="8873" y="21600"/>
                    <a:pt x="10800" y="21600"/>
                  </a:cubicBezTo>
                  <a:cubicBezTo>
                    <a:pt x="16697" y="21600"/>
                    <a:pt x="21600" y="16697"/>
                    <a:pt x="21600" y="10800"/>
                  </a:cubicBezTo>
                  <a:cubicBezTo>
                    <a:pt x="21600" y="4787"/>
                    <a:pt x="16697" y="0"/>
                    <a:pt x="10800" y="0"/>
                  </a:cubicBezTo>
                  <a:close/>
                </a:path>
              </a:pathLst>
            </a:custGeom>
            <a:solidFill>
              <a:srgbClr val="005FFF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51"/>
            <p:cNvSpPr/>
            <p:nvPr/>
          </p:nvSpPr>
          <p:spPr>
            <a:xfrm>
              <a:off x="3089945" y="2622481"/>
              <a:ext cx="82836" cy="82836"/>
            </a:xfrm>
            <a:custGeom>
              <a:rect b="b" l="l" r="r" t="t"/>
              <a:pathLst>
                <a:path extrusionOk="0" h="21600" w="21600">
                  <a:moveTo>
                    <a:pt x="10969" y="0"/>
                  </a:moveTo>
                  <a:cubicBezTo>
                    <a:pt x="4989" y="0"/>
                    <a:pt x="0" y="4989"/>
                    <a:pt x="0" y="10969"/>
                  </a:cubicBezTo>
                  <a:cubicBezTo>
                    <a:pt x="0" y="16622"/>
                    <a:pt x="4989" y="21600"/>
                    <a:pt x="10969" y="21600"/>
                  </a:cubicBezTo>
                  <a:cubicBezTo>
                    <a:pt x="16622" y="21600"/>
                    <a:pt x="21600" y="16622"/>
                    <a:pt x="21600" y="10969"/>
                  </a:cubicBezTo>
                  <a:cubicBezTo>
                    <a:pt x="21600" y="4651"/>
                    <a:pt x="16622" y="0"/>
                    <a:pt x="10969" y="0"/>
                  </a:cubicBezTo>
                  <a:close/>
                </a:path>
              </a:pathLst>
            </a:custGeom>
            <a:solidFill>
              <a:srgbClr val="005FFF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9" name="Google Shape;509;p51"/>
          <p:cNvSpPr txBox="1"/>
          <p:nvPr/>
        </p:nvSpPr>
        <p:spPr>
          <a:xfrm>
            <a:off x="4563738" y="1662155"/>
            <a:ext cx="1290900" cy="5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2860FF"/>
              </a:buClr>
              <a:buSzPts val="12000"/>
              <a:buFont typeface="Overpass SemiBold"/>
              <a:buNone/>
            </a:pPr>
            <a:r>
              <a:rPr lang="es" sz="5100">
                <a:solidFill>
                  <a:srgbClr val="F40034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3</a:t>
            </a:r>
            <a:endParaRPr b="0" i="0" sz="5100" u="none" cap="none" strike="noStrike">
              <a:solidFill>
                <a:srgbClr val="F4003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51"/>
          <p:cNvSpPr txBox="1"/>
          <p:nvPr/>
        </p:nvSpPr>
        <p:spPr>
          <a:xfrm>
            <a:off x="5050350" y="1456354"/>
            <a:ext cx="3600000" cy="7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3000"/>
              <a:buFont typeface="Overpass SemiBold"/>
              <a:buNone/>
            </a:pPr>
            <a:r>
              <a:rPr lang="es" sz="2000">
                <a:solidFill>
                  <a:srgbClr val="1E1E1E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Productos Refinanciados </a:t>
            </a:r>
            <a:r>
              <a:rPr b="0" i="0" lang="es" sz="3000" u="none" cap="none" strike="noStrike">
                <a:solidFill>
                  <a:srgbClr val="1E1E1E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85EF6"/>
              </a:buClr>
              <a:buSzPts val="3000"/>
              <a:buFont typeface="Overpass SemiBold"/>
              <a:buNone/>
            </a:pPr>
            <a:r>
              <a:rPr lang="es" sz="1500">
                <a:solidFill>
                  <a:srgbClr val="F40034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Marcados como Renegociados</a:t>
            </a:r>
            <a:endParaRPr b="0" i="0" sz="500" u="none" cap="none" strike="noStrike">
              <a:solidFill>
                <a:srgbClr val="F4003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51"/>
          <p:cNvSpPr txBox="1"/>
          <p:nvPr/>
        </p:nvSpPr>
        <p:spPr>
          <a:xfrm>
            <a:off x="4572000" y="2211775"/>
            <a:ext cx="4086600" cy="19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En revisión de las operaciones renegociadas (con indicador cod_oren  'S'), se detectaron productos refinanciados al día que fueron </a:t>
            </a:r>
            <a:r>
              <a:rPr lang="es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marcados</a:t>
            </a:r>
            <a:r>
              <a:rPr lang="es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 como </a:t>
            </a:r>
            <a:r>
              <a:rPr lang="es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renegociados</a:t>
            </a:r>
            <a:r>
              <a:rPr lang="es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. Esto provoca que en la nueva implementación de Databricks sean deteriorados cuando no corresponde. </a:t>
            </a:r>
            <a:endParaRPr sz="1100">
              <a:solidFill>
                <a:schemeClr val="dk1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grpSp>
        <p:nvGrpSpPr>
          <p:cNvPr id="512" name="Google Shape;512;p51"/>
          <p:cNvGrpSpPr/>
          <p:nvPr/>
        </p:nvGrpSpPr>
        <p:grpSpPr>
          <a:xfrm>
            <a:off x="4659546" y="2305425"/>
            <a:ext cx="309594" cy="277182"/>
            <a:chOff x="4666846" y="2433161"/>
            <a:chExt cx="309594" cy="277182"/>
          </a:xfrm>
        </p:grpSpPr>
        <p:sp>
          <p:nvSpPr>
            <p:cNvPr id="513" name="Google Shape;513;p51"/>
            <p:cNvSpPr/>
            <p:nvPr/>
          </p:nvSpPr>
          <p:spPr>
            <a:xfrm>
              <a:off x="4812568" y="2500733"/>
              <a:ext cx="18144" cy="87426"/>
            </a:xfrm>
            <a:custGeom>
              <a:rect b="b" l="l" r="r" t="t"/>
              <a:pathLst>
                <a:path extrusionOk="0" h="21600" w="21600">
                  <a:moveTo>
                    <a:pt x="10819" y="0"/>
                  </a:moveTo>
                  <a:cubicBezTo>
                    <a:pt x="4836" y="0"/>
                    <a:pt x="0" y="967"/>
                    <a:pt x="0" y="2164"/>
                  </a:cubicBezTo>
                  <a:lnTo>
                    <a:pt x="0" y="19447"/>
                  </a:lnTo>
                  <a:cubicBezTo>
                    <a:pt x="0" y="20633"/>
                    <a:pt x="4836" y="21600"/>
                    <a:pt x="10819" y="21600"/>
                  </a:cubicBezTo>
                  <a:cubicBezTo>
                    <a:pt x="16764" y="21600"/>
                    <a:pt x="21600" y="20633"/>
                    <a:pt x="21600" y="19447"/>
                  </a:cubicBezTo>
                  <a:lnTo>
                    <a:pt x="21600" y="2164"/>
                  </a:lnTo>
                  <a:cubicBezTo>
                    <a:pt x="21600" y="967"/>
                    <a:pt x="16764" y="0"/>
                    <a:pt x="10819" y="0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5D74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51"/>
            <p:cNvSpPr/>
            <p:nvPr/>
          </p:nvSpPr>
          <p:spPr>
            <a:xfrm>
              <a:off x="4666846" y="2433161"/>
              <a:ext cx="309594" cy="277182"/>
            </a:xfrm>
            <a:custGeom>
              <a:rect b="b" l="l" r="r" t="t"/>
              <a:pathLst>
                <a:path extrusionOk="0" h="21600" w="20169">
                  <a:moveTo>
                    <a:pt x="10084" y="3905"/>
                  </a:moveTo>
                  <a:cubicBezTo>
                    <a:pt x="11062" y="3905"/>
                    <a:pt x="11856" y="4818"/>
                    <a:pt x="11856" y="5948"/>
                  </a:cubicBezTo>
                  <a:lnTo>
                    <a:pt x="11856" y="11393"/>
                  </a:lnTo>
                  <a:cubicBezTo>
                    <a:pt x="11856" y="12518"/>
                    <a:pt x="11062" y="13433"/>
                    <a:pt x="10084" y="13433"/>
                  </a:cubicBezTo>
                  <a:cubicBezTo>
                    <a:pt x="9105" y="13433"/>
                    <a:pt x="8311" y="12518"/>
                    <a:pt x="8311" y="11393"/>
                  </a:cubicBezTo>
                  <a:lnTo>
                    <a:pt x="8311" y="5948"/>
                  </a:lnTo>
                  <a:cubicBezTo>
                    <a:pt x="8311" y="4818"/>
                    <a:pt x="9105" y="3905"/>
                    <a:pt x="10084" y="3905"/>
                  </a:cubicBezTo>
                  <a:close/>
                  <a:moveTo>
                    <a:pt x="10084" y="14795"/>
                  </a:moveTo>
                  <a:cubicBezTo>
                    <a:pt x="10313" y="14795"/>
                    <a:pt x="10543" y="14846"/>
                    <a:pt x="10763" y="14951"/>
                  </a:cubicBezTo>
                  <a:cubicBezTo>
                    <a:pt x="11424" y="15266"/>
                    <a:pt x="11856" y="16010"/>
                    <a:pt x="11856" y="16838"/>
                  </a:cubicBezTo>
                  <a:cubicBezTo>
                    <a:pt x="11856" y="17963"/>
                    <a:pt x="11062" y="18878"/>
                    <a:pt x="10084" y="18878"/>
                  </a:cubicBezTo>
                  <a:cubicBezTo>
                    <a:pt x="9367" y="18878"/>
                    <a:pt x="8721" y="18380"/>
                    <a:pt x="8447" y="17618"/>
                  </a:cubicBezTo>
                  <a:cubicBezTo>
                    <a:pt x="8172" y="16856"/>
                    <a:pt x="8323" y="15978"/>
                    <a:pt x="8831" y="15393"/>
                  </a:cubicBezTo>
                  <a:cubicBezTo>
                    <a:pt x="9170" y="15002"/>
                    <a:pt x="9624" y="14795"/>
                    <a:pt x="10084" y="14795"/>
                  </a:cubicBezTo>
                  <a:close/>
                  <a:moveTo>
                    <a:pt x="10083" y="0"/>
                  </a:moveTo>
                  <a:cubicBezTo>
                    <a:pt x="9071" y="0"/>
                    <a:pt x="8060" y="586"/>
                    <a:pt x="7497" y="1759"/>
                  </a:cubicBezTo>
                  <a:lnTo>
                    <a:pt x="372" y="16551"/>
                  </a:lnTo>
                  <a:cubicBezTo>
                    <a:pt x="-715" y="18820"/>
                    <a:pt x="706" y="21600"/>
                    <a:pt x="2956" y="21600"/>
                  </a:cubicBezTo>
                  <a:lnTo>
                    <a:pt x="17211" y="21600"/>
                  </a:lnTo>
                  <a:cubicBezTo>
                    <a:pt x="19461" y="21600"/>
                    <a:pt x="20885" y="18824"/>
                    <a:pt x="19794" y="16551"/>
                  </a:cubicBezTo>
                  <a:lnTo>
                    <a:pt x="12669" y="1759"/>
                  </a:lnTo>
                  <a:cubicBezTo>
                    <a:pt x="12106" y="586"/>
                    <a:pt x="11095" y="0"/>
                    <a:pt x="10083" y="0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5D74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51"/>
            <p:cNvSpPr/>
            <p:nvPr/>
          </p:nvSpPr>
          <p:spPr>
            <a:xfrm>
              <a:off x="4812568" y="2640487"/>
              <a:ext cx="18144" cy="17496"/>
            </a:xfrm>
            <a:custGeom>
              <a:rect b="b" l="l" r="r" t="t"/>
              <a:pathLst>
                <a:path extrusionOk="0" h="21600" w="21600">
                  <a:moveTo>
                    <a:pt x="10819" y="0"/>
                  </a:moveTo>
                  <a:cubicBezTo>
                    <a:pt x="4836" y="0"/>
                    <a:pt x="0" y="4821"/>
                    <a:pt x="0" y="10829"/>
                  </a:cubicBezTo>
                  <a:cubicBezTo>
                    <a:pt x="0" y="16760"/>
                    <a:pt x="4836" y="21600"/>
                    <a:pt x="10819" y="21600"/>
                  </a:cubicBezTo>
                  <a:cubicBezTo>
                    <a:pt x="16764" y="21600"/>
                    <a:pt x="21600" y="16760"/>
                    <a:pt x="21600" y="10829"/>
                  </a:cubicBezTo>
                  <a:cubicBezTo>
                    <a:pt x="21600" y="4821"/>
                    <a:pt x="16764" y="0"/>
                    <a:pt x="10819" y="0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5D74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6" name="Google Shape;516;p51"/>
          <p:cNvSpPr txBox="1"/>
          <p:nvPr/>
        </p:nvSpPr>
        <p:spPr>
          <a:xfrm>
            <a:off x="757575" y="4167475"/>
            <a:ext cx="78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E</a:t>
            </a:r>
            <a:r>
              <a:rPr lang="es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s necesario incluir que </a:t>
            </a:r>
            <a:r>
              <a:rPr b="1" lang="es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todas las operaciones que sean renegociadas con más de 60 días de mora se deterioren</a:t>
            </a:r>
            <a:r>
              <a:rPr lang="es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, ya que actualmente no se está considerando esta regla de entrada para los créditos hipotecarios.</a:t>
            </a:r>
            <a:endParaRPr sz="1100">
              <a:solidFill>
                <a:schemeClr val="dk1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grpSp>
        <p:nvGrpSpPr>
          <p:cNvPr id="517" name="Google Shape;517;p51"/>
          <p:cNvGrpSpPr/>
          <p:nvPr/>
        </p:nvGrpSpPr>
        <p:grpSpPr>
          <a:xfrm>
            <a:off x="325077" y="3668266"/>
            <a:ext cx="309602" cy="309602"/>
            <a:chOff x="129756" y="2703705"/>
            <a:chExt cx="452304" cy="452304"/>
          </a:xfrm>
        </p:grpSpPr>
        <p:sp>
          <p:nvSpPr>
            <p:cNvPr id="518" name="Google Shape;518;p51"/>
            <p:cNvSpPr/>
            <p:nvPr/>
          </p:nvSpPr>
          <p:spPr>
            <a:xfrm>
              <a:off x="129756" y="2703705"/>
              <a:ext cx="452304" cy="452304"/>
            </a:xfrm>
            <a:custGeom>
              <a:rect b="b" l="l" r="r" t="t"/>
              <a:pathLst>
                <a:path extrusionOk="0" h="21600" w="21600">
                  <a:moveTo>
                    <a:pt x="14264" y="6712"/>
                  </a:moveTo>
                  <a:cubicBezTo>
                    <a:pt x="14750" y="6712"/>
                    <a:pt x="15236" y="6899"/>
                    <a:pt x="15606" y="7269"/>
                  </a:cubicBezTo>
                  <a:cubicBezTo>
                    <a:pt x="16348" y="8011"/>
                    <a:pt x="16348" y="9213"/>
                    <a:pt x="15609" y="9956"/>
                  </a:cubicBezTo>
                  <a:lnTo>
                    <a:pt x="11238" y="14323"/>
                  </a:lnTo>
                  <a:cubicBezTo>
                    <a:pt x="10881" y="14681"/>
                    <a:pt x="10398" y="14883"/>
                    <a:pt x="9896" y="14883"/>
                  </a:cubicBezTo>
                  <a:lnTo>
                    <a:pt x="9879" y="14883"/>
                  </a:lnTo>
                  <a:cubicBezTo>
                    <a:pt x="9874" y="14883"/>
                    <a:pt x="9870" y="14883"/>
                    <a:pt x="9866" y="14883"/>
                  </a:cubicBezTo>
                  <a:cubicBezTo>
                    <a:pt x="9371" y="14883"/>
                    <a:pt x="8894" y="14685"/>
                    <a:pt x="8542" y="14333"/>
                  </a:cubicBezTo>
                  <a:lnTo>
                    <a:pt x="5991" y="11799"/>
                  </a:lnTo>
                  <a:cubicBezTo>
                    <a:pt x="5190" y="11069"/>
                    <a:pt x="5160" y="9817"/>
                    <a:pt x="5926" y="9052"/>
                  </a:cubicBezTo>
                  <a:cubicBezTo>
                    <a:pt x="6298" y="8679"/>
                    <a:pt x="6783" y="8496"/>
                    <a:pt x="7267" y="8496"/>
                  </a:cubicBezTo>
                  <a:cubicBezTo>
                    <a:pt x="7782" y="8496"/>
                    <a:pt x="8295" y="8703"/>
                    <a:pt x="8670" y="9115"/>
                  </a:cubicBezTo>
                  <a:lnTo>
                    <a:pt x="9875" y="10317"/>
                  </a:lnTo>
                  <a:lnTo>
                    <a:pt x="12923" y="7269"/>
                  </a:lnTo>
                  <a:cubicBezTo>
                    <a:pt x="13293" y="6899"/>
                    <a:pt x="13778" y="6712"/>
                    <a:pt x="14264" y="6712"/>
                  </a:cubicBezTo>
                  <a:close/>
                  <a:moveTo>
                    <a:pt x="10800" y="0"/>
                  </a:moveTo>
                  <a:cubicBezTo>
                    <a:pt x="7951" y="0"/>
                    <a:pt x="5251" y="1133"/>
                    <a:pt x="3192" y="3192"/>
                  </a:cubicBezTo>
                  <a:cubicBezTo>
                    <a:pt x="1134" y="5251"/>
                    <a:pt x="0" y="7954"/>
                    <a:pt x="0" y="10800"/>
                  </a:cubicBezTo>
                  <a:cubicBezTo>
                    <a:pt x="0" y="13645"/>
                    <a:pt x="1134" y="16348"/>
                    <a:pt x="3192" y="18407"/>
                  </a:cubicBezTo>
                  <a:cubicBezTo>
                    <a:pt x="5251" y="20466"/>
                    <a:pt x="7951" y="21600"/>
                    <a:pt x="10800" y="21600"/>
                  </a:cubicBezTo>
                  <a:cubicBezTo>
                    <a:pt x="13645" y="21600"/>
                    <a:pt x="16345" y="20466"/>
                    <a:pt x="18403" y="18407"/>
                  </a:cubicBezTo>
                  <a:cubicBezTo>
                    <a:pt x="20462" y="16348"/>
                    <a:pt x="21600" y="13645"/>
                    <a:pt x="21600" y="10800"/>
                  </a:cubicBezTo>
                  <a:cubicBezTo>
                    <a:pt x="21600" y="7954"/>
                    <a:pt x="20462" y="5251"/>
                    <a:pt x="18403" y="3192"/>
                  </a:cubicBezTo>
                  <a:cubicBezTo>
                    <a:pt x="16345" y="1133"/>
                    <a:pt x="13645" y="0"/>
                    <a:pt x="10800" y="0"/>
                  </a:cubicBezTo>
                  <a:close/>
                </a:path>
              </a:pathLst>
            </a:custGeom>
            <a:solidFill>
              <a:srgbClr val="00AE0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5D74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51"/>
            <p:cNvSpPr/>
            <p:nvPr/>
          </p:nvSpPr>
          <p:spPr>
            <a:xfrm>
              <a:off x="269292" y="2870835"/>
              <a:ext cx="172419" cy="118044"/>
            </a:xfrm>
            <a:custGeom>
              <a:rect b="b" l="l" r="r" t="t"/>
              <a:pathLst>
                <a:path extrusionOk="0" h="21600" w="20874">
                  <a:moveTo>
                    <a:pt x="19275" y="0"/>
                  </a:moveTo>
                  <a:cubicBezTo>
                    <a:pt x="19272" y="0"/>
                    <a:pt x="19269" y="0"/>
                    <a:pt x="19264" y="0"/>
                  </a:cubicBezTo>
                  <a:cubicBezTo>
                    <a:pt x="18838" y="0"/>
                    <a:pt x="18434" y="245"/>
                    <a:pt x="18136" y="700"/>
                  </a:cubicBezTo>
                  <a:lnTo>
                    <a:pt x="9279" y="14084"/>
                  </a:lnTo>
                  <a:cubicBezTo>
                    <a:pt x="8967" y="14565"/>
                    <a:pt x="8558" y="14805"/>
                    <a:pt x="8146" y="14805"/>
                  </a:cubicBezTo>
                  <a:cubicBezTo>
                    <a:pt x="7736" y="14805"/>
                    <a:pt x="7324" y="14565"/>
                    <a:pt x="7012" y="14084"/>
                  </a:cubicBezTo>
                  <a:cubicBezTo>
                    <a:pt x="7003" y="14084"/>
                    <a:pt x="7003" y="14084"/>
                    <a:pt x="6995" y="14071"/>
                  </a:cubicBezTo>
                  <a:cubicBezTo>
                    <a:pt x="6969" y="14032"/>
                    <a:pt x="6935" y="13981"/>
                    <a:pt x="6901" y="13942"/>
                  </a:cubicBezTo>
                  <a:lnTo>
                    <a:pt x="2821" y="7774"/>
                  </a:lnTo>
                  <a:cubicBezTo>
                    <a:pt x="2500" y="7207"/>
                    <a:pt x="2048" y="6919"/>
                    <a:pt x="1593" y="6919"/>
                  </a:cubicBezTo>
                  <a:cubicBezTo>
                    <a:pt x="1187" y="6919"/>
                    <a:pt x="778" y="7156"/>
                    <a:pt x="468" y="7632"/>
                  </a:cubicBezTo>
                  <a:cubicBezTo>
                    <a:pt x="-191" y="8629"/>
                    <a:pt x="-148" y="10270"/>
                    <a:pt x="562" y="11189"/>
                  </a:cubicBezTo>
                  <a:lnTo>
                    <a:pt x="7029" y="20913"/>
                  </a:lnTo>
                  <a:cubicBezTo>
                    <a:pt x="7322" y="21355"/>
                    <a:pt x="7711" y="21600"/>
                    <a:pt x="8120" y="21600"/>
                  </a:cubicBezTo>
                  <a:cubicBezTo>
                    <a:pt x="8128" y="21600"/>
                    <a:pt x="8140" y="21600"/>
                    <a:pt x="8151" y="21600"/>
                  </a:cubicBezTo>
                  <a:lnTo>
                    <a:pt x="8168" y="21600"/>
                  </a:lnTo>
                  <a:cubicBezTo>
                    <a:pt x="8603" y="21600"/>
                    <a:pt x="9015" y="21342"/>
                    <a:pt x="9330" y="20874"/>
                  </a:cubicBezTo>
                  <a:lnTo>
                    <a:pt x="20403" y="4140"/>
                  </a:lnTo>
                  <a:cubicBezTo>
                    <a:pt x="21409" y="2603"/>
                    <a:pt x="20696" y="0"/>
                    <a:pt x="19275" y="0"/>
                  </a:cubicBezTo>
                  <a:close/>
                </a:path>
              </a:pathLst>
            </a:custGeom>
            <a:solidFill>
              <a:srgbClr val="00AE0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5D74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0" name="Google Shape;520;p51"/>
          <p:cNvSpPr txBox="1"/>
          <p:nvPr/>
        </p:nvSpPr>
        <p:spPr>
          <a:xfrm>
            <a:off x="781825" y="3561471"/>
            <a:ext cx="78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Se complementó el criterio de entrada de Databricks con los días de morosidad del mes anterior de la operación renegociada  para corregir las diferencias y alinearse con la definición normativa.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